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70" r:id="rId2"/>
    <p:sldId id="656" r:id="rId3"/>
    <p:sldId id="283" r:id="rId4"/>
    <p:sldId id="291" r:id="rId5"/>
    <p:sldId id="292" r:id="rId6"/>
    <p:sldId id="293" r:id="rId7"/>
    <p:sldId id="305" r:id="rId8"/>
    <p:sldId id="281" r:id="rId9"/>
    <p:sldId id="306" r:id="rId10"/>
    <p:sldId id="307" r:id="rId11"/>
    <p:sldId id="308" r:id="rId12"/>
    <p:sldId id="309" r:id="rId13"/>
    <p:sldId id="357" r:id="rId14"/>
    <p:sldId id="358" r:id="rId15"/>
    <p:sldId id="359" r:id="rId16"/>
    <p:sldId id="363" r:id="rId17"/>
    <p:sldId id="364" r:id="rId18"/>
    <p:sldId id="372" r:id="rId19"/>
    <p:sldId id="376" r:id="rId20"/>
    <p:sldId id="377" r:id="rId21"/>
    <p:sldId id="381" r:id="rId22"/>
    <p:sldId id="386" r:id="rId23"/>
    <p:sldId id="387" r:id="rId24"/>
    <p:sldId id="388" r:id="rId25"/>
    <p:sldId id="390" r:id="rId26"/>
    <p:sldId id="391" r:id="rId27"/>
    <p:sldId id="392" r:id="rId28"/>
    <p:sldId id="395" r:id="rId29"/>
    <p:sldId id="396" r:id="rId30"/>
    <p:sldId id="397" r:id="rId31"/>
    <p:sldId id="521" r:id="rId32"/>
    <p:sldId id="522" r:id="rId33"/>
    <p:sldId id="523" r:id="rId34"/>
    <p:sldId id="524" r:id="rId35"/>
    <p:sldId id="526" r:id="rId36"/>
    <p:sldId id="527" r:id="rId37"/>
    <p:sldId id="528" r:id="rId38"/>
    <p:sldId id="529" r:id="rId39"/>
    <p:sldId id="530" r:id="rId40"/>
    <p:sldId id="531" r:id="rId41"/>
    <p:sldId id="532" r:id="rId42"/>
    <p:sldId id="533" r:id="rId43"/>
    <p:sldId id="536" r:id="rId44"/>
    <p:sldId id="538" r:id="rId45"/>
    <p:sldId id="542" r:id="rId46"/>
    <p:sldId id="544" r:id="rId47"/>
    <p:sldId id="545" r:id="rId48"/>
    <p:sldId id="546" r:id="rId49"/>
    <p:sldId id="547" r:id="rId50"/>
    <p:sldId id="548" r:id="rId51"/>
    <p:sldId id="549" r:id="rId52"/>
    <p:sldId id="550" r:id="rId53"/>
    <p:sldId id="551" r:id="rId54"/>
    <p:sldId id="552" r:id="rId55"/>
    <p:sldId id="556" r:id="rId56"/>
    <p:sldId id="557" r:id="rId57"/>
    <p:sldId id="558" r:id="rId58"/>
    <p:sldId id="560" r:id="rId59"/>
    <p:sldId id="403" r:id="rId60"/>
    <p:sldId id="404" r:id="rId61"/>
    <p:sldId id="405" r:id="rId62"/>
    <p:sldId id="432" r:id="rId63"/>
    <p:sldId id="433" r:id="rId64"/>
    <p:sldId id="325" r:id="rId65"/>
    <p:sldId id="326" r:id="rId66"/>
    <p:sldId id="330" r:id="rId67"/>
    <p:sldId id="331" r:id="rId68"/>
    <p:sldId id="334" r:id="rId69"/>
    <p:sldId id="339" r:id="rId70"/>
    <p:sldId id="342" r:id="rId71"/>
    <p:sldId id="343" r:id="rId72"/>
    <p:sldId id="657" r:id="rId73"/>
  </p:sldIdLst>
  <p:sldSz cx="9144000" cy="6858000" type="screen4x3"/>
  <p:notesSz cx="6858000" cy="9144000"/>
  <p:defaultTex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66" d="100"/>
          <a:sy n="66" d="100"/>
        </p:scale>
        <p:origin x="0" y="0"/>
      </p:cViewPr>
      <p:guideLst>
        <p:guide orient="horz" pos="2032"/>
        <p:guide pos="2924"/>
      </p:guideLst>
    </p:cSldViewPr>
  </p:slide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lvl1pPr>
          </a:lstStyle>
          <a:p>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fld id="{4290C85E-2BC2-47EC-8F5B-49BFF19555B5}" type="datetime1">
              <a:rPr lang="zh-CN" altLang="en-US"/>
              <a:pPr/>
              <a:t>2020/3/8</a:t>
            </a:fld>
            <a:endParaRPr lang="zh-CN" altLang="en-US"/>
          </a:p>
        </p:txBody>
      </p:sp>
      <p:sp>
        <p:nvSpPr>
          <p:cNvPr id="2052" name="幻灯片图像占位符 3"/>
          <p:cNvSpPr>
            <a:spLocks noGrp="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mpd="sng">
                <a:solidFill>
                  <a:srgbClr val="000000"/>
                </a:solidFill>
                <a:bevel/>
                <a:headEnd/>
                <a:tailEnd/>
              </a14:hiddenLine>
            </a:ext>
          </a:extLst>
        </p:spPr>
      </p:sp>
      <p:sp>
        <p:nvSpPr>
          <p:cNvPr id="2053" name="备注占位符 4"/>
          <p:cNvSpPr>
            <a:spLocks noGrp="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mpd="sng">
                <a:solidFill>
                  <a:srgbClr val="000000"/>
                </a:solidFill>
                <a:bevel/>
                <a:headEnd/>
                <a:tailEnd/>
              </a14:hiddenLine>
            </a:ext>
          </a:extLst>
        </p:spPr>
        <p:txBody>
          <a:bodyPr anchor="ctr"/>
          <a:lstStyle/>
          <a:p>
            <a:pPr defTabSz="0" eaLnBrk="0" hangingPunct="0">
              <a:spcBef>
                <a:spcPct val="30000"/>
              </a:spcBef>
              <a:buFontTx/>
              <a:buNone/>
            </a:pPr>
            <a:r>
              <a:rPr lang="zh-CN" altLang="en-US" sz="1200"/>
              <a:t>单击此处编辑母版文本样式</a:t>
            </a:r>
          </a:p>
          <a:p>
            <a:pPr defTabSz="0" eaLnBrk="0" hangingPunct="0">
              <a:spcBef>
                <a:spcPct val="30000"/>
              </a:spcBef>
              <a:buFontTx/>
              <a:buNone/>
            </a:pPr>
            <a:r>
              <a:rPr lang="zh-CN" altLang="en-US" sz="1200"/>
              <a:t>第二级</a:t>
            </a:r>
          </a:p>
          <a:p>
            <a:pPr defTabSz="0" eaLnBrk="0" hangingPunct="0">
              <a:spcBef>
                <a:spcPct val="30000"/>
              </a:spcBef>
              <a:buFontTx/>
              <a:buNone/>
            </a:pPr>
            <a:r>
              <a:rPr lang="zh-CN" altLang="en-US" sz="1200"/>
              <a:t>第三级</a:t>
            </a:r>
          </a:p>
          <a:p>
            <a:pPr defTabSz="0" eaLnBrk="0" hangingPunct="0">
              <a:spcBef>
                <a:spcPct val="30000"/>
              </a:spcBef>
              <a:buFontTx/>
              <a:buNone/>
            </a:pPr>
            <a:r>
              <a:rPr lang="zh-CN" altLang="en-US" sz="1200"/>
              <a:t>第四级</a:t>
            </a:r>
          </a:p>
          <a:p>
            <a:pPr defTabSz="0" eaLnBrk="0" hangingPunct="0">
              <a:spcBef>
                <a:spcPct val="30000"/>
              </a:spcBef>
              <a:buFontTx/>
              <a:buNone/>
            </a:pPr>
            <a:r>
              <a:rPr lang="zh-CN" altLang="en-US" sz="1200"/>
              <a:t>第五级</a:t>
            </a:r>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atin typeface="Calibri" pitchFamily="34" charset="0"/>
                <a:sym typeface="Calibri" pitchFamily="34" charset="0"/>
              </a:defRPr>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atin typeface="Calibri" pitchFamily="34" charset="0"/>
              </a:defRPr>
            </a:lvl1pPr>
          </a:lstStyle>
          <a:p>
            <a:fld id="{B1058BB1-CFAE-4F06-B49B-FC3F6AF3E273}" type="slidenum">
              <a:rPr lang="zh-CN" altLang="en-US"/>
              <a:pPr/>
              <a:t>‹#›</a:t>
            </a:fld>
            <a:endParaRPr lang="zh-CN" altLang="en-US">
              <a:sym typeface="Calibri" pitchFamily="34" charset="0"/>
            </a:endParaRPr>
          </a:p>
        </p:txBody>
      </p:sp>
    </p:spTree>
    <p:extLst>
      <p:ext uri="{BB962C8B-B14F-4D97-AF65-F5344CB8AC3E}">
        <p14:creationId xmlns:p14="http://schemas.microsoft.com/office/powerpoint/2010/main" val="683441517"/>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2416996734"/>
      </p:ext>
    </p:extLst>
  </p:cSld>
  <p:clrMapOvr>
    <a:masterClrMapping/>
  </p:clrMapOvr>
  <p:transition>
    <p:strips dir="l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8321935"/>
      </p:ext>
    </p:extLst>
  </p:cSld>
  <p:clrMapOvr>
    <a:masterClrMapping/>
  </p:clrMapOvr>
  <p:transition>
    <p:strips dir="l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93305535"/>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09600218"/>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117228998"/>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239518038"/>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5863281"/>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9567291"/>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21594113"/>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46725096"/>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51272580"/>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729738568"/>
      </p:ext>
    </p:extLst>
  </p:cSld>
  <p:clrMapOvr>
    <a:masterClrMapping/>
  </p:clrMapOvr>
  <p:transition>
    <p:strips dir="l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accent1"/>
        </a:solidFill>
        <a:effectLst/>
      </p:bgPr>
    </p:bg>
    <p:spTree>
      <p:nvGrpSpPr>
        <p:cNvPr id="1" name=""/>
        <p:cNvGrpSpPr/>
        <p:nvPr/>
      </p:nvGrpSpPr>
      <p:grpSpPr>
        <a:xfrm>
          <a:off x="0" y="0"/>
          <a:ext cx="0" cy="0"/>
          <a:chOff x="0" y="0"/>
          <a:chExt cx="0" cy="0"/>
        </a:xfrm>
      </p:grpSpPr>
      <p:sp>
        <p:nvSpPr>
          <p:cNvPr id="1026" name="矩形 1025"/>
          <p:cNvSpPr>
            <a:spLocks noChangeArrowheads="1"/>
          </p:cNvSpPr>
          <p:nvPr/>
        </p:nvSpPr>
        <p:spPr bwMode="auto">
          <a:xfrm>
            <a:off x="0" y="6310313"/>
            <a:ext cx="9145588" cy="576262"/>
          </a:xfrm>
          <a:prstGeom prst="rect">
            <a:avLst/>
          </a:prstGeom>
          <a:solidFill>
            <a:schemeClr val="bg1"/>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a:solidFill>
                <a:srgbClr val="000000"/>
              </a:solidFill>
              <a:sym typeface="Arial"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strips dir="ld"/>
  </p:transition>
  <p:txStyles>
    <p:titleStyle>
      <a:lvl1pPr algn="ctr" rtl="0" eaLnBrk="0" fontAlgn="base" hangingPunct="0">
        <a:spcBef>
          <a:spcPct val="0"/>
        </a:spcBef>
        <a:spcAft>
          <a:spcPct val="0"/>
        </a:spcAft>
        <a:defRPr sz="4400">
          <a:solidFill>
            <a:schemeClr val="tx1"/>
          </a:solidFill>
          <a:latin typeface="+mj-lt"/>
          <a:ea typeface="+mj-ea"/>
          <a:cs typeface="+mj-cs"/>
          <a:sym typeface="Arial" pitchFamily="34" charset="0"/>
        </a:defRPr>
      </a:lvl1pPr>
      <a:lvl2pPr algn="ctr" rtl="0" eaLnBrk="0" fontAlgn="base" hangingPunct="0">
        <a:spcBef>
          <a:spcPct val="0"/>
        </a:spcBef>
        <a:spcAft>
          <a:spcPct val="0"/>
        </a:spcAft>
        <a:defRPr sz="4400">
          <a:solidFill>
            <a:schemeClr val="tx1"/>
          </a:solidFill>
          <a:latin typeface="Arial" pitchFamily="34" charset="0"/>
          <a:ea typeface="宋体" pitchFamily="2" charset="-122"/>
          <a:sym typeface="Arial" pitchFamily="34" charset="0"/>
        </a:defRPr>
      </a:lvl2pPr>
      <a:lvl3pPr algn="ctr" rtl="0" eaLnBrk="0" fontAlgn="base" hangingPunct="0">
        <a:spcBef>
          <a:spcPct val="0"/>
        </a:spcBef>
        <a:spcAft>
          <a:spcPct val="0"/>
        </a:spcAft>
        <a:defRPr sz="4400">
          <a:solidFill>
            <a:schemeClr val="tx1"/>
          </a:solidFill>
          <a:latin typeface="Arial" pitchFamily="34" charset="0"/>
          <a:ea typeface="宋体" pitchFamily="2" charset="-122"/>
          <a:sym typeface="Arial" pitchFamily="34" charset="0"/>
        </a:defRPr>
      </a:lvl3pPr>
      <a:lvl4pPr algn="ctr" rtl="0" eaLnBrk="0" fontAlgn="base" hangingPunct="0">
        <a:spcBef>
          <a:spcPct val="0"/>
        </a:spcBef>
        <a:spcAft>
          <a:spcPct val="0"/>
        </a:spcAft>
        <a:defRPr sz="4400">
          <a:solidFill>
            <a:schemeClr val="tx1"/>
          </a:solidFill>
          <a:latin typeface="Arial" pitchFamily="34" charset="0"/>
          <a:ea typeface="宋体" pitchFamily="2" charset="-122"/>
          <a:sym typeface="Arial" pitchFamily="34" charset="0"/>
        </a:defRPr>
      </a:lvl4pPr>
      <a:lvl5pPr algn="ctr" rtl="0" eaLnBrk="0" fontAlgn="base" hangingPunct="0">
        <a:spcBef>
          <a:spcPct val="0"/>
        </a:spcBef>
        <a:spcAft>
          <a:spcPct val="0"/>
        </a:spcAft>
        <a:defRPr sz="4400">
          <a:solidFill>
            <a:schemeClr val="tx1"/>
          </a:solidFill>
          <a:latin typeface="Arial" pitchFamily="34" charset="0"/>
          <a:ea typeface="宋体" pitchFamily="2" charset="-122"/>
          <a:sym typeface="Arial" pitchFamily="34" charset="0"/>
        </a:defRPr>
      </a:lvl5pPr>
      <a:lvl6pPr marL="457200" algn="ctr" rtl="0" eaLnBrk="0" fontAlgn="base" hangingPunct="0">
        <a:spcBef>
          <a:spcPct val="0"/>
        </a:spcBef>
        <a:spcAft>
          <a:spcPct val="0"/>
        </a:spcAft>
        <a:defRPr sz="4400">
          <a:solidFill>
            <a:schemeClr val="tx1"/>
          </a:solidFill>
          <a:latin typeface="Arial" pitchFamily="34" charset="0"/>
          <a:ea typeface="宋体" pitchFamily="2" charset="-122"/>
          <a:sym typeface="Arial" pitchFamily="34" charset="0"/>
        </a:defRPr>
      </a:lvl6pPr>
      <a:lvl7pPr marL="914400" algn="ctr" rtl="0" eaLnBrk="0" fontAlgn="base" hangingPunct="0">
        <a:spcBef>
          <a:spcPct val="0"/>
        </a:spcBef>
        <a:spcAft>
          <a:spcPct val="0"/>
        </a:spcAft>
        <a:defRPr sz="4400">
          <a:solidFill>
            <a:schemeClr val="tx1"/>
          </a:solidFill>
          <a:latin typeface="Arial" pitchFamily="34" charset="0"/>
          <a:ea typeface="宋体" pitchFamily="2" charset="-122"/>
          <a:sym typeface="Arial" pitchFamily="34" charset="0"/>
        </a:defRPr>
      </a:lvl7pPr>
      <a:lvl8pPr marL="1371600" algn="ctr" rtl="0" eaLnBrk="0" fontAlgn="base" hangingPunct="0">
        <a:spcBef>
          <a:spcPct val="0"/>
        </a:spcBef>
        <a:spcAft>
          <a:spcPct val="0"/>
        </a:spcAft>
        <a:defRPr sz="4400">
          <a:solidFill>
            <a:schemeClr val="tx1"/>
          </a:solidFill>
          <a:latin typeface="Arial" pitchFamily="34" charset="0"/>
          <a:ea typeface="宋体" pitchFamily="2" charset="-122"/>
          <a:sym typeface="Arial" pitchFamily="34" charset="0"/>
        </a:defRPr>
      </a:lvl8pPr>
      <a:lvl9pPr marL="1828800" algn="ctr" rtl="0" eaLnBrk="0" fontAlgn="base" hangingPunct="0">
        <a:spcBef>
          <a:spcPct val="0"/>
        </a:spcBef>
        <a:spcAft>
          <a:spcPct val="0"/>
        </a:spcAft>
        <a:defRPr sz="4400">
          <a:solidFill>
            <a:schemeClr val="tx1"/>
          </a:solidFill>
          <a:latin typeface="Arial" pitchFamily="34" charset="0"/>
          <a:ea typeface="宋体" pitchFamily="2" charset="-122"/>
          <a:sym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a:solidFill>
            <a:schemeClr val="tx1"/>
          </a:solidFill>
          <a:latin typeface="+mn-lt"/>
          <a:ea typeface="+mn-ea"/>
          <a:cs typeface="+mn-cs"/>
          <a:sym typeface="Arial" pitchFamily="34" charset="0"/>
        </a:defRPr>
      </a:lvl1pPr>
      <a:lvl2pPr marL="742950" indent="-285750" algn="l" rtl="0" eaLnBrk="0" fontAlgn="base" hangingPunct="0">
        <a:spcBef>
          <a:spcPct val="20000"/>
        </a:spcBef>
        <a:spcAft>
          <a:spcPct val="0"/>
        </a:spcAft>
        <a:buFont typeface="Arial" pitchFamily="34" charset="0"/>
        <a:buChar char="–"/>
        <a:defRPr sz="2800">
          <a:solidFill>
            <a:schemeClr val="tx1"/>
          </a:solidFill>
          <a:latin typeface="+mn-lt"/>
          <a:ea typeface="+mn-ea"/>
          <a:sym typeface="Arial" pitchFamily="34" charset="0"/>
        </a:defRPr>
      </a:lvl2pPr>
      <a:lvl3pPr marL="1143000" indent="-228600" algn="l" rtl="0" eaLnBrk="0" fontAlgn="base" hangingPunct="0">
        <a:spcBef>
          <a:spcPct val="20000"/>
        </a:spcBef>
        <a:spcAft>
          <a:spcPct val="0"/>
        </a:spcAft>
        <a:buFont typeface="Arial" pitchFamily="34" charset="0"/>
        <a:buChar char="•"/>
        <a:defRPr sz="2400">
          <a:solidFill>
            <a:schemeClr val="tx1"/>
          </a:solidFill>
          <a:latin typeface="+mn-lt"/>
          <a:ea typeface="+mn-ea"/>
          <a:sym typeface="Arial" pitchFamily="34" charset="0"/>
        </a:defRPr>
      </a:lvl3pPr>
      <a:lvl4pPr marL="1600200" indent="-228600" algn="l" rtl="0" eaLnBrk="0" fontAlgn="base" hangingPunct="0">
        <a:spcBef>
          <a:spcPct val="20000"/>
        </a:spcBef>
        <a:spcAft>
          <a:spcPct val="0"/>
        </a:spcAft>
        <a:buFont typeface="Arial" pitchFamily="34" charset="0"/>
        <a:buChar char="–"/>
        <a:defRPr sz="2000">
          <a:solidFill>
            <a:schemeClr val="tx1"/>
          </a:solidFill>
          <a:latin typeface="+mn-lt"/>
          <a:ea typeface="+mn-ea"/>
          <a:sym typeface="Arial" pitchFamily="34" charset="0"/>
        </a:defRPr>
      </a:lvl4pPr>
      <a:lvl5pPr marL="2057400" indent="-228600" algn="l" rtl="0" eaLnBrk="0" fontAlgn="base" hangingPunct="0">
        <a:spcBef>
          <a:spcPct val="20000"/>
        </a:spcBef>
        <a:spcAft>
          <a:spcPct val="0"/>
        </a:spcAft>
        <a:buFont typeface="Arial" pitchFamily="34" charset="0"/>
        <a:buChar char="»"/>
        <a:defRPr sz="2000">
          <a:solidFill>
            <a:schemeClr val="tx1"/>
          </a:solidFill>
          <a:latin typeface="+mn-lt"/>
          <a:ea typeface="+mn-ea"/>
          <a:sym typeface="Arial" pitchFamily="34" charset="0"/>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n-lt"/>
          <a:ea typeface="+mn-ea"/>
          <a:sym typeface="Arial" pitchFamily="34" charset="0"/>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n-lt"/>
          <a:ea typeface="+mn-ea"/>
          <a:sym typeface="Arial" pitchFamily="34" charset="0"/>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n-lt"/>
          <a:ea typeface="+mn-ea"/>
          <a:sym typeface="Arial" pitchFamily="34" charset="0"/>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n-lt"/>
          <a:ea typeface="+mn-ea"/>
          <a:sym typeface="Arial"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xml"/><Relationship Id="rId4" Type="http://schemas.openxmlformats.org/officeDocument/2006/relationships/image" Target="../media/image11.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14.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15.w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文本框 3074"/>
          <p:cNvSpPr>
            <a:spLocks noChangeArrowheads="1"/>
          </p:cNvSpPr>
          <p:nvPr/>
        </p:nvSpPr>
        <p:spPr bwMode="auto">
          <a:xfrm>
            <a:off x="1187450" y="2060575"/>
            <a:ext cx="68405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4000" b="1">
                <a:solidFill>
                  <a:srgbClr val="FF0000"/>
                </a:solidFill>
                <a:latin typeface="楷体_GB2312" pitchFamily="1" charset="-122"/>
                <a:ea typeface="楷体_GB2312" pitchFamily="1" charset="-122"/>
                <a:sym typeface="楷体_GB2312" pitchFamily="1" charset="-122"/>
              </a:rPr>
              <a:t>药品数据管理要点与规范操作</a:t>
            </a:r>
          </a:p>
        </p:txBody>
      </p:sp>
    </p:spTree>
  </p:cSld>
  <p:clrMapOvr>
    <a:masterClrMapping/>
  </p:clrMapOvr>
  <p:transition>
    <p:strips dir="ld"/>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内容占位符 2"/>
          <p:cNvSpPr>
            <a:spLocks noGrp="1" noChangeArrowheads="1"/>
          </p:cNvSpPr>
          <p:nvPr>
            <p:ph idx="4294967295"/>
          </p:nvPr>
        </p:nvSpPr>
        <p:spPr bwMode="auto">
          <a:xfrm>
            <a:off x="457200" y="1600200"/>
            <a:ext cx="8493125" cy="4525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lnSpc>
                <a:spcPct val="150000"/>
              </a:lnSpc>
              <a:spcBef>
                <a:spcPct val="0"/>
              </a:spcBef>
              <a:buFont typeface="Arial" pitchFamily="34" charset="0"/>
              <a:buNone/>
            </a:pPr>
            <a:r>
              <a:rPr lang="en-US" sz="2400">
                <a:latin typeface="楷体" pitchFamily="49" charset="-122"/>
                <a:ea typeface="楷体" pitchFamily="49" charset="-122"/>
                <a:sym typeface="楷体" pitchFamily="49" charset="-122"/>
              </a:rPr>
              <a:t>Q1</a:t>
            </a:r>
            <a:r>
              <a:rPr lang="zh-CN" altLang="en-US" sz="2400">
                <a:latin typeface="楷体" pitchFamily="49" charset="-122"/>
                <a:ea typeface="楷体" pitchFamily="49" charset="-122"/>
                <a:sym typeface="楷体" pitchFamily="49" charset="-122"/>
              </a:rPr>
              <a:t>：数据完整性的原则是什么？</a:t>
            </a:r>
          </a:p>
          <a:p>
            <a:pPr marL="0" indent="0">
              <a:lnSpc>
                <a:spcPct val="150000"/>
              </a:lnSpc>
              <a:spcBef>
                <a:spcPct val="0"/>
              </a:spcBef>
              <a:buFont typeface="Arial" pitchFamily="34" charset="0"/>
              <a:buNone/>
            </a:pPr>
            <a:r>
              <a:rPr lang="en-US" sz="2400">
                <a:latin typeface="楷体" pitchFamily="49" charset="-122"/>
                <a:ea typeface="楷体" pitchFamily="49" charset="-122"/>
                <a:sym typeface="楷体" pitchFamily="49" charset="-122"/>
              </a:rPr>
              <a:t>Q2</a:t>
            </a:r>
            <a:r>
              <a:rPr lang="zh-CN" altLang="en-US" sz="2400">
                <a:latin typeface="楷体" pitchFamily="49" charset="-122"/>
                <a:ea typeface="楷体" pitchFamily="49" charset="-122"/>
                <a:sym typeface="楷体" pitchFamily="49" charset="-122"/>
              </a:rPr>
              <a:t>：与数据完整性相关的缺陷是否都是关键缺陷？</a:t>
            </a:r>
          </a:p>
          <a:p>
            <a:pPr marL="0" indent="0">
              <a:lnSpc>
                <a:spcPct val="150000"/>
              </a:lnSpc>
              <a:spcBef>
                <a:spcPct val="0"/>
              </a:spcBef>
              <a:buFont typeface="Arial" pitchFamily="34" charset="0"/>
              <a:buNone/>
            </a:pPr>
            <a:r>
              <a:rPr lang="en-US" sz="2400">
                <a:latin typeface="楷体" pitchFamily="49" charset="-122"/>
                <a:ea typeface="楷体" pitchFamily="49" charset="-122"/>
                <a:sym typeface="楷体" pitchFamily="49" charset="-122"/>
              </a:rPr>
              <a:t>Q3</a:t>
            </a:r>
            <a:r>
              <a:rPr lang="zh-CN" altLang="en-US" sz="2400">
                <a:latin typeface="楷体" pitchFamily="49" charset="-122"/>
                <a:ea typeface="楷体" pitchFamily="49" charset="-122"/>
                <a:sym typeface="楷体" pitchFamily="49" charset="-122"/>
              </a:rPr>
              <a:t>：审计追踪应该做到什么程度？</a:t>
            </a:r>
          </a:p>
          <a:p>
            <a:pPr marL="0" indent="0">
              <a:lnSpc>
                <a:spcPct val="150000"/>
              </a:lnSpc>
              <a:spcBef>
                <a:spcPct val="0"/>
              </a:spcBef>
              <a:buFont typeface="Arial" pitchFamily="34" charset="0"/>
              <a:buNone/>
            </a:pPr>
            <a:r>
              <a:rPr lang="en-US" sz="2400">
                <a:latin typeface="楷体" pitchFamily="49" charset="-122"/>
                <a:ea typeface="楷体" pitchFamily="49" charset="-122"/>
                <a:sym typeface="楷体" pitchFamily="49" charset="-122"/>
              </a:rPr>
              <a:t>Q4</a:t>
            </a:r>
            <a:r>
              <a:rPr lang="zh-CN" altLang="en-US" sz="2400">
                <a:latin typeface="楷体" pitchFamily="49" charset="-122"/>
                <a:ea typeface="楷体" pitchFamily="49" charset="-122"/>
                <a:sym typeface="楷体" pitchFamily="49" charset="-122"/>
              </a:rPr>
              <a:t>：数据备份应该怎么做？全部数据都需要备份？每天备份？</a:t>
            </a:r>
          </a:p>
          <a:p>
            <a:pPr marL="0" indent="0">
              <a:lnSpc>
                <a:spcPct val="150000"/>
              </a:lnSpc>
              <a:spcBef>
                <a:spcPct val="0"/>
              </a:spcBef>
              <a:buFont typeface="Arial" pitchFamily="34" charset="0"/>
              <a:buNone/>
            </a:pPr>
            <a:r>
              <a:rPr lang="en-US" sz="2400">
                <a:latin typeface="楷体" pitchFamily="49" charset="-122"/>
                <a:ea typeface="楷体" pitchFamily="49" charset="-122"/>
                <a:sym typeface="楷体" pitchFamily="49" charset="-122"/>
              </a:rPr>
              <a:t>Q5</a:t>
            </a:r>
            <a:r>
              <a:rPr lang="zh-CN" altLang="en-US" sz="2400">
                <a:latin typeface="楷体" pitchFamily="49" charset="-122"/>
                <a:ea typeface="楷体" pitchFamily="49" charset="-122"/>
                <a:sym typeface="楷体" pitchFamily="49" charset="-122"/>
              </a:rPr>
              <a:t>：权限设置应如何做审计追踪？</a:t>
            </a:r>
          </a:p>
          <a:p>
            <a:pPr marL="0" indent="0">
              <a:lnSpc>
                <a:spcPct val="150000"/>
              </a:lnSpc>
              <a:spcBef>
                <a:spcPct val="0"/>
              </a:spcBef>
              <a:buFont typeface="Arial" pitchFamily="34" charset="0"/>
              <a:buNone/>
            </a:pPr>
            <a:r>
              <a:rPr lang="en-US" sz="2400">
                <a:latin typeface="楷体" pitchFamily="49" charset="-122"/>
                <a:ea typeface="楷体" pitchFamily="49" charset="-122"/>
                <a:sym typeface="楷体" pitchFamily="49" charset="-122"/>
              </a:rPr>
              <a:t>Q6</a:t>
            </a:r>
            <a:r>
              <a:rPr lang="zh-CN" altLang="en-US" sz="2400">
                <a:latin typeface="楷体" pitchFamily="49" charset="-122"/>
                <a:ea typeface="楷体" pitchFamily="49" charset="-122"/>
                <a:sym typeface="楷体" pitchFamily="49" charset="-122"/>
              </a:rPr>
              <a:t>：研究注册和生产对审计追踪要求是否有区别？</a:t>
            </a: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122" name="组合 16"/>
          <p:cNvGrpSpPr>
            <a:grpSpLocks/>
          </p:cNvGrpSpPr>
          <p:nvPr/>
        </p:nvGrpSpPr>
        <p:grpSpPr bwMode="auto">
          <a:xfrm>
            <a:off x="2697163" y="2898775"/>
            <a:ext cx="3551237" cy="2371725"/>
            <a:chOff x="0" y="0"/>
            <a:chExt cx="5592" cy="3734"/>
          </a:xfrm>
        </p:grpSpPr>
        <p:sp>
          <p:nvSpPr>
            <p:cNvPr id="5123" name="圆角矩形 1"/>
            <p:cNvSpPr>
              <a:spLocks noChangeArrowheads="1"/>
            </p:cNvSpPr>
            <p:nvPr/>
          </p:nvSpPr>
          <p:spPr bwMode="auto">
            <a:xfrm>
              <a:off x="921" y="0"/>
              <a:ext cx="3750" cy="1726"/>
            </a:xfrm>
            <a:prstGeom prst="roundRect">
              <a:avLst>
                <a:gd name="adj" fmla="val 16667"/>
              </a:avLst>
            </a:prstGeom>
            <a:solidFill>
              <a:srgbClr val="F2F2F2"/>
            </a:solidFill>
            <a:ln w="25400" cap="flat" cmpd="sng">
              <a:solidFill>
                <a:srgbClr val="BABABA"/>
              </a:solidFill>
              <a:bevel/>
              <a:headEnd/>
              <a:tailEnd/>
            </a:ln>
          </p:spPr>
          <p:txBody>
            <a:bodyPr anchor="ctr"/>
            <a:lstStyle/>
            <a:p>
              <a:pPr algn="ctr"/>
              <a:r>
                <a:rPr lang="zh-CN" altLang="en-US" sz="2000" b="1">
                  <a:solidFill>
                    <a:srgbClr val="0070C0"/>
                  </a:solidFill>
                  <a:latin typeface="楷体_GB2312" pitchFamily="1" charset="-122"/>
                  <a:ea typeface="楷体_GB2312" pitchFamily="1" charset="-122"/>
                  <a:sym typeface="楷体_GB2312" pitchFamily="1" charset="-122"/>
                </a:rPr>
                <a:t>数据完整性</a:t>
              </a:r>
            </a:p>
            <a:p>
              <a:pPr algn="ctr"/>
              <a:r>
                <a:rPr lang="zh-CN" altLang="en-US" sz="2000" b="1">
                  <a:solidFill>
                    <a:srgbClr val="0070C0"/>
                  </a:solidFill>
                  <a:latin typeface="楷体_GB2312" pitchFamily="1" charset="-122"/>
                  <a:ea typeface="楷体_GB2312" pitchFamily="1" charset="-122"/>
                  <a:sym typeface="楷体_GB2312" pitchFamily="1" charset="-122"/>
                </a:rPr>
                <a:t>（</a:t>
              </a:r>
              <a:r>
                <a:rPr lang="en-US" sz="2000" b="1">
                  <a:solidFill>
                    <a:srgbClr val="0070C0"/>
                  </a:solidFill>
                  <a:latin typeface="楷体_GB2312" pitchFamily="1" charset="-122"/>
                  <a:ea typeface="楷体_GB2312" pitchFamily="1" charset="-122"/>
                  <a:sym typeface="楷体_GB2312" pitchFamily="1" charset="-122"/>
                </a:rPr>
                <a:t>Data Integrity</a:t>
              </a:r>
              <a:r>
                <a:rPr lang="zh-CN" altLang="en-US" sz="2000" b="1">
                  <a:solidFill>
                    <a:srgbClr val="0070C0"/>
                  </a:solidFill>
                  <a:latin typeface="楷体_GB2312" pitchFamily="1" charset="-122"/>
                  <a:ea typeface="楷体_GB2312" pitchFamily="1" charset="-122"/>
                  <a:sym typeface="楷体_GB2312" pitchFamily="1" charset="-122"/>
                </a:rPr>
                <a:t>）</a:t>
              </a:r>
            </a:p>
          </p:txBody>
        </p:sp>
        <p:pic>
          <p:nvPicPr>
            <p:cNvPr id="5124"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56" y="593"/>
              <a:ext cx="915" cy="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pic>
          <p:nvPicPr>
            <p:cNvPr id="5125"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4700" y="490"/>
              <a:ext cx="935" cy="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pic>
          <p:nvPicPr>
            <p:cNvPr id="5126" name="图片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flipV="1">
              <a:off x="1463" y="2188"/>
              <a:ext cx="2520" cy="1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grpSp>
      <p:sp>
        <p:nvSpPr>
          <p:cNvPr id="5127" name="圆角矩形 11"/>
          <p:cNvSpPr>
            <a:spLocks noChangeArrowheads="1"/>
          </p:cNvSpPr>
          <p:nvPr/>
        </p:nvSpPr>
        <p:spPr bwMode="auto">
          <a:xfrm>
            <a:off x="6223000" y="1774825"/>
            <a:ext cx="2727325" cy="1625600"/>
          </a:xfrm>
          <a:prstGeom prst="roundRect">
            <a:avLst>
              <a:gd name="adj" fmla="val 16667"/>
            </a:avLst>
          </a:prstGeom>
          <a:solidFill>
            <a:srgbClr val="FF0000"/>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r>
              <a:rPr lang="en-US">
                <a:solidFill>
                  <a:srgbClr val="FFFFFF"/>
                </a:solidFill>
                <a:cs typeface="Arial" pitchFamily="34" charset="0"/>
                <a:sym typeface="Arial" pitchFamily="34" charset="0"/>
              </a:rPr>
              <a:t>1.</a:t>
            </a:r>
            <a:r>
              <a:rPr lang="zh-CN" altLang="en-US">
                <a:solidFill>
                  <a:srgbClr val="FFFFFF"/>
                </a:solidFill>
              </a:rPr>
              <a:t>按照美国法律，</a:t>
            </a:r>
            <a:r>
              <a:rPr lang="en-US">
                <a:solidFill>
                  <a:srgbClr val="FFFFFF"/>
                </a:solidFill>
                <a:cs typeface="Arial" pitchFamily="34" charset="0"/>
                <a:sym typeface="Arial" pitchFamily="34" charset="0"/>
              </a:rPr>
              <a:t>GMP</a:t>
            </a:r>
            <a:r>
              <a:rPr lang="zh-CN" altLang="en-US">
                <a:solidFill>
                  <a:srgbClr val="FFFFFF"/>
                </a:solidFill>
              </a:rPr>
              <a:t>合规问题是民事问题，数据完整性问题是刑事问题</a:t>
            </a:r>
          </a:p>
        </p:txBody>
      </p:sp>
      <p:sp>
        <p:nvSpPr>
          <p:cNvPr id="5128" name="圆角矩形 12"/>
          <p:cNvSpPr>
            <a:spLocks noChangeArrowheads="1"/>
          </p:cNvSpPr>
          <p:nvPr/>
        </p:nvSpPr>
        <p:spPr bwMode="auto">
          <a:xfrm>
            <a:off x="6223000" y="3473450"/>
            <a:ext cx="2727325" cy="1625600"/>
          </a:xfrm>
          <a:prstGeom prst="roundRect">
            <a:avLst>
              <a:gd name="adj" fmla="val 16667"/>
            </a:avLst>
          </a:prstGeom>
          <a:solidFill>
            <a:srgbClr val="FF0000"/>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r>
              <a:rPr lang="en-US">
                <a:solidFill>
                  <a:srgbClr val="FFFFFF"/>
                </a:solidFill>
                <a:cs typeface="Arial" pitchFamily="34" charset="0"/>
                <a:sym typeface="Arial" pitchFamily="34" charset="0"/>
              </a:rPr>
              <a:t>2.“</a:t>
            </a:r>
            <a:r>
              <a:rPr lang="zh-CN" altLang="en-US">
                <a:solidFill>
                  <a:srgbClr val="FFFFFF"/>
                </a:solidFill>
              </a:rPr>
              <a:t>破坏数据完整性的行为就是欺骗行为！</a:t>
            </a:r>
            <a:r>
              <a:rPr lang="en-US">
                <a:solidFill>
                  <a:srgbClr val="FFFFFF"/>
                </a:solidFill>
                <a:cs typeface="Arial" pitchFamily="34" charset="0"/>
                <a:sym typeface="Arial" pitchFamily="34" charset="0"/>
              </a:rPr>
              <a:t>”—FDA</a:t>
            </a:r>
            <a:r>
              <a:rPr lang="zh-CN" altLang="en-US">
                <a:solidFill>
                  <a:srgbClr val="FFFFFF"/>
                </a:solidFill>
              </a:rPr>
              <a:t>现场检查副局长</a:t>
            </a:r>
          </a:p>
        </p:txBody>
      </p:sp>
      <p:sp>
        <p:nvSpPr>
          <p:cNvPr id="5129" name="圆角矩形 13"/>
          <p:cNvSpPr>
            <a:spLocks noChangeArrowheads="1"/>
          </p:cNvSpPr>
          <p:nvPr/>
        </p:nvSpPr>
        <p:spPr bwMode="auto">
          <a:xfrm>
            <a:off x="312738" y="1698625"/>
            <a:ext cx="2341562" cy="1624013"/>
          </a:xfrm>
          <a:prstGeom prst="roundRect">
            <a:avLst>
              <a:gd name="adj" fmla="val 16667"/>
            </a:avLst>
          </a:prstGeom>
          <a:gradFill rotWithShape="1">
            <a:gsLst>
              <a:gs pos="0">
                <a:srgbClr val="0070C0"/>
              </a:gs>
              <a:gs pos="45000">
                <a:srgbClr val="7F7F7F"/>
              </a:gs>
              <a:gs pos="100000">
                <a:srgbClr val="C00000"/>
              </a:gs>
            </a:gsLst>
            <a:lin ang="5400000" scaled="1"/>
          </a:gra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r>
              <a:rPr lang="en-US">
                <a:solidFill>
                  <a:srgbClr val="FFFFFF"/>
                </a:solidFill>
                <a:cs typeface="Arial" pitchFamily="34" charset="0"/>
                <a:sym typeface="Arial" pitchFamily="34" charset="0"/>
              </a:rPr>
              <a:t>3.</a:t>
            </a:r>
            <a:r>
              <a:rPr lang="zh-CN" altLang="en-US">
                <a:solidFill>
                  <a:srgbClr val="FFFFFF"/>
                </a:solidFill>
              </a:rPr>
              <a:t>一旦</a:t>
            </a:r>
            <a:r>
              <a:rPr lang="en-US">
                <a:solidFill>
                  <a:srgbClr val="FFFFFF"/>
                </a:solidFill>
                <a:cs typeface="Arial" pitchFamily="34" charset="0"/>
                <a:sym typeface="Arial" pitchFamily="34" charset="0"/>
              </a:rPr>
              <a:t>FDA</a:t>
            </a:r>
            <a:r>
              <a:rPr lang="zh-CN" altLang="en-US">
                <a:solidFill>
                  <a:srgbClr val="FFFFFF"/>
                </a:solidFill>
              </a:rPr>
              <a:t>认定药企有数据完整性问题，就意味着对注册数据与产品放行数据产生怀疑</a:t>
            </a:r>
            <a:r>
              <a:rPr lang="en-US">
                <a:solidFill>
                  <a:srgbClr val="FFFFFF"/>
                </a:solidFill>
                <a:cs typeface="Arial" pitchFamily="34" charset="0"/>
                <a:sym typeface="Arial" pitchFamily="34" charset="0"/>
              </a:rPr>
              <a:t>......</a:t>
            </a:r>
          </a:p>
        </p:txBody>
      </p:sp>
      <p:sp>
        <p:nvSpPr>
          <p:cNvPr id="5130" name="圆角矩形 14"/>
          <p:cNvSpPr>
            <a:spLocks noChangeArrowheads="1"/>
          </p:cNvSpPr>
          <p:nvPr/>
        </p:nvSpPr>
        <p:spPr bwMode="auto">
          <a:xfrm>
            <a:off x="312738" y="3427413"/>
            <a:ext cx="2341562" cy="1624012"/>
          </a:xfrm>
          <a:prstGeom prst="roundRect">
            <a:avLst>
              <a:gd name="adj" fmla="val 16667"/>
            </a:avLst>
          </a:prstGeom>
          <a:gradFill rotWithShape="1">
            <a:gsLst>
              <a:gs pos="0">
                <a:srgbClr val="0070C0"/>
              </a:gs>
              <a:gs pos="45000">
                <a:srgbClr val="7F7F7F"/>
              </a:gs>
              <a:gs pos="100000">
                <a:srgbClr val="C00000"/>
              </a:gs>
            </a:gsLst>
            <a:lin ang="5400000" scaled="1"/>
          </a:gra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r>
              <a:rPr lang="en-US">
                <a:solidFill>
                  <a:srgbClr val="FFFFFF"/>
                </a:solidFill>
                <a:cs typeface="Arial" pitchFamily="34" charset="0"/>
                <a:sym typeface="Arial" pitchFamily="34" charset="0"/>
              </a:rPr>
              <a:t>4.</a:t>
            </a:r>
            <a:r>
              <a:rPr lang="zh-CN" altLang="en-US">
                <a:solidFill>
                  <a:srgbClr val="FFFFFF"/>
                </a:solidFill>
              </a:rPr>
              <a:t>一旦有</a:t>
            </a:r>
            <a:r>
              <a:rPr lang="en-US">
                <a:solidFill>
                  <a:srgbClr val="FFFFFF"/>
                </a:solidFill>
                <a:cs typeface="Arial" pitchFamily="34" charset="0"/>
                <a:sym typeface="Arial" pitchFamily="34" charset="0"/>
              </a:rPr>
              <a:t>DI</a:t>
            </a:r>
            <a:r>
              <a:rPr lang="zh-CN" altLang="en-US">
                <a:solidFill>
                  <a:srgbClr val="FFFFFF"/>
                </a:solidFill>
              </a:rPr>
              <a:t>问题就意味着对质量体系运行的真实性、对质量管理的能力产生了怀疑</a:t>
            </a:r>
          </a:p>
        </p:txBody>
      </p:sp>
      <p:sp>
        <p:nvSpPr>
          <p:cNvPr id="5131" name="圆角矩形 15"/>
          <p:cNvSpPr>
            <a:spLocks noChangeArrowheads="1"/>
          </p:cNvSpPr>
          <p:nvPr/>
        </p:nvSpPr>
        <p:spPr bwMode="auto">
          <a:xfrm>
            <a:off x="1897063" y="5372100"/>
            <a:ext cx="5354637" cy="1008063"/>
          </a:xfrm>
          <a:prstGeom prst="roundRect">
            <a:avLst>
              <a:gd name="adj" fmla="val 16667"/>
            </a:avLst>
          </a:prstGeom>
          <a:solidFill>
            <a:srgbClr val="FFFFFF"/>
          </a:solidFill>
          <a:ln w="50800" cap="flat" cmpd="thickThin">
            <a:solidFill>
              <a:srgbClr val="000000"/>
            </a:solidFill>
            <a:bevel/>
            <a:headEnd/>
            <a:tailEnd/>
          </a:ln>
        </p:spPr>
        <p:txBody>
          <a:bodyPr anchor="ctr"/>
          <a:lstStyle/>
          <a:p>
            <a:pPr algn="ctr"/>
            <a:r>
              <a:rPr lang="zh-CN" altLang="en-US">
                <a:solidFill>
                  <a:srgbClr val="C00000"/>
                </a:solidFill>
              </a:rPr>
              <a:t>数据完整性是</a:t>
            </a:r>
            <a:r>
              <a:rPr lang="en-US">
                <a:solidFill>
                  <a:srgbClr val="C00000"/>
                </a:solidFill>
                <a:cs typeface="Arial" pitchFamily="34" charset="0"/>
                <a:sym typeface="Arial" pitchFamily="34" charset="0"/>
              </a:rPr>
              <a:t>GMP</a:t>
            </a:r>
            <a:r>
              <a:rPr lang="zh-CN" altLang="en-US">
                <a:solidFill>
                  <a:srgbClr val="C00000"/>
                </a:solidFill>
              </a:rPr>
              <a:t>的最低要求，是</a:t>
            </a:r>
            <a:r>
              <a:rPr lang="en-US">
                <a:solidFill>
                  <a:srgbClr val="C00000"/>
                </a:solidFill>
                <a:cs typeface="Arial" pitchFamily="34" charset="0"/>
                <a:sym typeface="Arial" pitchFamily="34" charset="0"/>
              </a:rPr>
              <a:t>GMP</a:t>
            </a:r>
            <a:r>
              <a:rPr lang="zh-CN" altLang="en-US">
                <a:solidFill>
                  <a:srgbClr val="C00000"/>
                </a:solidFill>
              </a:rPr>
              <a:t>的基石</a:t>
            </a:r>
          </a:p>
        </p:txBody>
      </p:sp>
      <p:sp>
        <p:nvSpPr>
          <p:cNvPr id="5132" name="标题 1"/>
          <p:cNvSpPr>
            <a:spLocks noGrp="1" noChangeArrowheads="1"/>
          </p:cNvSpPr>
          <p:nvPr/>
        </p:nvSpPr>
        <p:spPr bwMode="auto">
          <a:xfrm>
            <a:off x="2205038" y="187325"/>
            <a:ext cx="69897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节：如何从更高的角度去认识数据完整性问题</a:t>
            </a:r>
          </a:p>
        </p:txBody>
      </p:sp>
    </p:spTree>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标题 1"/>
          <p:cNvSpPr>
            <a:spLocks noGrp="1" noChangeArrowheads="1"/>
          </p:cNvSpPr>
          <p:nvPr/>
        </p:nvSpPr>
        <p:spPr bwMode="auto">
          <a:xfrm>
            <a:off x="2481263" y="-9525"/>
            <a:ext cx="53594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2</a:t>
            </a:r>
            <a:r>
              <a:rPr lang="zh-CN" altLang="en-US" sz="2400" b="1">
                <a:solidFill>
                  <a:srgbClr val="FFFF00"/>
                </a:solidFill>
                <a:latin typeface="Calibri" pitchFamily="34" charset="0"/>
                <a:ea typeface="楷体" pitchFamily="49" charset="-122"/>
                <a:sym typeface="Calibri" pitchFamily="34" charset="0"/>
              </a:rPr>
              <a:t>节：数据完整性导致的连锁反应及对企业发展的严重影响分析</a:t>
            </a:r>
          </a:p>
        </p:txBody>
      </p:sp>
      <p:sp>
        <p:nvSpPr>
          <p:cNvPr id="6147" name="文本框 4"/>
          <p:cNvSpPr>
            <a:spLocks noChangeArrowheads="1"/>
          </p:cNvSpPr>
          <p:nvPr/>
        </p:nvSpPr>
        <p:spPr bwMode="auto">
          <a:xfrm>
            <a:off x="3101975" y="1428750"/>
            <a:ext cx="39497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800" b="1">
                <a:solidFill>
                  <a:srgbClr val="C00000"/>
                </a:solidFill>
                <a:latin typeface="楷体_GB2312" pitchFamily="1" charset="-122"/>
                <a:ea typeface="楷体_GB2312" pitchFamily="1" charset="-122"/>
                <a:sym typeface="楷体_GB2312" pitchFamily="1" charset="-122"/>
              </a:rPr>
              <a:t>数据完整性</a:t>
            </a:r>
            <a:r>
              <a:rPr lang="en-US" sz="2800" b="1">
                <a:solidFill>
                  <a:srgbClr val="C00000"/>
                </a:solidFill>
                <a:latin typeface="楷体_GB2312" pitchFamily="1" charset="-122"/>
                <a:ea typeface="楷体_GB2312" pitchFamily="1" charset="-122"/>
                <a:sym typeface="楷体_GB2312" pitchFamily="1" charset="-122"/>
              </a:rPr>
              <a:t>DI</a:t>
            </a:r>
            <a:r>
              <a:rPr lang="zh-CN" altLang="en-US" sz="2800" b="1">
                <a:solidFill>
                  <a:srgbClr val="C00000"/>
                </a:solidFill>
                <a:latin typeface="楷体_GB2312" pitchFamily="1" charset="-122"/>
                <a:ea typeface="楷体_GB2312" pitchFamily="1" charset="-122"/>
                <a:sym typeface="楷体_GB2312" pitchFamily="1" charset="-122"/>
              </a:rPr>
              <a:t>的意义</a:t>
            </a:r>
          </a:p>
        </p:txBody>
      </p:sp>
      <p:grpSp>
        <p:nvGrpSpPr>
          <p:cNvPr id="6148" name="组合 8"/>
          <p:cNvGrpSpPr>
            <a:grpSpLocks/>
          </p:cNvGrpSpPr>
          <p:nvPr/>
        </p:nvGrpSpPr>
        <p:grpSpPr bwMode="auto">
          <a:xfrm>
            <a:off x="614363" y="2546350"/>
            <a:ext cx="8151812" cy="2124075"/>
            <a:chOff x="0" y="0"/>
            <a:chExt cx="12021" cy="3413"/>
          </a:xfrm>
        </p:grpSpPr>
        <p:sp>
          <p:nvSpPr>
            <p:cNvPr id="6149" name="Oval 5"/>
            <p:cNvSpPr>
              <a:spLocks noChangeArrowheads="1"/>
            </p:cNvSpPr>
            <p:nvPr/>
          </p:nvSpPr>
          <p:spPr bwMode="auto">
            <a:xfrm>
              <a:off x="8618" y="10"/>
              <a:ext cx="3403" cy="3403"/>
            </a:xfrm>
            <a:prstGeom prst="ellipse">
              <a:avLst/>
            </a:prstGeom>
            <a:gradFill rotWithShape="1">
              <a:gsLst>
                <a:gs pos="0">
                  <a:srgbClr val="FFFFFF"/>
                </a:gs>
                <a:gs pos="50000">
                  <a:srgbClr val="0000FF"/>
                </a:gs>
                <a:gs pos="100000">
                  <a:srgbClr val="FFFFFF"/>
                </a:gs>
              </a:gsLst>
              <a:lin ang="27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50" name="Oval 6"/>
            <p:cNvSpPr>
              <a:spLocks noChangeArrowheads="1"/>
            </p:cNvSpPr>
            <p:nvPr/>
          </p:nvSpPr>
          <p:spPr bwMode="auto">
            <a:xfrm>
              <a:off x="8618" y="10"/>
              <a:ext cx="3403" cy="3403"/>
            </a:xfrm>
            <a:prstGeom prst="ellipse">
              <a:avLst/>
            </a:prstGeom>
            <a:gradFill rotWithShape="1">
              <a:gsLst>
                <a:gs pos="0">
                  <a:srgbClr val="0000FF"/>
                </a:gs>
                <a:gs pos="100000">
                  <a:srgbClr val="000000"/>
                </a:gs>
              </a:gsLst>
              <a:lin ang="27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51" name="Oval 7"/>
            <p:cNvSpPr>
              <a:spLocks noChangeArrowheads="1"/>
            </p:cNvSpPr>
            <p:nvPr/>
          </p:nvSpPr>
          <p:spPr bwMode="auto">
            <a:xfrm>
              <a:off x="8840" y="233"/>
              <a:ext cx="2958" cy="2958"/>
            </a:xfrm>
            <a:prstGeom prst="ellipse">
              <a:avLst/>
            </a:prstGeom>
            <a:gradFill rotWithShape="1">
              <a:gsLst>
                <a:gs pos="0">
                  <a:srgbClr val="00008A"/>
                </a:gs>
                <a:gs pos="50000">
                  <a:srgbClr val="0000FF"/>
                </a:gs>
                <a:gs pos="100000">
                  <a:srgbClr val="00008A"/>
                </a:gs>
              </a:gsLst>
              <a:lin ang="189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52" name="Oval 8"/>
            <p:cNvSpPr>
              <a:spLocks noChangeArrowheads="1"/>
            </p:cNvSpPr>
            <p:nvPr/>
          </p:nvSpPr>
          <p:spPr bwMode="auto">
            <a:xfrm>
              <a:off x="8890" y="250"/>
              <a:ext cx="2958" cy="2958"/>
            </a:xfrm>
            <a:prstGeom prst="ellipse">
              <a:avLst/>
            </a:prstGeom>
            <a:gradFill rotWithShape="1">
              <a:gsLst>
                <a:gs pos="0">
                  <a:srgbClr val="0000A2"/>
                </a:gs>
                <a:gs pos="100000">
                  <a:srgbClr val="0000FF"/>
                </a:gs>
              </a:gsLst>
              <a:lin ang="27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53" name="Oval 9"/>
            <p:cNvSpPr>
              <a:spLocks noChangeArrowheads="1"/>
            </p:cNvSpPr>
            <p:nvPr/>
          </p:nvSpPr>
          <p:spPr bwMode="auto">
            <a:xfrm>
              <a:off x="9000" y="380"/>
              <a:ext cx="2663" cy="2663"/>
            </a:xfrm>
            <a:prstGeom prst="ellipse">
              <a:avLst/>
            </a:prstGeom>
            <a:solidFill>
              <a:srgbClr val="333333"/>
            </a:solidFill>
            <a:ln>
              <a:noFill/>
            </a:ln>
            <a:extLst>
              <a:ext uri="{91240B29-F687-4F45-9708-019B960494DF}">
                <a14:hiddenLine xmlns:a14="http://schemas.microsoft.com/office/drawing/2010/main" w="38100"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54" name="Oval 20"/>
            <p:cNvSpPr>
              <a:spLocks noChangeArrowheads="1"/>
            </p:cNvSpPr>
            <p:nvPr/>
          </p:nvSpPr>
          <p:spPr bwMode="auto">
            <a:xfrm>
              <a:off x="4310" y="10"/>
              <a:ext cx="3403" cy="3403"/>
            </a:xfrm>
            <a:prstGeom prst="ellipse">
              <a:avLst/>
            </a:prstGeom>
            <a:gradFill rotWithShape="1">
              <a:gsLst>
                <a:gs pos="0">
                  <a:srgbClr val="FFFFFF"/>
                </a:gs>
                <a:gs pos="50000">
                  <a:srgbClr val="4F81BD"/>
                </a:gs>
                <a:gs pos="100000">
                  <a:srgbClr val="FFFFFF"/>
                </a:gs>
              </a:gsLst>
              <a:lin ang="27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55" name="Oval 21"/>
            <p:cNvSpPr>
              <a:spLocks noChangeArrowheads="1"/>
            </p:cNvSpPr>
            <p:nvPr/>
          </p:nvSpPr>
          <p:spPr bwMode="auto">
            <a:xfrm>
              <a:off x="4310" y="10"/>
              <a:ext cx="3403" cy="3403"/>
            </a:xfrm>
            <a:prstGeom prst="ellipse">
              <a:avLst/>
            </a:prstGeom>
            <a:gradFill rotWithShape="1">
              <a:gsLst>
                <a:gs pos="0">
                  <a:srgbClr val="4F81BD"/>
                </a:gs>
                <a:gs pos="100000">
                  <a:srgbClr val="253C57"/>
                </a:gs>
              </a:gsLst>
              <a:lin ang="27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56" name="Oval 22"/>
            <p:cNvSpPr>
              <a:spLocks noChangeArrowheads="1"/>
            </p:cNvSpPr>
            <p:nvPr/>
          </p:nvSpPr>
          <p:spPr bwMode="auto">
            <a:xfrm>
              <a:off x="4533" y="233"/>
              <a:ext cx="2958" cy="2958"/>
            </a:xfrm>
            <a:prstGeom prst="ellipse">
              <a:avLst/>
            </a:prstGeom>
            <a:gradFill rotWithShape="1">
              <a:gsLst>
                <a:gs pos="0">
                  <a:srgbClr val="2B4666"/>
                </a:gs>
                <a:gs pos="50000">
                  <a:srgbClr val="4F81BD"/>
                </a:gs>
                <a:gs pos="100000">
                  <a:srgbClr val="2B4666"/>
                </a:gs>
              </a:gsLst>
              <a:lin ang="189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57" name="Oval 23"/>
            <p:cNvSpPr>
              <a:spLocks noChangeArrowheads="1"/>
            </p:cNvSpPr>
            <p:nvPr/>
          </p:nvSpPr>
          <p:spPr bwMode="auto">
            <a:xfrm>
              <a:off x="4535" y="238"/>
              <a:ext cx="2958" cy="2958"/>
            </a:xfrm>
            <a:prstGeom prst="ellipse">
              <a:avLst/>
            </a:prstGeom>
            <a:gradFill rotWithShape="1">
              <a:gsLst>
                <a:gs pos="0">
                  <a:srgbClr val="325278"/>
                </a:gs>
                <a:gs pos="100000">
                  <a:srgbClr val="4F81BD"/>
                </a:gs>
              </a:gsLst>
              <a:lin ang="27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58" name="Oval 24"/>
            <p:cNvSpPr>
              <a:spLocks noChangeArrowheads="1"/>
            </p:cNvSpPr>
            <p:nvPr/>
          </p:nvSpPr>
          <p:spPr bwMode="auto">
            <a:xfrm>
              <a:off x="4680" y="380"/>
              <a:ext cx="2663" cy="2663"/>
            </a:xfrm>
            <a:prstGeom prst="ellipse">
              <a:avLst/>
            </a:prstGeom>
            <a:solidFill>
              <a:srgbClr val="333333"/>
            </a:solidFill>
            <a:ln>
              <a:noFill/>
            </a:ln>
            <a:extLst>
              <a:ext uri="{91240B29-F687-4F45-9708-019B960494DF}">
                <a14:hiddenLine xmlns:a14="http://schemas.microsoft.com/office/drawing/2010/main" w="38100"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grpSp>
          <p:nvGrpSpPr>
            <p:cNvPr id="6159" name="Group 25"/>
            <p:cNvGrpSpPr>
              <a:grpSpLocks/>
            </p:cNvGrpSpPr>
            <p:nvPr/>
          </p:nvGrpSpPr>
          <p:grpSpPr bwMode="auto">
            <a:xfrm>
              <a:off x="4723" y="410"/>
              <a:ext cx="2578" cy="2578"/>
              <a:chOff x="0" y="0"/>
              <a:chExt cx="1252" cy="1252"/>
            </a:xfrm>
          </p:grpSpPr>
          <p:sp>
            <p:nvSpPr>
              <p:cNvPr id="6160" name="Oval 26"/>
              <p:cNvSpPr>
                <a:spLocks noChangeArrowheads="1"/>
              </p:cNvSpPr>
              <p:nvPr/>
            </p:nvSpPr>
            <p:spPr bwMode="auto">
              <a:xfrm>
                <a:off x="0" y="0"/>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sp>
            <p:nvSpPr>
              <p:cNvPr id="6161" name="Oval 27"/>
              <p:cNvSpPr>
                <a:spLocks noChangeArrowheads="1"/>
              </p:cNvSpPr>
              <p:nvPr/>
            </p:nvSpPr>
            <p:spPr bwMode="auto">
              <a:xfrm>
                <a:off x="16" y="7"/>
                <a:ext cx="1222" cy="1221"/>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sp>
            <p:nvSpPr>
              <p:cNvPr id="6162" name="Oval 28"/>
              <p:cNvSpPr>
                <a:spLocks noChangeArrowheads="1"/>
              </p:cNvSpPr>
              <p:nvPr/>
            </p:nvSpPr>
            <p:spPr bwMode="auto">
              <a:xfrm>
                <a:off x="29" y="19"/>
                <a:ext cx="1162" cy="1141"/>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sp>
            <p:nvSpPr>
              <p:cNvPr id="6163" name="Oval 29"/>
              <p:cNvSpPr>
                <a:spLocks noChangeArrowheads="1"/>
              </p:cNvSpPr>
              <p:nvPr/>
            </p:nvSpPr>
            <p:spPr bwMode="auto">
              <a:xfrm>
                <a:off x="97" y="51"/>
                <a:ext cx="1033" cy="926"/>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grpSp>
        <p:grpSp>
          <p:nvGrpSpPr>
            <p:cNvPr id="6164" name="Group 30"/>
            <p:cNvGrpSpPr>
              <a:grpSpLocks/>
            </p:cNvGrpSpPr>
            <p:nvPr/>
          </p:nvGrpSpPr>
          <p:grpSpPr bwMode="auto">
            <a:xfrm>
              <a:off x="9048" y="410"/>
              <a:ext cx="2578" cy="2578"/>
              <a:chOff x="0" y="0"/>
              <a:chExt cx="1252" cy="1252"/>
            </a:xfrm>
          </p:grpSpPr>
          <p:sp>
            <p:nvSpPr>
              <p:cNvPr id="6165" name="Oval 31"/>
              <p:cNvSpPr>
                <a:spLocks noChangeArrowheads="1"/>
              </p:cNvSpPr>
              <p:nvPr/>
            </p:nvSpPr>
            <p:spPr bwMode="auto">
              <a:xfrm>
                <a:off x="0" y="0"/>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sp>
            <p:nvSpPr>
              <p:cNvPr id="6166" name="Oval 32"/>
              <p:cNvSpPr>
                <a:spLocks noChangeArrowheads="1"/>
              </p:cNvSpPr>
              <p:nvPr/>
            </p:nvSpPr>
            <p:spPr bwMode="auto">
              <a:xfrm>
                <a:off x="16" y="7"/>
                <a:ext cx="1222" cy="1221"/>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sp>
            <p:nvSpPr>
              <p:cNvPr id="6167" name="Oval 33"/>
              <p:cNvSpPr>
                <a:spLocks noChangeArrowheads="1"/>
              </p:cNvSpPr>
              <p:nvPr/>
            </p:nvSpPr>
            <p:spPr bwMode="auto">
              <a:xfrm>
                <a:off x="29" y="19"/>
                <a:ext cx="1162" cy="1141"/>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sp>
            <p:nvSpPr>
              <p:cNvPr id="6168" name="Oval 34"/>
              <p:cNvSpPr>
                <a:spLocks noChangeArrowheads="1"/>
              </p:cNvSpPr>
              <p:nvPr/>
            </p:nvSpPr>
            <p:spPr bwMode="auto">
              <a:xfrm>
                <a:off x="97" y="51"/>
                <a:ext cx="1033" cy="926"/>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grpSp>
        <p:grpSp>
          <p:nvGrpSpPr>
            <p:cNvPr id="6169" name="组合 9"/>
            <p:cNvGrpSpPr>
              <a:grpSpLocks/>
            </p:cNvGrpSpPr>
            <p:nvPr/>
          </p:nvGrpSpPr>
          <p:grpSpPr bwMode="auto">
            <a:xfrm>
              <a:off x="0" y="0"/>
              <a:ext cx="3403" cy="3403"/>
              <a:chOff x="0" y="0"/>
              <a:chExt cx="3403" cy="3403"/>
            </a:xfrm>
          </p:grpSpPr>
          <p:sp>
            <p:nvSpPr>
              <p:cNvPr id="6170" name="Oval 10"/>
              <p:cNvSpPr>
                <a:spLocks noChangeArrowheads="1"/>
              </p:cNvSpPr>
              <p:nvPr/>
            </p:nvSpPr>
            <p:spPr bwMode="auto">
              <a:xfrm>
                <a:off x="0" y="0"/>
                <a:ext cx="3403" cy="3403"/>
              </a:xfrm>
              <a:prstGeom prst="ellipse">
                <a:avLst/>
              </a:prstGeom>
              <a:gradFill rotWithShape="1">
                <a:gsLst>
                  <a:gs pos="0">
                    <a:srgbClr val="FFFFFF"/>
                  </a:gs>
                  <a:gs pos="50000">
                    <a:srgbClr val="800080"/>
                  </a:gs>
                  <a:gs pos="100000">
                    <a:srgbClr val="FFFFFF"/>
                  </a:gs>
                </a:gsLst>
                <a:lin ang="27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71" name="Oval 11"/>
              <p:cNvSpPr>
                <a:spLocks noChangeArrowheads="1"/>
              </p:cNvSpPr>
              <p:nvPr/>
            </p:nvSpPr>
            <p:spPr bwMode="auto">
              <a:xfrm>
                <a:off x="0" y="0"/>
                <a:ext cx="3403" cy="3403"/>
              </a:xfrm>
              <a:prstGeom prst="ellipse">
                <a:avLst/>
              </a:prstGeom>
              <a:gradFill rotWithShape="1">
                <a:gsLst>
                  <a:gs pos="0">
                    <a:srgbClr val="800080"/>
                  </a:gs>
                  <a:gs pos="100000">
                    <a:srgbClr val="000000"/>
                  </a:gs>
                </a:gsLst>
                <a:lin ang="27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72" name="Oval 12"/>
              <p:cNvSpPr>
                <a:spLocks noChangeArrowheads="1"/>
              </p:cNvSpPr>
              <p:nvPr/>
            </p:nvSpPr>
            <p:spPr bwMode="auto">
              <a:xfrm>
                <a:off x="223" y="223"/>
                <a:ext cx="2958" cy="2958"/>
              </a:xfrm>
              <a:prstGeom prst="ellipse">
                <a:avLst/>
              </a:prstGeom>
              <a:gradFill rotWithShape="1">
                <a:gsLst>
                  <a:gs pos="0">
                    <a:srgbClr val="450045"/>
                  </a:gs>
                  <a:gs pos="50000">
                    <a:srgbClr val="800080"/>
                  </a:gs>
                  <a:gs pos="100000">
                    <a:srgbClr val="450045"/>
                  </a:gs>
                </a:gsLst>
                <a:lin ang="189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73" name="Oval 13"/>
              <p:cNvSpPr>
                <a:spLocks noChangeArrowheads="1"/>
              </p:cNvSpPr>
              <p:nvPr/>
            </p:nvSpPr>
            <p:spPr bwMode="auto">
              <a:xfrm>
                <a:off x="225" y="228"/>
                <a:ext cx="2958" cy="2958"/>
              </a:xfrm>
              <a:prstGeom prst="ellipse">
                <a:avLst/>
              </a:prstGeom>
              <a:gradFill rotWithShape="1">
                <a:gsLst>
                  <a:gs pos="0">
                    <a:srgbClr val="510051"/>
                  </a:gs>
                  <a:gs pos="100000">
                    <a:srgbClr val="800080"/>
                  </a:gs>
                </a:gsLst>
                <a:lin ang="27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sp>
            <p:nvSpPr>
              <p:cNvPr id="6174" name="Oval 14"/>
              <p:cNvSpPr>
                <a:spLocks noChangeArrowheads="1"/>
              </p:cNvSpPr>
              <p:nvPr/>
            </p:nvSpPr>
            <p:spPr bwMode="auto">
              <a:xfrm>
                <a:off x="370" y="370"/>
                <a:ext cx="2663" cy="2663"/>
              </a:xfrm>
              <a:prstGeom prst="ellipse">
                <a:avLst/>
              </a:prstGeom>
              <a:solidFill>
                <a:srgbClr val="333333"/>
              </a:solidFill>
              <a:ln>
                <a:noFill/>
              </a:ln>
              <a:extLst>
                <a:ext uri="{91240B29-F687-4F45-9708-019B960494DF}">
                  <a14:hiddenLine xmlns:a14="http://schemas.microsoft.com/office/drawing/2010/main" w="38100" cmpd="sng">
                    <a:solidFill>
                      <a:srgbClr val="000000"/>
                    </a:solidFill>
                    <a:bevel/>
                    <a:headEnd/>
                    <a:tailEnd/>
                  </a14:hiddenLine>
                </a:ext>
              </a:extLst>
            </p:spPr>
            <p:txBody>
              <a:bodyPr anchor="ctr">
                <a:spAutoFit/>
              </a:bodyPr>
              <a:lstStyle/>
              <a:p>
                <a:endParaRPr lang="zh-CN" altLang="zh-CN">
                  <a:solidFill>
                    <a:srgbClr val="000000"/>
                  </a:solidFill>
                  <a:ea typeface="隶书" pitchFamily="49" charset="-122"/>
                  <a:sym typeface="Arial" pitchFamily="34" charset="0"/>
                </a:endParaRPr>
              </a:p>
            </p:txBody>
          </p:sp>
          <p:grpSp>
            <p:nvGrpSpPr>
              <p:cNvPr id="6175" name="Group 15"/>
              <p:cNvGrpSpPr>
                <a:grpSpLocks/>
              </p:cNvGrpSpPr>
              <p:nvPr/>
            </p:nvGrpSpPr>
            <p:grpSpPr bwMode="auto">
              <a:xfrm>
                <a:off x="413" y="410"/>
                <a:ext cx="2578" cy="2578"/>
                <a:chOff x="0" y="0"/>
                <a:chExt cx="1252" cy="1252"/>
              </a:xfrm>
            </p:grpSpPr>
            <p:sp>
              <p:nvSpPr>
                <p:cNvPr id="6176" name="Oval 16"/>
                <p:cNvSpPr>
                  <a:spLocks noChangeArrowheads="1"/>
                </p:cNvSpPr>
                <p:nvPr/>
              </p:nvSpPr>
              <p:spPr bwMode="auto">
                <a:xfrm>
                  <a:off x="0" y="0"/>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sp>
              <p:nvSpPr>
                <p:cNvPr id="6177" name="Oval 17"/>
                <p:cNvSpPr>
                  <a:spLocks noChangeArrowheads="1"/>
                </p:cNvSpPr>
                <p:nvPr/>
              </p:nvSpPr>
              <p:spPr bwMode="auto">
                <a:xfrm>
                  <a:off x="16" y="7"/>
                  <a:ext cx="1222" cy="1221"/>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sp>
              <p:nvSpPr>
                <p:cNvPr id="6178" name="Oval 18"/>
                <p:cNvSpPr>
                  <a:spLocks noChangeArrowheads="1"/>
                </p:cNvSpPr>
                <p:nvPr/>
              </p:nvSpPr>
              <p:spPr bwMode="auto">
                <a:xfrm>
                  <a:off x="29" y="19"/>
                  <a:ext cx="1162" cy="1141"/>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sp>
              <p:nvSpPr>
                <p:cNvPr id="6179" name="Oval 19"/>
                <p:cNvSpPr>
                  <a:spLocks noChangeArrowheads="1"/>
                </p:cNvSpPr>
                <p:nvPr/>
              </p:nvSpPr>
              <p:spPr bwMode="auto">
                <a:xfrm>
                  <a:off x="97" y="51"/>
                  <a:ext cx="1033" cy="926"/>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cmpd="sng">
                      <a:solidFill>
                        <a:srgbClr val="000000"/>
                      </a:solidFill>
                      <a:bevel/>
                      <a:headEnd/>
                      <a:tailEnd/>
                    </a14:hiddenLine>
                  </a:ext>
                </a:extLst>
              </p:spPr>
              <p:txBody>
                <a:bodyPr wrap="none" anchor="ctr"/>
                <a:lstStyle/>
                <a:p>
                  <a:endParaRPr lang="zh-CN" altLang="zh-CN">
                    <a:solidFill>
                      <a:srgbClr val="000000"/>
                    </a:solidFill>
                    <a:ea typeface="隶书" pitchFamily="49" charset="-122"/>
                    <a:sym typeface="Arial" pitchFamily="34" charset="0"/>
                  </a:endParaRPr>
                </a:p>
              </p:txBody>
            </p:sp>
          </p:grpSp>
          <p:sp>
            <p:nvSpPr>
              <p:cNvPr id="6180" name="Text Box 38"/>
              <p:cNvSpPr>
                <a:spLocks noChangeArrowheads="1"/>
              </p:cNvSpPr>
              <p:nvPr/>
            </p:nvSpPr>
            <p:spPr bwMode="auto">
              <a:xfrm>
                <a:off x="317" y="906"/>
                <a:ext cx="2650" cy="1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eaLnBrk="0" hangingPunct="0"/>
                <a:r>
                  <a:rPr lang="zh-CN" altLang="en-US" sz="2000" b="1">
                    <a:solidFill>
                      <a:srgbClr val="000000"/>
                    </a:solidFill>
                    <a:sym typeface="Arial" pitchFamily="34" charset="0"/>
                  </a:rPr>
                  <a:t>诚信缺失无法保证药品安全、功效和质量</a:t>
                </a:r>
              </a:p>
            </p:txBody>
          </p:sp>
        </p:grpSp>
      </p:grpSp>
      <p:sp>
        <p:nvSpPr>
          <p:cNvPr id="6181" name="Text Box 38"/>
          <p:cNvSpPr>
            <a:spLocks noChangeArrowheads="1"/>
          </p:cNvSpPr>
          <p:nvPr/>
        </p:nvSpPr>
        <p:spPr bwMode="auto">
          <a:xfrm>
            <a:off x="3924300" y="3068638"/>
            <a:ext cx="15176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eaLnBrk="0" hangingPunct="0"/>
            <a:r>
              <a:rPr lang="zh-CN" altLang="en-US" sz="2000" b="1">
                <a:solidFill>
                  <a:srgbClr val="000000"/>
                </a:solidFill>
                <a:sym typeface="Arial" pitchFamily="34" charset="0"/>
              </a:rPr>
              <a:t>失去了监管部门对药品企业的信任</a:t>
            </a:r>
          </a:p>
        </p:txBody>
      </p:sp>
      <p:sp>
        <p:nvSpPr>
          <p:cNvPr id="6182" name="Text Box 38"/>
          <p:cNvSpPr>
            <a:spLocks noChangeArrowheads="1"/>
          </p:cNvSpPr>
          <p:nvPr/>
        </p:nvSpPr>
        <p:spPr bwMode="auto">
          <a:xfrm>
            <a:off x="6804025" y="2997200"/>
            <a:ext cx="1657350"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eaLnBrk="0" hangingPunct="0"/>
            <a:r>
              <a:rPr lang="zh-CN" altLang="en-US" sz="2000" b="1">
                <a:solidFill>
                  <a:srgbClr val="000000"/>
                </a:solidFill>
                <a:sym typeface="Arial" pitchFamily="34" charset="0"/>
              </a:rPr>
              <a:t>影响产品销售；影响公司的业务和名誉</a:t>
            </a:r>
          </a:p>
        </p:txBody>
      </p:sp>
    </p:spTree>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标题 1"/>
          <p:cNvSpPr>
            <a:spLocks noGrp="1" noChangeArrowheads="1"/>
          </p:cNvSpPr>
          <p:nvPr/>
        </p:nvSpPr>
        <p:spPr bwMode="auto">
          <a:xfrm>
            <a:off x="2481263" y="6350"/>
            <a:ext cx="5695950"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3</a:t>
            </a:r>
            <a:r>
              <a:rPr lang="zh-CN" altLang="en-US" sz="2400" b="1">
                <a:solidFill>
                  <a:srgbClr val="FFFF00"/>
                </a:solidFill>
                <a:latin typeface="Calibri" pitchFamily="34" charset="0"/>
                <a:ea typeface="楷体" pitchFamily="49" charset="-122"/>
                <a:sym typeface="Calibri" pitchFamily="34" charset="0"/>
              </a:rPr>
              <a:t>节：电子数据符合21CFR11适用性判断流程图</a:t>
            </a:r>
          </a:p>
        </p:txBody>
      </p:sp>
      <p:sp>
        <p:nvSpPr>
          <p:cNvPr id="7171" name="文本框 4"/>
          <p:cNvSpPr>
            <a:spLocks noChangeArrowheads="1"/>
          </p:cNvSpPr>
          <p:nvPr/>
        </p:nvSpPr>
        <p:spPr bwMode="auto">
          <a:xfrm>
            <a:off x="736600" y="1141413"/>
            <a:ext cx="81708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800" b="1">
                <a:solidFill>
                  <a:srgbClr val="0070C0"/>
                </a:solidFill>
                <a:latin typeface="楷体_GB2312" pitchFamily="1" charset="-122"/>
                <a:ea typeface="楷体_GB2312" pitchFamily="1" charset="-122"/>
                <a:sym typeface="楷体_GB2312" pitchFamily="1" charset="-122"/>
              </a:rPr>
              <a:t>关键点</a:t>
            </a:r>
            <a:r>
              <a:rPr lang="en-US" sz="2800" b="1">
                <a:solidFill>
                  <a:srgbClr val="0070C0"/>
                </a:solidFill>
                <a:latin typeface="楷体_GB2312" pitchFamily="1" charset="-122"/>
                <a:ea typeface="楷体_GB2312" pitchFamily="1" charset="-122"/>
                <a:sym typeface="楷体_GB2312" pitchFamily="1" charset="-122"/>
              </a:rPr>
              <a:t>——</a:t>
            </a:r>
            <a:r>
              <a:rPr lang="zh-CN" altLang="en-US" sz="2800" b="1">
                <a:solidFill>
                  <a:srgbClr val="0070C0"/>
                </a:solidFill>
                <a:latin typeface="楷体_GB2312" pitchFamily="1" charset="-122"/>
                <a:ea typeface="楷体_GB2312" pitchFamily="1" charset="-122"/>
                <a:sym typeface="楷体_GB2312" pitchFamily="1" charset="-122"/>
              </a:rPr>
              <a:t>同时满足</a:t>
            </a:r>
            <a:r>
              <a:rPr lang="zh-CN" altLang="en-US" sz="2800" b="1">
                <a:solidFill>
                  <a:srgbClr val="C00000"/>
                </a:solidFill>
                <a:latin typeface="楷体_GB2312" pitchFamily="1" charset="-122"/>
                <a:ea typeface="楷体_GB2312" pitchFamily="1" charset="-122"/>
                <a:sym typeface="楷体_GB2312" pitchFamily="1" charset="-122"/>
              </a:rPr>
              <a:t>电子形式</a:t>
            </a:r>
            <a:r>
              <a:rPr lang="en-US" sz="2800" b="1">
                <a:solidFill>
                  <a:srgbClr val="C00000"/>
                </a:solidFill>
                <a:latin typeface="楷体_GB2312" pitchFamily="1" charset="-122"/>
                <a:ea typeface="楷体_GB2312" pitchFamily="1" charset="-122"/>
                <a:sym typeface="楷体_GB2312" pitchFamily="1" charset="-122"/>
              </a:rPr>
              <a:t>+</a:t>
            </a:r>
            <a:r>
              <a:rPr lang="zh-CN" altLang="en-US" sz="2800" b="1">
                <a:solidFill>
                  <a:srgbClr val="C00000"/>
                </a:solidFill>
                <a:latin typeface="楷体_GB2312" pitchFamily="1" charset="-122"/>
                <a:ea typeface="楷体_GB2312" pitchFamily="1" charset="-122"/>
                <a:sym typeface="楷体_GB2312" pitchFamily="1" charset="-122"/>
              </a:rPr>
              <a:t>原始永久</a:t>
            </a:r>
            <a:r>
              <a:rPr lang="en-US" sz="2800" b="1">
                <a:solidFill>
                  <a:srgbClr val="C00000"/>
                </a:solidFill>
                <a:latin typeface="楷体_GB2312" pitchFamily="1" charset="-122"/>
                <a:ea typeface="楷体_GB2312" pitchFamily="1" charset="-122"/>
                <a:sym typeface="楷体_GB2312" pitchFamily="1" charset="-122"/>
              </a:rPr>
              <a:t>+</a:t>
            </a:r>
            <a:r>
              <a:rPr lang="zh-CN" altLang="en-US" sz="2800" b="1">
                <a:solidFill>
                  <a:srgbClr val="C00000"/>
                </a:solidFill>
                <a:latin typeface="楷体_GB2312" pitchFamily="1" charset="-122"/>
                <a:ea typeface="楷体_GB2312" pitchFamily="1" charset="-122"/>
                <a:sym typeface="楷体_GB2312" pitchFamily="1" charset="-122"/>
              </a:rPr>
              <a:t>法规要求</a:t>
            </a:r>
          </a:p>
        </p:txBody>
      </p:sp>
      <p:sp>
        <p:nvSpPr>
          <p:cNvPr id="7172" name="Text Box 38"/>
          <p:cNvSpPr>
            <a:spLocks noChangeArrowheads="1"/>
          </p:cNvSpPr>
          <p:nvPr/>
        </p:nvSpPr>
        <p:spPr bwMode="auto">
          <a:xfrm>
            <a:off x="479425" y="6018213"/>
            <a:ext cx="8334375"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eaLnBrk="0" hangingPunct="0"/>
            <a:r>
              <a:rPr lang="zh-CN" altLang="en-US" sz="2000" b="1">
                <a:solidFill>
                  <a:srgbClr val="000000"/>
                </a:solidFill>
                <a:sym typeface="Arial" pitchFamily="34" charset="0"/>
              </a:rPr>
              <a:t>注：非永久性举例有：</a:t>
            </a:r>
            <a:r>
              <a:rPr lang="en-US" sz="2000" b="1">
                <a:solidFill>
                  <a:srgbClr val="000000"/>
                </a:solidFill>
                <a:sym typeface="Arial" pitchFamily="34" charset="0"/>
              </a:rPr>
              <a:t>1</a:t>
            </a:r>
            <a:r>
              <a:rPr lang="zh-CN" altLang="en-US" sz="2000" b="1">
                <a:solidFill>
                  <a:srgbClr val="000000"/>
                </a:solidFill>
                <a:sym typeface="Arial" pitchFamily="34" charset="0"/>
              </a:rPr>
              <a:t>）在线打印不保留的电子记录；</a:t>
            </a:r>
            <a:r>
              <a:rPr lang="en-US" sz="2000" b="1">
                <a:solidFill>
                  <a:srgbClr val="000000"/>
                </a:solidFill>
                <a:sym typeface="Arial" pitchFamily="34" charset="0"/>
              </a:rPr>
              <a:t>2</a:t>
            </a:r>
            <a:r>
              <a:rPr lang="zh-CN" altLang="en-US" sz="2000" b="1">
                <a:solidFill>
                  <a:srgbClr val="000000"/>
                </a:solidFill>
                <a:sym typeface="Arial" pitchFamily="34" charset="0"/>
              </a:rPr>
              <a:t>）暂时放在缓冲储存器中的电子记录；</a:t>
            </a:r>
            <a:r>
              <a:rPr lang="en-US" sz="2000" b="1">
                <a:solidFill>
                  <a:srgbClr val="000000"/>
                </a:solidFill>
                <a:sym typeface="Arial" pitchFamily="34" charset="0"/>
              </a:rPr>
              <a:t>3</a:t>
            </a:r>
            <a:r>
              <a:rPr lang="zh-CN" altLang="en-US" sz="2000" b="1">
                <a:solidFill>
                  <a:srgbClr val="000000"/>
                </a:solidFill>
                <a:sym typeface="Arial" pitchFamily="34" charset="0"/>
              </a:rPr>
              <a:t>）输入不被存贮的数据等。</a:t>
            </a:r>
          </a:p>
        </p:txBody>
      </p:sp>
      <p:sp>
        <p:nvSpPr>
          <p:cNvPr id="7173" name="矩形 1"/>
          <p:cNvSpPr>
            <a:spLocks noChangeArrowheads="1"/>
          </p:cNvSpPr>
          <p:nvPr/>
        </p:nvSpPr>
        <p:spPr bwMode="auto">
          <a:xfrm>
            <a:off x="357188" y="1847850"/>
            <a:ext cx="1589087" cy="490538"/>
          </a:xfrm>
          <a:prstGeom prst="rect">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文件</a:t>
            </a:r>
            <a:r>
              <a:rPr lang="en-US" b="1">
                <a:solidFill>
                  <a:srgbClr val="0070C0"/>
                </a:solidFill>
                <a:cs typeface="Arial" pitchFamily="34" charset="0"/>
                <a:sym typeface="Arial" pitchFamily="34" charset="0"/>
              </a:rPr>
              <a:t>/</a:t>
            </a:r>
            <a:r>
              <a:rPr lang="zh-CN" altLang="en-US" b="1">
                <a:solidFill>
                  <a:srgbClr val="0070C0"/>
                </a:solidFill>
              </a:rPr>
              <a:t>记录</a:t>
            </a:r>
          </a:p>
        </p:txBody>
      </p:sp>
      <p:sp>
        <p:nvSpPr>
          <p:cNvPr id="7174" name="矩形 6"/>
          <p:cNvSpPr>
            <a:spLocks noChangeArrowheads="1"/>
          </p:cNvSpPr>
          <p:nvPr/>
        </p:nvSpPr>
        <p:spPr bwMode="auto">
          <a:xfrm>
            <a:off x="619125" y="5227638"/>
            <a:ext cx="6153150" cy="488950"/>
          </a:xfrm>
          <a:prstGeom prst="rect">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无须遵守联邦法规标题</a:t>
            </a:r>
            <a:r>
              <a:rPr lang="en-US" b="1">
                <a:solidFill>
                  <a:srgbClr val="0070C0"/>
                </a:solidFill>
                <a:cs typeface="Arial" pitchFamily="34" charset="0"/>
                <a:sym typeface="Arial" pitchFamily="34" charset="0"/>
              </a:rPr>
              <a:t>21</a:t>
            </a:r>
            <a:r>
              <a:rPr lang="zh-CN" altLang="en-US" b="1">
                <a:solidFill>
                  <a:srgbClr val="0070C0"/>
                </a:solidFill>
              </a:rPr>
              <a:t>第</a:t>
            </a:r>
            <a:r>
              <a:rPr lang="en-US" b="1">
                <a:solidFill>
                  <a:srgbClr val="0070C0"/>
                </a:solidFill>
                <a:cs typeface="Arial" pitchFamily="34" charset="0"/>
                <a:sym typeface="Arial" pitchFamily="34" charset="0"/>
              </a:rPr>
              <a:t>11</a:t>
            </a:r>
            <a:r>
              <a:rPr lang="zh-CN" altLang="en-US" b="1">
                <a:solidFill>
                  <a:srgbClr val="0070C0"/>
                </a:solidFill>
              </a:rPr>
              <a:t>部分</a:t>
            </a:r>
          </a:p>
        </p:txBody>
      </p:sp>
      <p:sp>
        <p:nvSpPr>
          <p:cNvPr id="7175" name="菱形 7"/>
          <p:cNvSpPr>
            <a:spLocks noChangeArrowheads="1"/>
          </p:cNvSpPr>
          <p:nvPr/>
        </p:nvSpPr>
        <p:spPr bwMode="auto">
          <a:xfrm>
            <a:off x="46038" y="3017838"/>
            <a:ext cx="2197100" cy="1535112"/>
          </a:xfrm>
          <a:prstGeom prst="diamond">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是否以</a:t>
            </a:r>
            <a:r>
              <a:rPr lang="zh-CN" altLang="en-US" b="1">
                <a:solidFill>
                  <a:srgbClr val="C00000"/>
                </a:solidFill>
              </a:rPr>
              <a:t>电子</a:t>
            </a:r>
            <a:r>
              <a:rPr lang="zh-CN" altLang="en-US" b="1">
                <a:solidFill>
                  <a:srgbClr val="0070C0"/>
                </a:solidFill>
              </a:rPr>
              <a:t>文件形式？</a:t>
            </a:r>
          </a:p>
        </p:txBody>
      </p:sp>
      <p:sp>
        <p:nvSpPr>
          <p:cNvPr id="7176" name="菱形 17"/>
          <p:cNvSpPr>
            <a:spLocks noChangeArrowheads="1"/>
          </p:cNvSpPr>
          <p:nvPr/>
        </p:nvSpPr>
        <p:spPr bwMode="auto">
          <a:xfrm>
            <a:off x="2632075" y="3017838"/>
            <a:ext cx="2195513" cy="1533525"/>
          </a:xfrm>
          <a:prstGeom prst="diamond">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是否是</a:t>
            </a:r>
            <a:r>
              <a:rPr lang="zh-CN" altLang="en-US" b="1">
                <a:solidFill>
                  <a:srgbClr val="C00000"/>
                </a:solidFill>
              </a:rPr>
              <a:t>原始</a:t>
            </a:r>
            <a:r>
              <a:rPr lang="zh-CN" altLang="en-US" b="1">
                <a:solidFill>
                  <a:srgbClr val="00B050"/>
                </a:solidFill>
              </a:rPr>
              <a:t>（永久性）？</a:t>
            </a:r>
          </a:p>
        </p:txBody>
      </p:sp>
      <p:sp>
        <p:nvSpPr>
          <p:cNvPr id="7177" name="菱形 19"/>
          <p:cNvSpPr>
            <a:spLocks noChangeArrowheads="1"/>
          </p:cNvSpPr>
          <p:nvPr/>
        </p:nvSpPr>
        <p:spPr bwMode="auto">
          <a:xfrm>
            <a:off x="5216525" y="3017838"/>
            <a:ext cx="2195513" cy="1533525"/>
          </a:xfrm>
          <a:prstGeom prst="diamond">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是否受</a:t>
            </a:r>
            <a:r>
              <a:rPr lang="zh-CN" altLang="en-US" b="1">
                <a:solidFill>
                  <a:srgbClr val="C00000"/>
                </a:solidFill>
              </a:rPr>
              <a:t>法律</a:t>
            </a:r>
            <a:r>
              <a:rPr lang="zh-CN" altLang="en-US" b="1">
                <a:solidFill>
                  <a:srgbClr val="0070C0"/>
                </a:solidFill>
              </a:rPr>
              <a:t>的约束？</a:t>
            </a:r>
            <a:endParaRPr lang="zh-CN" altLang="en-US" b="1">
              <a:solidFill>
                <a:srgbClr val="00B050"/>
              </a:solidFill>
            </a:endParaRPr>
          </a:p>
        </p:txBody>
      </p:sp>
      <p:sp>
        <p:nvSpPr>
          <p:cNvPr id="7178" name="矩形 20"/>
          <p:cNvSpPr>
            <a:spLocks noChangeArrowheads="1"/>
          </p:cNvSpPr>
          <p:nvPr/>
        </p:nvSpPr>
        <p:spPr bwMode="auto">
          <a:xfrm>
            <a:off x="7802563" y="3362325"/>
            <a:ext cx="1281112" cy="846138"/>
          </a:xfrm>
          <a:prstGeom prst="rect">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必须遵守法规</a:t>
            </a:r>
            <a:r>
              <a:rPr lang="en-US" b="1">
                <a:solidFill>
                  <a:srgbClr val="0070C0"/>
                </a:solidFill>
                <a:cs typeface="Arial" pitchFamily="34" charset="0"/>
                <a:sym typeface="Arial" pitchFamily="34" charset="0"/>
              </a:rPr>
              <a:t>21</a:t>
            </a:r>
            <a:r>
              <a:rPr lang="zh-CN" altLang="en-US" b="1">
                <a:solidFill>
                  <a:srgbClr val="0070C0"/>
                </a:solidFill>
              </a:rPr>
              <a:t>第</a:t>
            </a:r>
            <a:r>
              <a:rPr lang="en-US" b="1">
                <a:solidFill>
                  <a:srgbClr val="0070C0"/>
                </a:solidFill>
                <a:cs typeface="Arial" pitchFamily="34" charset="0"/>
                <a:sym typeface="Arial" pitchFamily="34" charset="0"/>
              </a:rPr>
              <a:t>11</a:t>
            </a:r>
            <a:r>
              <a:rPr lang="zh-CN" altLang="en-US" b="1">
                <a:solidFill>
                  <a:srgbClr val="0070C0"/>
                </a:solidFill>
              </a:rPr>
              <a:t>部分</a:t>
            </a:r>
          </a:p>
        </p:txBody>
      </p:sp>
      <p:sp>
        <p:nvSpPr>
          <p:cNvPr id="7179" name="直接箭头连接符 21"/>
          <p:cNvSpPr>
            <a:spLocks noChangeShapeType="1"/>
          </p:cNvSpPr>
          <p:nvPr/>
        </p:nvSpPr>
        <p:spPr bwMode="auto">
          <a:xfrm flipV="1">
            <a:off x="2241550" y="3784600"/>
            <a:ext cx="390525" cy="1588"/>
          </a:xfrm>
          <a:prstGeom prst="straightConnector1">
            <a:avLst/>
          </a:prstGeom>
          <a:noFill/>
          <a:ln w="28575" cap="flat" cmpd="sng">
            <a:solidFill>
              <a:srgbClr val="395E8A"/>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180" name="直接箭头连接符 25"/>
          <p:cNvSpPr>
            <a:spLocks noChangeShapeType="1"/>
          </p:cNvSpPr>
          <p:nvPr/>
        </p:nvSpPr>
        <p:spPr bwMode="auto">
          <a:xfrm>
            <a:off x="7412038" y="3784600"/>
            <a:ext cx="388937" cy="0"/>
          </a:xfrm>
          <a:prstGeom prst="straightConnector1">
            <a:avLst/>
          </a:prstGeom>
          <a:noFill/>
          <a:ln w="28575" cap="flat" cmpd="sng">
            <a:solidFill>
              <a:srgbClr val="395E8A"/>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181" name="直接箭头连接符 30"/>
          <p:cNvSpPr>
            <a:spLocks noChangeShapeType="1"/>
          </p:cNvSpPr>
          <p:nvPr/>
        </p:nvSpPr>
        <p:spPr bwMode="auto">
          <a:xfrm>
            <a:off x="4827588" y="3784600"/>
            <a:ext cx="388937" cy="0"/>
          </a:xfrm>
          <a:prstGeom prst="straightConnector1">
            <a:avLst/>
          </a:prstGeom>
          <a:noFill/>
          <a:ln w="28575" cap="flat" cmpd="sng">
            <a:solidFill>
              <a:srgbClr val="395E8A"/>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cxnSp>
        <p:nvCxnSpPr>
          <p:cNvPr id="7182" name="直接箭头连接符 31"/>
          <p:cNvCxnSpPr>
            <a:cxnSpLocks noChangeShapeType="1"/>
            <a:stCxn id="7173" idx="2"/>
            <a:endCxn id="7175" idx="0"/>
          </p:cNvCxnSpPr>
          <p:nvPr/>
        </p:nvCxnSpPr>
        <p:spPr bwMode="auto">
          <a:xfrm flipH="1">
            <a:off x="1144588" y="2338388"/>
            <a:ext cx="7937" cy="679450"/>
          </a:xfrm>
          <a:prstGeom prst="straightConnector1">
            <a:avLst/>
          </a:prstGeom>
          <a:noFill/>
          <a:ln w="28575" cap="flat" cmpd="sng">
            <a:solidFill>
              <a:srgbClr val="395E8A"/>
            </a:solidFill>
            <a:bevel/>
            <a:headEnd/>
            <a:tailEnd type="arrow" w="med" len="med"/>
          </a:ln>
          <a:extLst>
            <a:ext uri="{909E8E84-426E-40DD-AFC4-6F175D3DCCD1}">
              <a14:hiddenFill xmlns:a14="http://schemas.microsoft.com/office/drawing/2010/main">
                <a:noFill/>
              </a14:hiddenFill>
            </a:ext>
          </a:extLst>
        </p:spPr>
      </p:cxnSp>
      <p:sp>
        <p:nvSpPr>
          <p:cNvPr id="7183" name="椭圆 34"/>
          <p:cNvSpPr>
            <a:spLocks noChangeArrowheads="1"/>
          </p:cNvSpPr>
          <p:nvPr/>
        </p:nvSpPr>
        <p:spPr bwMode="auto">
          <a:xfrm>
            <a:off x="7164388" y="3068638"/>
            <a:ext cx="576262" cy="504825"/>
          </a:xfrm>
          <a:prstGeom prst="ellipse">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是</a:t>
            </a:r>
          </a:p>
        </p:txBody>
      </p:sp>
      <p:sp>
        <p:nvSpPr>
          <p:cNvPr id="7184" name="椭圆 37"/>
          <p:cNvSpPr>
            <a:spLocks noChangeArrowheads="1"/>
          </p:cNvSpPr>
          <p:nvPr/>
        </p:nvSpPr>
        <p:spPr bwMode="auto">
          <a:xfrm>
            <a:off x="6445250" y="4508500"/>
            <a:ext cx="574675" cy="504825"/>
          </a:xfrm>
          <a:prstGeom prst="ellipse">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否</a:t>
            </a:r>
          </a:p>
        </p:txBody>
      </p:sp>
      <p:sp>
        <p:nvSpPr>
          <p:cNvPr id="7185" name="椭圆 38"/>
          <p:cNvSpPr>
            <a:spLocks noChangeArrowheads="1"/>
          </p:cNvSpPr>
          <p:nvPr/>
        </p:nvSpPr>
        <p:spPr bwMode="auto">
          <a:xfrm>
            <a:off x="4716463" y="3140075"/>
            <a:ext cx="576262" cy="504825"/>
          </a:xfrm>
          <a:prstGeom prst="ellipse">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是</a:t>
            </a:r>
          </a:p>
        </p:txBody>
      </p:sp>
      <p:sp>
        <p:nvSpPr>
          <p:cNvPr id="7186" name="椭圆 39"/>
          <p:cNvSpPr>
            <a:spLocks noChangeArrowheads="1"/>
          </p:cNvSpPr>
          <p:nvPr/>
        </p:nvSpPr>
        <p:spPr bwMode="auto">
          <a:xfrm>
            <a:off x="2268538" y="3068638"/>
            <a:ext cx="576262" cy="504825"/>
          </a:xfrm>
          <a:prstGeom prst="ellipse">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是</a:t>
            </a:r>
          </a:p>
        </p:txBody>
      </p:sp>
      <p:sp>
        <p:nvSpPr>
          <p:cNvPr id="7187" name="椭圆 40"/>
          <p:cNvSpPr>
            <a:spLocks noChangeArrowheads="1"/>
          </p:cNvSpPr>
          <p:nvPr/>
        </p:nvSpPr>
        <p:spPr bwMode="auto">
          <a:xfrm>
            <a:off x="1260475" y="2420938"/>
            <a:ext cx="574675" cy="503237"/>
          </a:xfrm>
          <a:prstGeom prst="ellipse">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是</a:t>
            </a:r>
          </a:p>
        </p:txBody>
      </p:sp>
      <p:sp>
        <p:nvSpPr>
          <p:cNvPr id="7188" name="椭圆 41"/>
          <p:cNvSpPr>
            <a:spLocks noChangeArrowheads="1"/>
          </p:cNvSpPr>
          <p:nvPr/>
        </p:nvSpPr>
        <p:spPr bwMode="auto">
          <a:xfrm>
            <a:off x="3851275" y="4508500"/>
            <a:ext cx="576263" cy="504825"/>
          </a:xfrm>
          <a:prstGeom prst="ellipse">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否</a:t>
            </a:r>
          </a:p>
        </p:txBody>
      </p:sp>
      <p:sp>
        <p:nvSpPr>
          <p:cNvPr id="7189" name="椭圆 42"/>
          <p:cNvSpPr>
            <a:spLocks noChangeArrowheads="1"/>
          </p:cNvSpPr>
          <p:nvPr/>
        </p:nvSpPr>
        <p:spPr bwMode="auto">
          <a:xfrm>
            <a:off x="1187450" y="4581525"/>
            <a:ext cx="576263" cy="503238"/>
          </a:xfrm>
          <a:prstGeom prst="ellipse">
            <a:avLst/>
          </a:prstGeom>
          <a:solidFill>
            <a:srgbClr val="D9CE25"/>
          </a:solidFill>
          <a:ln w="25400" cap="flat" cmpd="sng">
            <a:solidFill>
              <a:srgbClr val="395E8A"/>
            </a:solidFill>
            <a:bevel/>
            <a:headEnd/>
            <a:tailEnd/>
          </a:ln>
        </p:spPr>
        <p:txBody>
          <a:bodyPr anchor="ctr"/>
          <a:lstStyle/>
          <a:p>
            <a:pPr algn="ctr"/>
            <a:r>
              <a:rPr lang="zh-CN" altLang="en-US" b="1">
                <a:solidFill>
                  <a:srgbClr val="0070C0"/>
                </a:solidFill>
              </a:rPr>
              <a:t>否</a:t>
            </a:r>
          </a:p>
        </p:txBody>
      </p:sp>
      <p:sp>
        <p:nvSpPr>
          <p:cNvPr id="7190" name="直接箭头连接符 43"/>
          <p:cNvSpPr>
            <a:spLocks noChangeShapeType="1"/>
          </p:cNvSpPr>
          <p:nvPr/>
        </p:nvSpPr>
        <p:spPr bwMode="auto">
          <a:xfrm flipH="1">
            <a:off x="1136650" y="4529138"/>
            <a:ext cx="6350" cy="681037"/>
          </a:xfrm>
          <a:prstGeom prst="straightConnector1">
            <a:avLst/>
          </a:prstGeom>
          <a:noFill/>
          <a:ln w="28575" cap="flat" cmpd="sng">
            <a:solidFill>
              <a:srgbClr val="395E8A"/>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191" name="直接箭头连接符 44"/>
          <p:cNvSpPr>
            <a:spLocks noChangeShapeType="1"/>
          </p:cNvSpPr>
          <p:nvPr/>
        </p:nvSpPr>
        <p:spPr bwMode="auto">
          <a:xfrm flipH="1">
            <a:off x="6310313" y="4529138"/>
            <a:ext cx="7937" cy="681037"/>
          </a:xfrm>
          <a:prstGeom prst="straightConnector1">
            <a:avLst/>
          </a:prstGeom>
          <a:noFill/>
          <a:ln w="28575" cap="flat" cmpd="sng">
            <a:solidFill>
              <a:srgbClr val="395E8A"/>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192" name="直接箭头连接符 45"/>
          <p:cNvSpPr>
            <a:spLocks noChangeShapeType="1"/>
          </p:cNvSpPr>
          <p:nvPr/>
        </p:nvSpPr>
        <p:spPr bwMode="auto">
          <a:xfrm flipH="1">
            <a:off x="3717925" y="4529138"/>
            <a:ext cx="7938" cy="681037"/>
          </a:xfrm>
          <a:prstGeom prst="straightConnector1">
            <a:avLst/>
          </a:prstGeom>
          <a:noFill/>
          <a:ln w="28575" cap="flat" cmpd="sng">
            <a:solidFill>
              <a:srgbClr val="395E8A"/>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194" name="组合 54"/>
          <p:cNvGrpSpPr>
            <a:grpSpLocks/>
          </p:cNvGrpSpPr>
          <p:nvPr/>
        </p:nvGrpSpPr>
        <p:grpSpPr bwMode="auto">
          <a:xfrm>
            <a:off x="606425" y="1524000"/>
            <a:ext cx="2971800" cy="2452688"/>
            <a:chOff x="0" y="0"/>
            <a:chExt cx="4679" cy="3862"/>
          </a:xfrm>
        </p:grpSpPr>
        <p:grpSp>
          <p:nvGrpSpPr>
            <p:cNvPr id="8195" name="组合 46"/>
            <p:cNvGrpSpPr>
              <a:grpSpLocks/>
            </p:cNvGrpSpPr>
            <p:nvPr/>
          </p:nvGrpSpPr>
          <p:grpSpPr bwMode="auto">
            <a:xfrm>
              <a:off x="2499" y="0"/>
              <a:ext cx="2180" cy="3862"/>
              <a:chOff x="0" y="0"/>
              <a:chExt cx="2180" cy="3862"/>
            </a:xfrm>
          </p:grpSpPr>
          <p:sp>
            <p:nvSpPr>
              <p:cNvPr id="8196" name="Freeform 8"/>
              <p:cNvSpPr>
                <a:spLocks noChangeArrowheads="1"/>
              </p:cNvSpPr>
              <p:nvPr/>
            </p:nvSpPr>
            <p:spPr bwMode="auto">
              <a:xfrm rot="7920000">
                <a:off x="-841" y="840"/>
                <a:ext cx="3862" cy="2180"/>
              </a:xfrm>
              <a:custGeom>
                <a:avLst/>
                <a:gdLst>
                  <a:gd name="T0" fmla="*/ 3862 w 840"/>
                  <a:gd name="T1" fmla="*/ 2180 h 474"/>
                  <a:gd name="T2" fmla="*/ 3765 w 840"/>
                  <a:gd name="T3" fmla="*/ 1642 h 474"/>
                  <a:gd name="T4" fmla="*/ 3692 w 840"/>
                  <a:gd name="T5" fmla="*/ 1775 h 474"/>
                  <a:gd name="T6" fmla="*/ 2234 w 840"/>
                  <a:gd name="T7" fmla="*/ 832 h 474"/>
                  <a:gd name="T8" fmla="*/ 1917 w 840"/>
                  <a:gd name="T9" fmla="*/ 864 h 474"/>
                  <a:gd name="T10" fmla="*/ 961 w 840"/>
                  <a:gd name="T11" fmla="*/ 0 h 474"/>
                  <a:gd name="T12" fmla="*/ 0 w 840"/>
                  <a:gd name="T13" fmla="*/ 961 h 474"/>
                  <a:gd name="T14" fmla="*/ 735 w 840"/>
                  <a:gd name="T15" fmla="*/ 1895 h 474"/>
                  <a:gd name="T16" fmla="*/ 800 w 840"/>
                  <a:gd name="T17" fmla="*/ 1909 h 474"/>
                  <a:gd name="T18" fmla="*/ 823 w 840"/>
                  <a:gd name="T19" fmla="*/ 1863 h 474"/>
                  <a:gd name="T20" fmla="*/ 841 w 840"/>
                  <a:gd name="T21" fmla="*/ 1831 h 474"/>
                  <a:gd name="T22" fmla="*/ 855 w 840"/>
                  <a:gd name="T23" fmla="*/ 1808 h 474"/>
                  <a:gd name="T24" fmla="*/ 882 w 840"/>
                  <a:gd name="T25" fmla="*/ 1762 h 474"/>
                  <a:gd name="T26" fmla="*/ 896 w 840"/>
                  <a:gd name="T27" fmla="*/ 1739 h 474"/>
                  <a:gd name="T28" fmla="*/ 915 w 840"/>
                  <a:gd name="T29" fmla="*/ 1706 h 474"/>
                  <a:gd name="T30" fmla="*/ 942 w 840"/>
                  <a:gd name="T31" fmla="*/ 1670 h 474"/>
                  <a:gd name="T32" fmla="*/ 961 w 840"/>
                  <a:gd name="T33" fmla="*/ 1642 h 474"/>
                  <a:gd name="T34" fmla="*/ 979 w 840"/>
                  <a:gd name="T35" fmla="*/ 1619 h 474"/>
                  <a:gd name="T36" fmla="*/ 1016 w 840"/>
                  <a:gd name="T37" fmla="*/ 1577 h 474"/>
                  <a:gd name="T38" fmla="*/ 1030 w 840"/>
                  <a:gd name="T39" fmla="*/ 1554 h 474"/>
                  <a:gd name="T40" fmla="*/ 1052 w 840"/>
                  <a:gd name="T41" fmla="*/ 1527 h 474"/>
                  <a:gd name="T42" fmla="*/ 1071 w 840"/>
                  <a:gd name="T43" fmla="*/ 1508 h 474"/>
                  <a:gd name="T44" fmla="*/ 1112 w 840"/>
                  <a:gd name="T45" fmla="*/ 1467 h 474"/>
                  <a:gd name="T46" fmla="*/ 1126 w 840"/>
                  <a:gd name="T47" fmla="*/ 1453 h 474"/>
                  <a:gd name="T48" fmla="*/ 1172 w 840"/>
                  <a:gd name="T49" fmla="*/ 1407 h 474"/>
                  <a:gd name="T50" fmla="*/ 1186 w 840"/>
                  <a:gd name="T51" fmla="*/ 1393 h 474"/>
                  <a:gd name="T52" fmla="*/ 1218 w 840"/>
                  <a:gd name="T53" fmla="*/ 1370 h 474"/>
                  <a:gd name="T54" fmla="*/ 1232 w 840"/>
                  <a:gd name="T55" fmla="*/ 1361 h 474"/>
                  <a:gd name="T56" fmla="*/ 1282 w 840"/>
                  <a:gd name="T57" fmla="*/ 1315 h 474"/>
                  <a:gd name="T58" fmla="*/ 1296 w 840"/>
                  <a:gd name="T59" fmla="*/ 1306 h 474"/>
                  <a:gd name="T60" fmla="*/ 1402 w 840"/>
                  <a:gd name="T61" fmla="*/ 1232 h 474"/>
                  <a:gd name="T62" fmla="*/ 1411 w 840"/>
                  <a:gd name="T63" fmla="*/ 1228 h 474"/>
                  <a:gd name="T64" fmla="*/ 1480 w 840"/>
                  <a:gd name="T65" fmla="*/ 1191 h 474"/>
                  <a:gd name="T66" fmla="*/ 1489 w 840"/>
                  <a:gd name="T67" fmla="*/ 1186 h 474"/>
                  <a:gd name="T68" fmla="*/ 1609 w 840"/>
                  <a:gd name="T69" fmla="*/ 1127 h 474"/>
                  <a:gd name="T70" fmla="*/ 1613 w 840"/>
                  <a:gd name="T71" fmla="*/ 1122 h 474"/>
                  <a:gd name="T72" fmla="*/ 1692 w 840"/>
                  <a:gd name="T73" fmla="*/ 1090 h 474"/>
                  <a:gd name="T74" fmla="*/ 1696 w 840"/>
                  <a:gd name="T75" fmla="*/ 1090 h 474"/>
                  <a:gd name="T76" fmla="*/ 1825 w 840"/>
                  <a:gd name="T77" fmla="*/ 1048 h 474"/>
                  <a:gd name="T78" fmla="*/ 1834 w 840"/>
                  <a:gd name="T79" fmla="*/ 1044 h 474"/>
                  <a:gd name="T80" fmla="*/ 1922 w 840"/>
                  <a:gd name="T81" fmla="*/ 1025 h 474"/>
                  <a:gd name="T82" fmla="*/ 2262 w 840"/>
                  <a:gd name="T83" fmla="*/ 989 h 474"/>
                  <a:gd name="T84" fmla="*/ 3660 w 840"/>
                  <a:gd name="T85" fmla="*/ 1789 h 474"/>
                  <a:gd name="T86" fmla="*/ 3480 w 840"/>
                  <a:gd name="T87" fmla="*/ 1789 h 474"/>
                  <a:gd name="T88" fmla="*/ 3862 w 840"/>
                  <a:gd name="T89" fmla="*/ 2180 h 4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0"/>
                  <a:gd name="T136" fmla="*/ 0 h 474"/>
                  <a:gd name="T137" fmla="*/ 840 w 840"/>
                  <a:gd name="T138" fmla="*/ 474 h 4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0" h="474">
                    <a:moveTo>
                      <a:pt x="840" y="474"/>
                    </a:moveTo>
                    <a:cubicBezTo>
                      <a:pt x="819" y="357"/>
                      <a:pt x="819" y="357"/>
                      <a:pt x="819" y="357"/>
                    </a:cubicBezTo>
                    <a:cubicBezTo>
                      <a:pt x="803" y="386"/>
                      <a:pt x="803" y="386"/>
                      <a:pt x="803" y="386"/>
                    </a:cubicBezTo>
                    <a:cubicBezTo>
                      <a:pt x="748" y="265"/>
                      <a:pt x="627" y="181"/>
                      <a:pt x="486" y="181"/>
                    </a:cubicBezTo>
                    <a:cubicBezTo>
                      <a:pt x="463" y="181"/>
                      <a:pt x="440" y="183"/>
                      <a:pt x="417" y="188"/>
                    </a:cubicBezTo>
                    <a:cubicBezTo>
                      <a:pt x="407" y="82"/>
                      <a:pt x="318" y="0"/>
                      <a:pt x="209" y="0"/>
                    </a:cubicBezTo>
                    <a:cubicBezTo>
                      <a:pt x="94" y="0"/>
                      <a:pt x="0" y="93"/>
                      <a:pt x="0" y="209"/>
                    </a:cubicBezTo>
                    <a:cubicBezTo>
                      <a:pt x="0" y="307"/>
                      <a:pt x="68" y="389"/>
                      <a:pt x="160" y="412"/>
                    </a:cubicBezTo>
                    <a:cubicBezTo>
                      <a:pt x="164" y="413"/>
                      <a:pt x="169" y="414"/>
                      <a:pt x="174" y="415"/>
                    </a:cubicBezTo>
                    <a:cubicBezTo>
                      <a:pt x="176" y="411"/>
                      <a:pt x="177" y="408"/>
                      <a:pt x="179" y="405"/>
                    </a:cubicBezTo>
                    <a:cubicBezTo>
                      <a:pt x="180" y="403"/>
                      <a:pt x="181" y="401"/>
                      <a:pt x="183" y="398"/>
                    </a:cubicBezTo>
                    <a:cubicBezTo>
                      <a:pt x="184" y="397"/>
                      <a:pt x="185" y="395"/>
                      <a:pt x="186" y="393"/>
                    </a:cubicBezTo>
                    <a:cubicBezTo>
                      <a:pt x="188" y="390"/>
                      <a:pt x="190" y="386"/>
                      <a:pt x="192" y="383"/>
                    </a:cubicBezTo>
                    <a:cubicBezTo>
                      <a:pt x="193" y="381"/>
                      <a:pt x="194" y="380"/>
                      <a:pt x="195" y="378"/>
                    </a:cubicBezTo>
                    <a:cubicBezTo>
                      <a:pt x="196" y="376"/>
                      <a:pt x="198" y="374"/>
                      <a:pt x="199" y="371"/>
                    </a:cubicBezTo>
                    <a:cubicBezTo>
                      <a:pt x="201" y="369"/>
                      <a:pt x="203" y="366"/>
                      <a:pt x="205" y="363"/>
                    </a:cubicBezTo>
                    <a:cubicBezTo>
                      <a:pt x="206" y="361"/>
                      <a:pt x="208" y="359"/>
                      <a:pt x="209" y="357"/>
                    </a:cubicBezTo>
                    <a:cubicBezTo>
                      <a:pt x="211" y="355"/>
                      <a:pt x="212" y="354"/>
                      <a:pt x="213" y="352"/>
                    </a:cubicBezTo>
                    <a:cubicBezTo>
                      <a:pt x="215" y="349"/>
                      <a:pt x="218" y="346"/>
                      <a:pt x="221" y="343"/>
                    </a:cubicBezTo>
                    <a:cubicBezTo>
                      <a:pt x="222" y="341"/>
                      <a:pt x="223" y="340"/>
                      <a:pt x="224" y="338"/>
                    </a:cubicBezTo>
                    <a:cubicBezTo>
                      <a:pt x="226" y="336"/>
                      <a:pt x="228" y="334"/>
                      <a:pt x="229" y="332"/>
                    </a:cubicBezTo>
                    <a:cubicBezTo>
                      <a:pt x="231" y="331"/>
                      <a:pt x="232" y="330"/>
                      <a:pt x="233" y="328"/>
                    </a:cubicBezTo>
                    <a:cubicBezTo>
                      <a:pt x="236" y="325"/>
                      <a:pt x="239" y="322"/>
                      <a:pt x="242" y="319"/>
                    </a:cubicBezTo>
                    <a:cubicBezTo>
                      <a:pt x="243" y="318"/>
                      <a:pt x="244" y="317"/>
                      <a:pt x="245" y="316"/>
                    </a:cubicBezTo>
                    <a:cubicBezTo>
                      <a:pt x="249" y="312"/>
                      <a:pt x="252" y="309"/>
                      <a:pt x="255" y="306"/>
                    </a:cubicBezTo>
                    <a:cubicBezTo>
                      <a:pt x="256" y="305"/>
                      <a:pt x="257" y="304"/>
                      <a:pt x="258" y="303"/>
                    </a:cubicBezTo>
                    <a:cubicBezTo>
                      <a:pt x="261" y="301"/>
                      <a:pt x="263" y="300"/>
                      <a:pt x="265" y="298"/>
                    </a:cubicBezTo>
                    <a:cubicBezTo>
                      <a:pt x="266" y="297"/>
                      <a:pt x="267" y="296"/>
                      <a:pt x="268" y="296"/>
                    </a:cubicBezTo>
                    <a:cubicBezTo>
                      <a:pt x="271" y="292"/>
                      <a:pt x="275" y="289"/>
                      <a:pt x="279" y="286"/>
                    </a:cubicBezTo>
                    <a:cubicBezTo>
                      <a:pt x="280" y="285"/>
                      <a:pt x="281" y="285"/>
                      <a:pt x="282" y="284"/>
                    </a:cubicBezTo>
                    <a:cubicBezTo>
                      <a:pt x="290" y="279"/>
                      <a:pt x="297" y="273"/>
                      <a:pt x="305" y="268"/>
                    </a:cubicBezTo>
                    <a:cubicBezTo>
                      <a:pt x="306" y="268"/>
                      <a:pt x="306" y="268"/>
                      <a:pt x="307" y="267"/>
                    </a:cubicBezTo>
                    <a:cubicBezTo>
                      <a:pt x="312" y="264"/>
                      <a:pt x="317" y="261"/>
                      <a:pt x="322" y="259"/>
                    </a:cubicBezTo>
                    <a:cubicBezTo>
                      <a:pt x="322" y="258"/>
                      <a:pt x="323" y="258"/>
                      <a:pt x="324" y="258"/>
                    </a:cubicBezTo>
                    <a:cubicBezTo>
                      <a:pt x="332" y="253"/>
                      <a:pt x="341" y="249"/>
                      <a:pt x="350" y="245"/>
                    </a:cubicBezTo>
                    <a:cubicBezTo>
                      <a:pt x="350" y="245"/>
                      <a:pt x="350" y="244"/>
                      <a:pt x="351" y="244"/>
                    </a:cubicBezTo>
                    <a:cubicBezTo>
                      <a:pt x="357" y="242"/>
                      <a:pt x="362" y="239"/>
                      <a:pt x="368" y="237"/>
                    </a:cubicBezTo>
                    <a:cubicBezTo>
                      <a:pt x="368" y="237"/>
                      <a:pt x="369" y="237"/>
                      <a:pt x="369" y="237"/>
                    </a:cubicBezTo>
                    <a:cubicBezTo>
                      <a:pt x="378" y="234"/>
                      <a:pt x="388" y="230"/>
                      <a:pt x="397" y="228"/>
                    </a:cubicBezTo>
                    <a:cubicBezTo>
                      <a:pt x="398" y="228"/>
                      <a:pt x="398" y="228"/>
                      <a:pt x="399" y="227"/>
                    </a:cubicBezTo>
                    <a:cubicBezTo>
                      <a:pt x="405" y="226"/>
                      <a:pt x="411" y="224"/>
                      <a:pt x="418" y="223"/>
                    </a:cubicBezTo>
                    <a:cubicBezTo>
                      <a:pt x="442" y="218"/>
                      <a:pt x="466" y="215"/>
                      <a:pt x="492" y="215"/>
                    </a:cubicBezTo>
                    <a:cubicBezTo>
                      <a:pt x="621" y="215"/>
                      <a:pt x="735" y="285"/>
                      <a:pt x="796" y="389"/>
                    </a:cubicBezTo>
                    <a:cubicBezTo>
                      <a:pt x="757" y="389"/>
                      <a:pt x="757" y="389"/>
                      <a:pt x="757" y="389"/>
                    </a:cubicBezTo>
                    <a:lnTo>
                      <a:pt x="840" y="474"/>
                    </a:lnTo>
                    <a:close/>
                  </a:path>
                </a:pathLst>
              </a:custGeom>
              <a:solidFill>
                <a:schemeClr val="accent1"/>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a:solidFill>
                    <a:srgbClr val="000000"/>
                  </a:solidFill>
                </a:endParaRPr>
              </a:p>
            </p:txBody>
          </p:sp>
          <p:sp>
            <p:nvSpPr>
              <p:cNvPr id="8197" name="文本框 37"/>
              <p:cNvSpPr>
                <a:spLocks noChangeArrowheads="1"/>
              </p:cNvSpPr>
              <p:nvPr/>
            </p:nvSpPr>
            <p:spPr bwMode="auto">
              <a:xfrm>
                <a:off x="1655" y="955"/>
                <a:ext cx="318"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3200" b="1">
                    <a:solidFill>
                      <a:srgbClr val="FF0000"/>
                    </a:solidFill>
                    <a:sym typeface="Arial" pitchFamily="34" charset="0"/>
                  </a:rPr>
                  <a:t>1</a:t>
                </a:r>
              </a:p>
            </p:txBody>
          </p:sp>
        </p:grpSp>
        <p:sp>
          <p:nvSpPr>
            <p:cNvPr id="8198" name="Text Box 38"/>
            <p:cNvSpPr>
              <a:spLocks noChangeArrowheads="1"/>
            </p:cNvSpPr>
            <p:nvPr/>
          </p:nvSpPr>
          <p:spPr bwMode="auto">
            <a:xfrm>
              <a:off x="0" y="952"/>
              <a:ext cx="3605" cy="1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eaLnBrk="0" hangingPunct="0"/>
              <a:r>
                <a:rPr lang="zh-CN" altLang="en-US" sz="2000" b="1">
                  <a:solidFill>
                    <a:srgbClr val="000000"/>
                  </a:solidFill>
                  <a:sym typeface="Arial" pitchFamily="34" charset="0"/>
                </a:rPr>
                <a:t>以电子形式取代纸张形式来记录，必须保留电子文件</a:t>
              </a:r>
            </a:p>
          </p:txBody>
        </p:sp>
      </p:grpSp>
      <p:grpSp>
        <p:nvGrpSpPr>
          <p:cNvPr id="8199" name="组合 55"/>
          <p:cNvGrpSpPr>
            <a:grpSpLocks/>
          </p:cNvGrpSpPr>
          <p:nvPr/>
        </p:nvGrpSpPr>
        <p:grpSpPr bwMode="auto">
          <a:xfrm>
            <a:off x="4357688" y="1524000"/>
            <a:ext cx="3686175" cy="2452688"/>
            <a:chOff x="0" y="0"/>
            <a:chExt cx="5804" cy="3862"/>
          </a:xfrm>
        </p:grpSpPr>
        <p:grpSp>
          <p:nvGrpSpPr>
            <p:cNvPr id="8200" name="组合 47"/>
            <p:cNvGrpSpPr>
              <a:grpSpLocks/>
            </p:cNvGrpSpPr>
            <p:nvPr/>
          </p:nvGrpSpPr>
          <p:grpSpPr bwMode="auto">
            <a:xfrm>
              <a:off x="3624" y="0"/>
              <a:ext cx="2180" cy="3862"/>
              <a:chOff x="0" y="0"/>
              <a:chExt cx="2180" cy="3862"/>
            </a:xfrm>
          </p:grpSpPr>
          <p:sp>
            <p:nvSpPr>
              <p:cNvPr id="8201" name="Freeform 8"/>
              <p:cNvSpPr>
                <a:spLocks noChangeArrowheads="1"/>
              </p:cNvSpPr>
              <p:nvPr/>
            </p:nvSpPr>
            <p:spPr bwMode="auto">
              <a:xfrm rot="7920000">
                <a:off x="-841" y="840"/>
                <a:ext cx="3862" cy="2180"/>
              </a:xfrm>
              <a:custGeom>
                <a:avLst/>
                <a:gdLst>
                  <a:gd name="T0" fmla="*/ 3862 w 840"/>
                  <a:gd name="T1" fmla="*/ 2180 h 474"/>
                  <a:gd name="T2" fmla="*/ 3765 w 840"/>
                  <a:gd name="T3" fmla="*/ 1642 h 474"/>
                  <a:gd name="T4" fmla="*/ 3692 w 840"/>
                  <a:gd name="T5" fmla="*/ 1775 h 474"/>
                  <a:gd name="T6" fmla="*/ 2234 w 840"/>
                  <a:gd name="T7" fmla="*/ 832 h 474"/>
                  <a:gd name="T8" fmla="*/ 1917 w 840"/>
                  <a:gd name="T9" fmla="*/ 864 h 474"/>
                  <a:gd name="T10" fmla="*/ 961 w 840"/>
                  <a:gd name="T11" fmla="*/ 0 h 474"/>
                  <a:gd name="T12" fmla="*/ 0 w 840"/>
                  <a:gd name="T13" fmla="*/ 961 h 474"/>
                  <a:gd name="T14" fmla="*/ 735 w 840"/>
                  <a:gd name="T15" fmla="*/ 1895 h 474"/>
                  <a:gd name="T16" fmla="*/ 800 w 840"/>
                  <a:gd name="T17" fmla="*/ 1909 h 474"/>
                  <a:gd name="T18" fmla="*/ 823 w 840"/>
                  <a:gd name="T19" fmla="*/ 1863 h 474"/>
                  <a:gd name="T20" fmla="*/ 841 w 840"/>
                  <a:gd name="T21" fmla="*/ 1831 h 474"/>
                  <a:gd name="T22" fmla="*/ 855 w 840"/>
                  <a:gd name="T23" fmla="*/ 1808 h 474"/>
                  <a:gd name="T24" fmla="*/ 882 w 840"/>
                  <a:gd name="T25" fmla="*/ 1762 h 474"/>
                  <a:gd name="T26" fmla="*/ 896 w 840"/>
                  <a:gd name="T27" fmla="*/ 1739 h 474"/>
                  <a:gd name="T28" fmla="*/ 915 w 840"/>
                  <a:gd name="T29" fmla="*/ 1706 h 474"/>
                  <a:gd name="T30" fmla="*/ 942 w 840"/>
                  <a:gd name="T31" fmla="*/ 1670 h 474"/>
                  <a:gd name="T32" fmla="*/ 961 w 840"/>
                  <a:gd name="T33" fmla="*/ 1642 h 474"/>
                  <a:gd name="T34" fmla="*/ 979 w 840"/>
                  <a:gd name="T35" fmla="*/ 1619 h 474"/>
                  <a:gd name="T36" fmla="*/ 1016 w 840"/>
                  <a:gd name="T37" fmla="*/ 1577 h 474"/>
                  <a:gd name="T38" fmla="*/ 1030 w 840"/>
                  <a:gd name="T39" fmla="*/ 1554 h 474"/>
                  <a:gd name="T40" fmla="*/ 1052 w 840"/>
                  <a:gd name="T41" fmla="*/ 1527 h 474"/>
                  <a:gd name="T42" fmla="*/ 1071 w 840"/>
                  <a:gd name="T43" fmla="*/ 1508 h 474"/>
                  <a:gd name="T44" fmla="*/ 1112 w 840"/>
                  <a:gd name="T45" fmla="*/ 1467 h 474"/>
                  <a:gd name="T46" fmla="*/ 1126 w 840"/>
                  <a:gd name="T47" fmla="*/ 1453 h 474"/>
                  <a:gd name="T48" fmla="*/ 1172 w 840"/>
                  <a:gd name="T49" fmla="*/ 1407 h 474"/>
                  <a:gd name="T50" fmla="*/ 1186 w 840"/>
                  <a:gd name="T51" fmla="*/ 1393 h 474"/>
                  <a:gd name="T52" fmla="*/ 1218 w 840"/>
                  <a:gd name="T53" fmla="*/ 1370 h 474"/>
                  <a:gd name="T54" fmla="*/ 1232 w 840"/>
                  <a:gd name="T55" fmla="*/ 1361 h 474"/>
                  <a:gd name="T56" fmla="*/ 1282 w 840"/>
                  <a:gd name="T57" fmla="*/ 1315 h 474"/>
                  <a:gd name="T58" fmla="*/ 1296 w 840"/>
                  <a:gd name="T59" fmla="*/ 1306 h 474"/>
                  <a:gd name="T60" fmla="*/ 1402 w 840"/>
                  <a:gd name="T61" fmla="*/ 1232 h 474"/>
                  <a:gd name="T62" fmla="*/ 1411 w 840"/>
                  <a:gd name="T63" fmla="*/ 1228 h 474"/>
                  <a:gd name="T64" fmla="*/ 1480 w 840"/>
                  <a:gd name="T65" fmla="*/ 1191 h 474"/>
                  <a:gd name="T66" fmla="*/ 1489 w 840"/>
                  <a:gd name="T67" fmla="*/ 1186 h 474"/>
                  <a:gd name="T68" fmla="*/ 1609 w 840"/>
                  <a:gd name="T69" fmla="*/ 1127 h 474"/>
                  <a:gd name="T70" fmla="*/ 1613 w 840"/>
                  <a:gd name="T71" fmla="*/ 1122 h 474"/>
                  <a:gd name="T72" fmla="*/ 1692 w 840"/>
                  <a:gd name="T73" fmla="*/ 1090 h 474"/>
                  <a:gd name="T74" fmla="*/ 1696 w 840"/>
                  <a:gd name="T75" fmla="*/ 1090 h 474"/>
                  <a:gd name="T76" fmla="*/ 1825 w 840"/>
                  <a:gd name="T77" fmla="*/ 1048 h 474"/>
                  <a:gd name="T78" fmla="*/ 1834 w 840"/>
                  <a:gd name="T79" fmla="*/ 1044 h 474"/>
                  <a:gd name="T80" fmla="*/ 1922 w 840"/>
                  <a:gd name="T81" fmla="*/ 1025 h 474"/>
                  <a:gd name="T82" fmla="*/ 2262 w 840"/>
                  <a:gd name="T83" fmla="*/ 989 h 474"/>
                  <a:gd name="T84" fmla="*/ 3660 w 840"/>
                  <a:gd name="T85" fmla="*/ 1789 h 474"/>
                  <a:gd name="T86" fmla="*/ 3480 w 840"/>
                  <a:gd name="T87" fmla="*/ 1789 h 474"/>
                  <a:gd name="T88" fmla="*/ 3862 w 840"/>
                  <a:gd name="T89" fmla="*/ 2180 h 4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0"/>
                  <a:gd name="T136" fmla="*/ 0 h 474"/>
                  <a:gd name="T137" fmla="*/ 840 w 840"/>
                  <a:gd name="T138" fmla="*/ 474 h 4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0" h="474">
                    <a:moveTo>
                      <a:pt x="840" y="474"/>
                    </a:moveTo>
                    <a:cubicBezTo>
                      <a:pt x="819" y="357"/>
                      <a:pt x="819" y="357"/>
                      <a:pt x="819" y="357"/>
                    </a:cubicBezTo>
                    <a:cubicBezTo>
                      <a:pt x="803" y="386"/>
                      <a:pt x="803" y="386"/>
                      <a:pt x="803" y="386"/>
                    </a:cubicBezTo>
                    <a:cubicBezTo>
                      <a:pt x="748" y="265"/>
                      <a:pt x="627" y="181"/>
                      <a:pt x="486" y="181"/>
                    </a:cubicBezTo>
                    <a:cubicBezTo>
                      <a:pt x="463" y="181"/>
                      <a:pt x="440" y="183"/>
                      <a:pt x="417" y="188"/>
                    </a:cubicBezTo>
                    <a:cubicBezTo>
                      <a:pt x="407" y="82"/>
                      <a:pt x="318" y="0"/>
                      <a:pt x="209" y="0"/>
                    </a:cubicBezTo>
                    <a:cubicBezTo>
                      <a:pt x="94" y="0"/>
                      <a:pt x="0" y="93"/>
                      <a:pt x="0" y="209"/>
                    </a:cubicBezTo>
                    <a:cubicBezTo>
                      <a:pt x="0" y="307"/>
                      <a:pt x="68" y="389"/>
                      <a:pt x="160" y="412"/>
                    </a:cubicBezTo>
                    <a:cubicBezTo>
                      <a:pt x="164" y="413"/>
                      <a:pt x="169" y="414"/>
                      <a:pt x="174" y="415"/>
                    </a:cubicBezTo>
                    <a:cubicBezTo>
                      <a:pt x="176" y="411"/>
                      <a:pt x="177" y="408"/>
                      <a:pt x="179" y="405"/>
                    </a:cubicBezTo>
                    <a:cubicBezTo>
                      <a:pt x="180" y="403"/>
                      <a:pt x="181" y="401"/>
                      <a:pt x="183" y="398"/>
                    </a:cubicBezTo>
                    <a:cubicBezTo>
                      <a:pt x="184" y="397"/>
                      <a:pt x="185" y="395"/>
                      <a:pt x="186" y="393"/>
                    </a:cubicBezTo>
                    <a:cubicBezTo>
                      <a:pt x="188" y="390"/>
                      <a:pt x="190" y="386"/>
                      <a:pt x="192" y="383"/>
                    </a:cubicBezTo>
                    <a:cubicBezTo>
                      <a:pt x="193" y="381"/>
                      <a:pt x="194" y="380"/>
                      <a:pt x="195" y="378"/>
                    </a:cubicBezTo>
                    <a:cubicBezTo>
                      <a:pt x="196" y="376"/>
                      <a:pt x="198" y="374"/>
                      <a:pt x="199" y="371"/>
                    </a:cubicBezTo>
                    <a:cubicBezTo>
                      <a:pt x="201" y="369"/>
                      <a:pt x="203" y="366"/>
                      <a:pt x="205" y="363"/>
                    </a:cubicBezTo>
                    <a:cubicBezTo>
                      <a:pt x="206" y="361"/>
                      <a:pt x="208" y="359"/>
                      <a:pt x="209" y="357"/>
                    </a:cubicBezTo>
                    <a:cubicBezTo>
                      <a:pt x="211" y="355"/>
                      <a:pt x="212" y="354"/>
                      <a:pt x="213" y="352"/>
                    </a:cubicBezTo>
                    <a:cubicBezTo>
                      <a:pt x="215" y="349"/>
                      <a:pt x="218" y="346"/>
                      <a:pt x="221" y="343"/>
                    </a:cubicBezTo>
                    <a:cubicBezTo>
                      <a:pt x="222" y="341"/>
                      <a:pt x="223" y="340"/>
                      <a:pt x="224" y="338"/>
                    </a:cubicBezTo>
                    <a:cubicBezTo>
                      <a:pt x="226" y="336"/>
                      <a:pt x="228" y="334"/>
                      <a:pt x="229" y="332"/>
                    </a:cubicBezTo>
                    <a:cubicBezTo>
                      <a:pt x="231" y="331"/>
                      <a:pt x="232" y="330"/>
                      <a:pt x="233" y="328"/>
                    </a:cubicBezTo>
                    <a:cubicBezTo>
                      <a:pt x="236" y="325"/>
                      <a:pt x="239" y="322"/>
                      <a:pt x="242" y="319"/>
                    </a:cubicBezTo>
                    <a:cubicBezTo>
                      <a:pt x="243" y="318"/>
                      <a:pt x="244" y="317"/>
                      <a:pt x="245" y="316"/>
                    </a:cubicBezTo>
                    <a:cubicBezTo>
                      <a:pt x="249" y="312"/>
                      <a:pt x="252" y="309"/>
                      <a:pt x="255" y="306"/>
                    </a:cubicBezTo>
                    <a:cubicBezTo>
                      <a:pt x="256" y="305"/>
                      <a:pt x="257" y="304"/>
                      <a:pt x="258" y="303"/>
                    </a:cubicBezTo>
                    <a:cubicBezTo>
                      <a:pt x="261" y="301"/>
                      <a:pt x="263" y="300"/>
                      <a:pt x="265" y="298"/>
                    </a:cubicBezTo>
                    <a:cubicBezTo>
                      <a:pt x="266" y="297"/>
                      <a:pt x="267" y="296"/>
                      <a:pt x="268" y="296"/>
                    </a:cubicBezTo>
                    <a:cubicBezTo>
                      <a:pt x="271" y="292"/>
                      <a:pt x="275" y="289"/>
                      <a:pt x="279" y="286"/>
                    </a:cubicBezTo>
                    <a:cubicBezTo>
                      <a:pt x="280" y="285"/>
                      <a:pt x="281" y="285"/>
                      <a:pt x="282" y="284"/>
                    </a:cubicBezTo>
                    <a:cubicBezTo>
                      <a:pt x="290" y="279"/>
                      <a:pt x="297" y="273"/>
                      <a:pt x="305" y="268"/>
                    </a:cubicBezTo>
                    <a:cubicBezTo>
                      <a:pt x="306" y="268"/>
                      <a:pt x="306" y="268"/>
                      <a:pt x="307" y="267"/>
                    </a:cubicBezTo>
                    <a:cubicBezTo>
                      <a:pt x="312" y="264"/>
                      <a:pt x="317" y="261"/>
                      <a:pt x="322" y="259"/>
                    </a:cubicBezTo>
                    <a:cubicBezTo>
                      <a:pt x="322" y="258"/>
                      <a:pt x="323" y="258"/>
                      <a:pt x="324" y="258"/>
                    </a:cubicBezTo>
                    <a:cubicBezTo>
                      <a:pt x="332" y="253"/>
                      <a:pt x="341" y="249"/>
                      <a:pt x="350" y="245"/>
                    </a:cubicBezTo>
                    <a:cubicBezTo>
                      <a:pt x="350" y="245"/>
                      <a:pt x="350" y="244"/>
                      <a:pt x="351" y="244"/>
                    </a:cubicBezTo>
                    <a:cubicBezTo>
                      <a:pt x="357" y="242"/>
                      <a:pt x="362" y="239"/>
                      <a:pt x="368" y="237"/>
                    </a:cubicBezTo>
                    <a:cubicBezTo>
                      <a:pt x="368" y="237"/>
                      <a:pt x="369" y="237"/>
                      <a:pt x="369" y="237"/>
                    </a:cubicBezTo>
                    <a:cubicBezTo>
                      <a:pt x="378" y="234"/>
                      <a:pt x="388" y="230"/>
                      <a:pt x="397" y="228"/>
                    </a:cubicBezTo>
                    <a:cubicBezTo>
                      <a:pt x="398" y="228"/>
                      <a:pt x="398" y="228"/>
                      <a:pt x="399" y="227"/>
                    </a:cubicBezTo>
                    <a:cubicBezTo>
                      <a:pt x="405" y="226"/>
                      <a:pt x="411" y="224"/>
                      <a:pt x="418" y="223"/>
                    </a:cubicBezTo>
                    <a:cubicBezTo>
                      <a:pt x="442" y="218"/>
                      <a:pt x="466" y="215"/>
                      <a:pt x="492" y="215"/>
                    </a:cubicBezTo>
                    <a:cubicBezTo>
                      <a:pt x="621" y="215"/>
                      <a:pt x="735" y="285"/>
                      <a:pt x="796" y="389"/>
                    </a:cubicBezTo>
                    <a:cubicBezTo>
                      <a:pt x="757" y="389"/>
                      <a:pt x="757" y="389"/>
                      <a:pt x="757" y="389"/>
                    </a:cubicBezTo>
                    <a:lnTo>
                      <a:pt x="840" y="474"/>
                    </a:lnTo>
                    <a:close/>
                  </a:path>
                </a:pathLst>
              </a:custGeom>
              <a:solidFill>
                <a:srgbClr val="92D050"/>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a:solidFill>
                    <a:srgbClr val="000000"/>
                  </a:solidFill>
                </a:endParaRPr>
              </a:p>
            </p:txBody>
          </p:sp>
          <p:sp>
            <p:nvSpPr>
              <p:cNvPr id="8202" name="文本框 45"/>
              <p:cNvSpPr>
                <a:spLocks noChangeArrowheads="1"/>
              </p:cNvSpPr>
              <p:nvPr/>
            </p:nvSpPr>
            <p:spPr bwMode="auto">
              <a:xfrm>
                <a:off x="1655" y="955"/>
                <a:ext cx="318"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3200" b="1">
                    <a:solidFill>
                      <a:srgbClr val="FF0000"/>
                    </a:solidFill>
                    <a:sym typeface="Arial" pitchFamily="34" charset="0"/>
                  </a:rPr>
                  <a:t>2</a:t>
                </a:r>
              </a:p>
            </p:txBody>
          </p:sp>
        </p:grpSp>
        <p:sp>
          <p:nvSpPr>
            <p:cNvPr id="8203" name="Text Box 38"/>
            <p:cNvSpPr>
              <a:spLocks noChangeArrowheads="1"/>
            </p:cNvSpPr>
            <p:nvPr/>
          </p:nvSpPr>
          <p:spPr bwMode="auto">
            <a:xfrm>
              <a:off x="0" y="506"/>
              <a:ext cx="4876" cy="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eaLnBrk="0" hangingPunct="0"/>
              <a:r>
                <a:rPr lang="zh-CN" altLang="en-US" sz="2000" b="1">
                  <a:solidFill>
                    <a:srgbClr val="000000"/>
                  </a:solidFill>
                  <a:sym typeface="Arial" pitchFamily="34" charset="0"/>
                </a:rPr>
                <a:t>同时以电子形式和纸张形式来记载，并依赖于电子文件进行监管有关工作的，必须保留电子文件</a:t>
              </a:r>
            </a:p>
          </p:txBody>
        </p:sp>
      </p:grpSp>
      <p:grpSp>
        <p:nvGrpSpPr>
          <p:cNvPr id="8204" name="组合 56"/>
          <p:cNvGrpSpPr>
            <a:grpSpLocks/>
          </p:cNvGrpSpPr>
          <p:nvPr/>
        </p:nvGrpSpPr>
        <p:grpSpPr bwMode="auto">
          <a:xfrm>
            <a:off x="538163" y="4217988"/>
            <a:ext cx="3040062" cy="2452687"/>
            <a:chOff x="0" y="0"/>
            <a:chExt cx="4788" cy="3862"/>
          </a:xfrm>
        </p:grpSpPr>
        <p:grpSp>
          <p:nvGrpSpPr>
            <p:cNvPr id="8205" name="组合 48"/>
            <p:cNvGrpSpPr>
              <a:grpSpLocks/>
            </p:cNvGrpSpPr>
            <p:nvPr/>
          </p:nvGrpSpPr>
          <p:grpSpPr bwMode="auto">
            <a:xfrm>
              <a:off x="2608" y="0"/>
              <a:ext cx="2180" cy="3862"/>
              <a:chOff x="0" y="0"/>
              <a:chExt cx="2180" cy="3862"/>
            </a:xfrm>
          </p:grpSpPr>
          <p:sp>
            <p:nvSpPr>
              <p:cNvPr id="8206" name="Freeform 8"/>
              <p:cNvSpPr>
                <a:spLocks noChangeArrowheads="1"/>
              </p:cNvSpPr>
              <p:nvPr/>
            </p:nvSpPr>
            <p:spPr bwMode="auto">
              <a:xfrm rot="7920000">
                <a:off x="-841" y="840"/>
                <a:ext cx="3862" cy="2180"/>
              </a:xfrm>
              <a:custGeom>
                <a:avLst/>
                <a:gdLst>
                  <a:gd name="T0" fmla="*/ 3862 w 840"/>
                  <a:gd name="T1" fmla="*/ 2180 h 474"/>
                  <a:gd name="T2" fmla="*/ 3765 w 840"/>
                  <a:gd name="T3" fmla="*/ 1642 h 474"/>
                  <a:gd name="T4" fmla="*/ 3692 w 840"/>
                  <a:gd name="T5" fmla="*/ 1775 h 474"/>
                  <a:gd name="T6" fmla="*/ 2234 w 840"/>
                  <a:gd name="T7" fmla="*/ 832 h 474"/>
                  <a:gd name="T8" fmla="*/ 1917 w 840"/>
                  <a:gd name="T9" fmla="*/ 864 h 474"/>
                  <a:gd name="T10" fmla="*/ 961 w 840"/>
                  <a:gd name="T11" fmla="*/ 0 h 474"/>
                  <a:gd name="T12" fmla="*/ 0 w 840"/>
                  <a:gd name="T13" fmla="*/ 961 h 474"/>
                  <a:gd name="T14" fmla="*/ 735 w 840"/>
                  <a:gd name="T15" fmla="*/ 1895 h 474"/>
                  <a:gd name="T16" fmla="*/ 800 w 840"/>
                  <a:gd name="T17" fmla="*/ 1909 h 474"/>
                  <a:gd name="T18" fmla="*/ 823 w 840"/>
                  <a:gd name="T19" fmla="*/ 1863 h 474"/>
                  <a:gd name="T20" fmla="*/ 841 w 840"/>
                  <a:gd name="T21" fmla="*/ 1831 h 474"/>
                  <a:gd name="T22" fmla="*/ 855 w 840"/>
                  <a:gd name="T23" fmla="*/ 1808 h 474"/>
                  <a:gd name="T24" fmla="*/ 882 w 840"/>
                  <a:gd name="T25" fmla="*/ 1762 h 474"/>
                  <a:gd name="T26" fmla="*/ 896 w 840"/>
                  <a:gd name="T27" fmla="*/ 1739 h 474"/>
                  <a:gd name="T28" fmla="*/ 915 w 840"/>
                  <a:gd name="T29" fmla="*/ 1706 h 474"/>
                  <a:gd name="T30" fmla="*/ 942 w 840"/>
                  <a:gd name="T31" fmla="*/ 1670 h 474"/>
                  <a:gd name="T32" fmla="*/ 961 w 840"/>
                  <a:gd name="T33" fmla="*/ 1642 h 474"/>
                  <a:gd name="T34" fmla="*/ 979 w 840"/>
                  <a:gd name="T35" fmla="*/ 1619 h 474"/>
                  <a:gd name="T36" fmla="*/ 1016 w 840"/>
                  <a:gd name="T37" fmla="*/ 1577 h 474"/>
                  <a:gd name="T38" fmla="*/ 1030 w 840"/>
                  <a:gd name="T39" fmla="*/ 1554 h 474"/>
                  <a:gd name="T40" fmla="*/ 1052 w 840"/>
                  <a:gd name="T41" fmla="*/ 1527 h 474"/>
                  <a:gd name="T42" fmla="*/ 1071 w 840"/>
                  <a:gd name="T43" fmla="*/ 1508 h 474"/>
                  <a:gd name="T44" fmla="*/ 1112 w 840"/>
                  <a:gd name="T45" fmla="*/ 1467 h 474"/>
                  <a:gd name="T46" fmla="*/ 1126 w 840"/>
                  <a:gd name="T47" fmla="*/ 1453 h 474"/>
                  <a:gd name="T48" fmla="*/ 1172 w 840"/>
                  <a:gd name="T49" fmla="*/ 1407 h 474"/>
                  <a:gd name="T50" fmla="*/ 1186 w 840"/>
                  <a:gd name="T51" fmla="*/ 1393 h 474"/>
                  <a:gd name="T52" fmla="*/ 1218 w 840"/>
                  <a:gd name="T53" fmla="*/ 1370 h 474"/>
                  <a:gd name="T54" fmla="*/ 1232 w 840"/>
                  <a:gd name="T55" fmla="*/ 1361 h 474"/>
                  <a:gd name="T56" fmla="*/ 1282 w 840"/>
                  <a:gd name="T57" fmla="*/ 1315 h 474"/>
                  <a:gd name="T58" fmla="*/ 1296 w 840"/>
                  <a:gd name="T59" fmla="*/ 1306 h 474"/>
                  <a:gd name="T60" fmla="*/ 1402 w 840"/>
                  <a:gd name="T61" fmla="*/ 1232 h 474"/>
                  <a:gd name="T62" fmla="*/ 1411 w 840"/>
                  <a:gd name="T63" fmla="*/ 1228 h 474"/>
                  <a:gd name="T64" fmla="*/ 1480 w 840"/>
                  <a:gd name="T65" fmla="*/ 1191 h 474"/>
                  <a:gd name="T66" fmla="*/ 1489 w 840"/>
                  <a:gd name="T67" fmla="*/ 1186 h 474"/>
                  <a:gd name="T68" fmla="*/ 1609 w 840"/>
                  <a:gd name="T69" fmla="*/ 1127 h 474"/>
                  <a:gd name="T70" fmla="*/ 1613 w 840"/>
                  <a:gd name="T71" fmla="*/ 1122 h 474"/>
                  <a:gd name="T72" fmla="*/ 1692 w 840"/>
                  <a:gd name="T73" fmla="*/ 1090 h 474"/>
                  <a:gd name="T74" fmla="*/ 1696 w 840"/>
                  <a:gd name="T75" fmla="*/ 1090 h 474"/>
                  <a:gd name="T76" fmla="*/ 1825 w 840"/>
                  <a:gd name="T77" fmla="*/ 1048 h 474"/>
                  <a:gd name="T78" fmla="*/ 1834 w 840"/>
                  <a:gd name="T79" fmla="*/ 1044 h 474"/>
                  <a:gd name="T80" fmla="*/ 1922 w 840"/>
                  <a:gd name="T81" fmla="*/ 1025 h 474"/>
                  <a:gd name="T82" fmla="*/ 2262 w 840"/>
                  <a:gd name="T83" fmla="*/ 989 h 474"/>
                  <a:gd name="T84" fmla="*/ 3660 w 840"/>
                  <a:gd name="T85" fmla="*/ 1789 h 474"/>
                  <a:gd name="T86" fmla="*/ 3480 w 840"/>
                  <a:gd name="T87" fmla="*/ 1789 h 474"/>
                  <a:gd name="T88" fmla="*/ 3862 w 840"/>
                  <a:gd name="T89" fmla="*/ 2180 h 4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0"/>
                  <a:gd name="T136" fmla="*/ 0 h 474"/>
                  <a:gd name="T137" fmla="*/ 840 w 840"/>
                  <a:gd name="T138" fmla="*/ 474 h 4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0" h="474">
                    <a:moveTo>
                      <a:pt x="840" y="474"/>
                    </a:moveTo>
                    <a:cubicBezTo>
                      <a:pt x="819" y="357"/>
                      <a:pt x="819" y="357"/>
                      <a:pt x="819" y="357"/>
                    </a:cubicBezTo>
                    <a:cubicBezTo>
                      <a:pt x="803" y="386"/>
                      <a:pt x="803" y="386"/>
                      <a:pt x="803" y="386"/>
                    </a:cubicBezTo>
                    <a:cubicBezTo>
                      <a:pt x="748" y="265"/>
                      <a:pt x="627" y="181"/>
                      <a:pt x="486" y="181"/>
                    </a:cubicBezTo>
                    <a:cubicBezTo>
                      <a:pt x="463" y="181"/>
                      <a:pt x="440" y="183"/>
                      <a:pt x="417" y="188"/>
                    </a:cubicBezTo>
                    <a:cubicBezTo>
                      <a:pt x="407" y="82"/>
                      <a:pt x="318" y="0"/>
                      <a:pt x="209" y="0"/>
                    </a:cubicBezTo>
                    <a:cubicBezTo>
                      <a:pt x="94" y="0"/>
                      <a:pt x="0" y="93"/>
                      <a:pt x="0" y="209"/>
                    </a:cubicBezTo>
                    <a:cubicBezTo>
                      <a:pt x="0" y="307"/>
                      <a:pt x="68" y="389"/>
                      <a:pt x="160" y="412"/>
                    </a:cubicBezTo>
                    <a:cubicBezTo>
                      <a:pt x="164" y="413"/>
                      <a:pt x="169" y="414"/>
                      <a:pt x="174" y="415"/>
                    </a:cubicBezTo>
                    <a:cubicBezTo>
                      <a:pt x="176" y="411"/>
                      <a:pt x="177" y="408"/>
                      <a:pt x="179" y="405"/>
                    </a:cubicBezTo>
                    <a:cubicBezTo>
                      <a:pt x="180" y="403"/>
                      <a:pt x="181" y="401"/>
                      <a:pt x="183" y="398"/>
                    </a:cubicBezTo>
                    <a:cubicBezTo>
                      <a:pt x="184" y="397"/>
                      <a:pt x="185" y="395"/>
                      <a:pt x="186" y="393"/>
                    </a:cubicBezTo>
                    <a:cubicBezTo>
                      <a:pt x="188" y="390"/>
                      <a:pt x="190" y="386"/>
                      <a:pt x="192" y="383"/>
                    </a:cubicBezTo>
                    <a:cubicBezTo>
                      <a:pt x="193" y="381"/>
                      <a:pt x="194" y="380"/>
                      <a:pt x="195" y="378"/>
                    </a:cubicBezTo>
                    <a:cubicBezTo>
                      <a:pt x="196" y="376"/>
                      <a:pt x="198" y="374"/>
                      <a:pt x="199" y="371"/>
                    </a:cubicBezTo>
                    <a:cubicBezTo>
                      <a:pt x="201" y="369"/>
                      <a:pt x="203" y="366"/>
                      <a:pt x="205" y="363"/>
                    </a:cubicBezTo>
                    <a:cubicBezTo>
                      <a:pt x="206" y="361"/>
                      <a:pt x="208" y="359"/>
                      <a:pt x="209" y="357"/>
                    </a:cubicBezTo>
                    <a:cubicBezTo>
                      <a:pt x="211" y="355"/>
                      <a:pt x="212" y="354"/>
                      <a:pt x="213" y="352"/>
                    </a:cubicBezTo>
                    <a:cubicBezTo>
                      <a:pt x="215" y="349"/>
                      <a:pt x="218" y="346"/>
                      <a:pt x="221" y="343"/>
                    </a:cubicBezTo>
                    <a:cubicBezTo>
                      <a:pt x="222" y="341"/>
                      <a:pt x="223" y="340"/>
                      <a:pt x="224" y="338"/>
                    </a:cubicBezTo>
                    <a:cubicBezTo>
                      <a:pt x="226" y="336"/>
                      <a:pt x="228" y="334"/>
                      <a:pt x="229" y="332"/>
                    </a:cubicBezTo>
                    <a:cubicBezTo>
                      <a:pt x="231" y="331"/>
                      <a:pt x="232" y="330"/>
                      <a:pt x="233" y="328"/>
                    </a:cubicBezTo>
                    <a:cubicBezTo>
                      <a:pt x="236" y="325"/>
                      <a:pt x="239" y="322"/>
                      <a:pt x="242" y="319"/>
                    </a:cubicBezTo>
                    <a:cubicBezTo>
                      <a:pt x="243" y="318"/>
                      <a:pt x="244" y="317"/>
                      <a:pt x="245" y="316"/>
                    </a:cubicBezTo>
                    <a:cubicBezTo>
                      <a:pt x="249" y="312"/>
                      <a:pt x="252" y="309"/>
                      <a:pt x="255" y="306"/>
                    </a:cubicBezTo>
                    <a:cubicBezTo>
                      <a:pt x="256" y="305"/>
                      <a:pt x="257" y="304"/>
                      <a:pt x="258" y="303"/>
                    </a:cubicBezTo>
                    <a:cubicBezTo>
                      <a:pt x="261" y="301"/>
                      <a:pt x="263" y="300"/>
                      <a:pt x="265" y="298"/>
                    </a:cubicBezTo>
                    <a:cubicBezTo>
                      <a:pt x="266" y="297"/>
                      <a:pt x="267" y="296"/>
                      <a:pt x="268" y="296"/>
                    </a:cubicBezTo>
                    <a:cubicBezTo>
                      <a:pt x="271" y="292"/>
                      <a:pt x="275" y="289"/>
                      <a:pt x="279" y="286"/>
                    </a:cubicBezTo>
                    <a:cubicBezTo>
                      <a:pt x="280" y="285"/>
                      <a:pt x="281" y="285"/>
                      <a:pt x="282" y="284"/>
                    </a:cubicBezTo>
                    <a:cubicBezTo>
                      <a:pt x="290" y="279"/>
                      <a:pt x="297" y="273"/>
                      <a:pt x="305" y="268"/>
                    </a:cubicBezTo>
                    <a:cubicBezTo>
                      <a:pt x="306" y="268"/>
                      <a:pt x="306" y="268"/>
                      <a:pt x="307" y="267"/>
                    </a:cubicBezTo>
                    <a:cubicBezTo>
                      <a:pt x="312" y="264"/>
                      <a:pt x="317" y="261"/>
                      <a:pt x="322" y="259"/>
                    </a:cubicBezTo>
                    <a:cubicBezTo>
                      <a:pt x="322" y="258"/>
                      <a:pt x="323" y="258"/>
                      <a:pt x="324" y="258"/>
                    </a:cubicBezTo>
                    <a:cubicBezTo>
                      <a:pt x="332" y="253"/>
                      <a:pt x="341" y="249"/>
                      <a:pt x="350" y="245"/>
                    </a:cubicBezTo>
                    <a:cubicBezTo>
                      <a:pt x="350" y="245"/>
                      <a:pt x="350" y="244"/>
                      <a:pt x="351" y="244"/>
                    </a:cubicBezTo>
                    <a:cubicBezTo>
                      <a:pt x="357" y="242"/>
                      <a:pt x="362" y="239"/>
                      <a:pt x="368" y="237"/>
                    </a:cubicBezTo>
                    <a:cubicBezTo>
                      <a:pt x="368" y="237"/>
                      <a:pt x="369" y="237"/>
                      <a:pt x="369" y="237"/>
                    </a:cubicBezTo>
                    <a:cubicBezTo>
                      <a:pt x="378" y="234"/>
                      <a:pt x="388" y="230"/>
                      <a:pt x="397" y="228"/>
                    </a:cubicBezTo>
                    <a:cubicBezTo>
                      <a:pt x="398" y="228"/>
                      <a:pt x="398" y="228"/>
                      <a:pt x="399" y="227"/>
                    </a:cubicBezTo>
                    <a:cubicBezTo>
                      <a:pt x="405" y="226"/>
                      <a:pt x="411" y="224"/>
                      <a:pt x="418" y="223"/>
                    </a:cubicBezTo>
                    <a:cubicBezTo>
                      <a:pt x="442" y="218"/>
                      <a:pt x="466" y="215"/>
                      <a:pt x="492" y="215"/>
                    </a:cubicBezTo>
                    <a:cubicBezTo>
                      <a:pt x="621" y="215"/>
                      <a:pt x="735" y="285"/>
                      <a:pt x="796" y="389"/>
                    </a:cubicBezTo>
                    <a:cubicBezTo>
                      <a:pt x="757" y="389"/>
                      <a:pt x="757" y="389"/>
                      <a:pt x="757" y="389"/>
                    </a:cubicBezTo>
                    <a:lnTo>
                      <a:pt x="840" y="474"/>
                    </a:lnTo>
                    <a:close/>
                  </a:path>
                </a:pathLst>
              </a:custGeom>
              <a:solidFill>
                <a:srgbClr val="D99694"/>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a:solidFill>
                    <a:srgbClr val="000000"/>
                  </a:solidFill>
                </a:endParaRPr>
              </a:p>
            </p:txBody>
          </p:sp>
          <p:sp>
            <p:nvSpPr>
              <p:cNvPr id="8207" name="文本框 43"/>
              <p:cNvSpPr>
                <a:spLocks noChangeArrowheads="1"/>
              </p:cNvSpPr>
              <p:nvPr/>
            </p:nvSpPr>
            <p:spPr bwMode="auto">
              <a:xfrm>
                <a:off x="1655" y="955"/>
                <a:ext cx="318"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3200" b="1">
                    <a:solidFill>
                      <a:srgbClr val="FF0000"/>
                    </a:solidFill>
                    <a:sym typeface="Arial" pitchFamily="34" charset="0"/>
                  </a:rPr>
                  <a:t>3</a:t>
                </a:r>
              </a:p>
            </p:txBody>
          </p:sp>
        </p:grpSp>
        <p:sp>
          <p:nvSpPr>
            <p:cNvPr id="8208" name="Text Box 38"/>
            <p:cNvSpPr>
              <a:spLocks noChangeArrowheads="1"/>
            </p:cNvSpPr>
            <p:nvPr/>
          </p:nvSpPr>
          <p:spPr bwMode="auto">
            <a:xfrm>
              <a:off x="0" y="1474"/>
              <a:ext cx="3557"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eaLnBrk="0" hangingPunct="0"/>
              <a:r>
                <a:rPr lang="zh-CN" altLang="en-US" sz="2000" b="1">
                  <a:solidFill>
                    <a:srgbClr val="000000"/>
                  </a:solidFill>
                  <a:sym typeface="Arial" pitchFamily="34" charset="0"/>
                </a:rPr>
                <a:t>以电子形式上报</a:t>
              </a:r>
              <a:r>
                <a:rPr lang="en-US" sz="2000" b="1">
                  <a:solidFill>
                    <a:srgbClr val="000000"/>
                  </a:solidFill>
                  <a:sym typeface="Arial" pitchFamily="34" charset="0"/>
                </a:rPr>
                <a:t>FDA</a:t>
              </a:r>
              <a:r>
                <a:rPr lang="zh-CN" altLang="en-US" sz="2000" b="1">
                  <a:solidFill>
                    <a:srgbClr val="000000"/>
                  </a:solidFill>
                  <a:sym typeface="Arial" pitchFamily="34" charset="0"/>
                </a:rPr>
                <a:t>等的文件</a:t>
              </a:r>
            </a:p>
          </p:txBody>
        </p:sp>
      </p:grpSp>
      <p:grpSp>
        <p:nvGrpSpPr>
          <p:cNvPr id="8209" name="组合 57"/>
          <p:cNvGrpSpPr>
            <a:grpSpLocks/>
          </p:cNvGrpSpPr>
          <p:nvPr/>
        </p:nvGrpSpPr>
        <p:grpSpPr bwMode="auto">
          <a:xfrm>
            <a:off x="4859338" y="4217988"/>
            <a:ext cx="3184525" cy="2452687"/>
            <a:chOff x="0" y="0"/>
            <a:chExt cx="5013" cy="3862"/>
          </a:xfrm>
        </p:grpSpPr>
        <p:grpSp>
          <p:nvGrpSpPr>
            <p:cNvPr id="8210" name="组合 49"/>
            <p:cNvGrpSpPr>
              <a:grpSpLocks/>
            </p:cNvGrpSpPr>
            <p:nvPr/>
          </p:nvGrpSpPr>
          <p:grpSpPr bwMode="auto">
            <a:xfrm>
              <a:off x="2833" y="0"/>
              <a:ext cx="2180" cy="3862"/>
              <a:chOff x="0" y="0"/>
              <a:chExt cx="2180" cy="3862"/>
            </a:xfrm>
          </p:grpSpPr>
          <p:sp>
            <p:nvSpPr>
              <p:cNvPr id="8211" name="Freeform 8"/>
              <p:cNvSpPr>
                <a:spLocks noChangeArrowheads="1"/>
              </p:cNvSpPr>
              <p:nvPr/>
            </p:nvSpPr>
            <p:spPr bwMode="auto">
              <a:xfrm rot="7920000">
                <a:off x="-841" y="840"/>
                <a:ext cx="3862" cy="2180"/>
              </a:xfrm>
              <a:custGeom>
                <a:avLst/>
                <a:gdLst>
                  <a:gd name="T0" fmla="*/ 840 w 840"/>
                  <a:gd name="T1" fmla="*/ 474 h 474"/>
                  <a:gd name="T2" fmla="*/ 819 w 840"/>
                  <a:gd name="T3" fmla="*/ 357 h 474"/>
                  <a:gd name="T4" fmla="*/ 803 w 840"/>
                  <a:gd name="T5" fmla="*/ 386 h 474"/>
                  <a:gd name="T6" fmla="*/ 486 w 840"/>
                  <a:gd name="T7" fmla="*/ 181 h 474"/>
                  <a:gd name="T8" fmla="*/ 417 w 840"/>
                  <a:gd name="T9" fmla="*/ 188 h 474"/>
                  <a:gd name="T10" fmla="*/ 209 w 840"/>
                  <a:gd name="T11" fmla="*/ 0 h 474"/>
                  <a:gd name="T12" fmla="*/ 0 w 840"/>
                  <a:gd name="T13" fmla="*/ 209 h 474"/>
                  <a:gd name="T14" fmla="*/ 160 w 840"/>
                  <a:gd name="T15" fmla="*/ 412 h 474"/>
                  <a:gd name="T16" fmla="*/ 174 w 840"/>
                  <a:gd name="T17" fmla="*/ 415 h 474"/>
                  <a:gd name="T18" fmla="*/ 179 w 840"/>
                  <a:gd name="T19" fmla="*/ 405 h 474"/>
                  <a:gd name="T20" fmla="*/ 183 w 840"/>
                  <a:gd name="T21" fmla="*/ 398 h 474"/>
                  <a:gd name="T22" fmla="*/ 186 w 840"/>
                  <a:gd name="T23" fmla="*/ 393 h 474"/>
                  <a:gd name="T24" fmla="*/ 192 w 840"/>
                  <a:gd name="T25" fmla="*/ 383 h 474"/>
                  <a:gd name="T26" fmla="*/ 195 w 840"/>
                  <a:gd name="T27" fmla="*/ 378 h 474"/>
                  <a:gd name="T28" fmla="*/ 199 w 840"/>
                  <a:gd name="T29" fmla="*/ 371 h 474"/>
                  <a:gd name="T30" fmla="*/ 205 w 840"/>
                  <a:gd name="T31" fmla="*/ 363 h 474"/>
                  <a:gd name="T32" fmla="*/ 209 w 840"/>
                  <a:gd name="T33" fmla="*/ 357 h 474"/>
                  <a:gd name="T34" fmla="*/ 213 w 840"/>
                  <a:gd name="T35" fmla="*/ 352 h 474"/>
                  <a:gd name="T36" fmla="*/ 221 w 840"/>
                  <a:gd name="T37" fmla="*/ 343 h 474"/>
                  <a:gd name="T38" fmla="*/ 224 w 840"/>
                  <a:gd name="T39" fmla="*/ 338 h 474"/>
                  <a:gd name="T40" fmla="*/ 229 w 840"/>
                  <a:gd name="T41" fmla="*/ 332 h 474"/>
                  <a:gd name="T42" fmla="*/ 233 w 840"/>
                  <a:gd name="T43" fmla="*/ 328 h 474"/>
                  <a:gd name="T44" fmla="*/ 242 w 840"/>
                  <a:gd name="T45" fmla="*/ 319 h 474"/>
                  <a:gd name="T46" fmla="*/ 245 w 840"/>
                  <a:gd name="T47" fmla="*/ 316 h 474"/>
                  <a:gd name="T48" fmla="*/ 255 w 840"/>
                  <a:gd name="T49" fmla="*/ 306 h 474"/>
                  <a:gd name="T50" fmla="*/ 258 w 840"/>
                  <a:gd name="T51" fmla="*/ 303 h 474"/>
                  <a:gd name="T52" fmla="*/ 265 w 840"/>
                  <a:gd name="T53" fmla="*/ 298 h 474"/>
                  <a:gd name="T54" fmla="*/ 268 w 840"/>
                  <a:gd name="T55" fmla="*/ 296 h 474"/>
                  <a:gd name="T56" fmla="*/ 279 w 840"/>
                  <a:gd name="T57" fmla="*/ 286 h 474"/>
                  <a:gd name="T58" fmla="*/ 282 w 840"/>
                  <a:gd name="T59" fmla="*/ 284 h 474"/>
                  <a:gd name="T60" fmla="*/ 305 w 840"/>
                  <a:gd name="T61" fmla="*/ 268 h 474"/>
                  <a:gd name="T62" fmla="*/ 307 w 840"/>
                  <a:gd name="T63" fmla="*/ 267 h 474"/>
                  <a:gd name="T64" fmla="*/ 322 w 840"/>
                  <a:gd name="T65" fmla="*/ 259 h 474"/>
                  <a:gd name="T66" fmla="*/ 324 w 840"/>
                  <a:gd name="T67" fmla="*/ 258 h 474"/>
                  <a:gd name="T68" fmla="*/ 350 w 840"/>
                  <a:gd name="T69" fmla="*/ 245 h 474"/>
                  <a:gd name="T70" fmla="*/ 351 w 840"/>
                  <a:gd name="T71" fmla="*/ 244 h 474"/>
                  <a:gd name="T72" fmla="*/ 368 w 840"/>
                  <a:gd name="T73" fmla="*/ 237 h 474"/>
                  <a:gd name="T74" fmla="*/ 369 w 840"/>
                  <a:gd name="T75" fmla="*/ 237 h 474"/>
                  <a:gd name="T76" fmla="*/ 397 w 840"/>
                  <a:gd name="T77" fmla="*/ 228 h 474"/>
                  <a:gd name="T78" fmla="*/ 399 w 840"/>
                  <a:gd name="T79" fmla="*/ 227 h 474"/>
                  <a:gd name="T80" fmla="*/ 418 w 840"/>
                  <a:gd name="T81" fmla="*/ 223 h 474"/>
                  <a:gd name="T82" fmla="*/ 492 w 840"/>
                  <a:gd name="T83" fmla="*/ 215 h 474"/>
                  <a:gd name="T84" fmla="*/ 796 w 840"/>
                  <a:gd name="T85" fmla="*/ 389 h 474"/>
                  <a:gd name="T86" fmla="*/ 757 w 840"/>
                  <a:gd name="T87" fmla="*/ 389 h 474"/>
                  <a:gd name="T88" fmla="*/ 840 w 840"/>
                  <a:gd name="T89" fmla="*/ 474 h 4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0"/>
                  <a:gd name="T136" fmla="*/ 0 h 474"/>
                  <a:gd name="T137" fmla="*/ 840 w 840"/>
                  <a:gd name="T138" fmla="*/ 474 h 4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0" h="474">
                    <a:moveTo>
                      <a:pt x="840" y="474"/>
                    </a:moveTo>
                    <a:cubicBezTo>
                      <a:pt x="819" y="357"/>
                      <a:pt x="819" y="357"/>
                      <a:pt x="819" y="357"/>
                    </a:cubicBezTo>
                    <a:cubicBezTo>
                      <a:pt x="803" y="386"/>
                      <a:pt x="803" y="386"/>
                      <a:pt x="803" y="386"/>
                    </a:cubicBezTo>
                    <a:cubicBezTo>
                      <a:pt x="748" y="265"/>
                      <a:pt x="627" y="181"/>
                      <a:pt x="486" y="181"/>
                    </a:cubicBezTo>
                    <a:cubicBezTo>
                      <a:pt x="463" y="181"/>
                      <a:pt x="440" y="183"/>
                      <a:pt x="417" y="188"/>
                    </a:cubicBezTo>
                    <a:cubicBezTo>
                      <a:pt x="407" y="82"/>
                      <a:pt x="318" y="0"/>
                      <a:pt x="209" y="0"/>
                    </a:cubicBezTo>
                    <a:cubicBezTo>
                      <a:pt x="94" y="0"/>
                      <a:pt x="0" y="93"/>
                      <a:pt x="0" y="209"/>
                    </a:cubicBezTo>
                    <a:cubicBezTo>
                      <a:pt x="0" y="307"/>
                      <a:pt x="68" y="389"/>
                      <a:pt x="160" y="412"/>
                    </a:cubicBezTo>
                    <a:cubicBezTo>
                      <a:pt x="164" y="413"/>
                      <a:pt x="169" y="414"/>
                      <a:pt x="174" y="415"/>
                    </a:cubicBezTo>
                    <a:cubicBezTo>
                      <a:pt x="176" y="411"/>
                      <a:pt x="177" y="408"/>
                      <a:pt x="179" y="405"/>
                    </a:cubicBezTo>
                    <a:cubicBezTo>
                      <a:pt x="180" y="403"/>
                      <a:pt x="181" y="401"/>
                      <a:pt x="183" y="398"/>
                    </a:cubicBezTo>
                    <a:cubicBezTo>
                      <a:pt x="184" y="397"/>
                      <a:pt x="185" y="395"/>
                      <a:pt x="186" y="393"/>
                    </a:cubicBezTo>
                    <a:cubicBezTo>
                      <a:pt x="188" y="390"/>
                      <a:pt x="190" y="386"/>
                      <a:pt x="192" y="383"/>
                    </a:cubicBezTo>
                    <a:cubicBezTo>
                      <a:pt x="193" y="381"/>
                      <a:pt x="194" y="380"/>
                      <a:pt x="195" y="378"/>
                    </a:cubicBezTo>
                    <a:cubicBezTo>
                      <a:pt x="196" y="376"/>
                      <a:pt x="198" y="374"/>
                      <a:pt x="199" y="371"/>
                    </a:cubicBezTo>
                    <a:cubicBezTo>
                      <a:pt x="201" y="369"/>
                      <a:pt x="203" y="366"/>
                      <a:pt x="205" y="363"/>
                    </a:cubicBezTo>
                    <a:cubicBezTo>
                      <a:pt x="206" y="361"/>
                      <a:pt x="208" y="359"/>
                      <a:pt x="209" y="357"/>
                    </a:cubicBezTo>
                    <a:cubicBezTo>
                      <a:pt x="211" y="355"/>
                      <a:pt x="212" y="354"/>
                      <a:pt x="213" y="352"/>
                    </a:cubicBezTo>
                    <a:cubicBezTo>
                      <a:pt x="215" y="349"/>
                      <a:pt x="218" y="346"/>
                      <a:pt x="221" y="343"/>
                    </a:cubicBezTo>
                    <a:cubicBezTo>
                      <a:pt x="222" y="341"/>
                      <a:pt x="223" y="340"/>
                      <a:pt x="224" y="338"/>
                    </a:cubicBezTo>
                    <a:cubicBezTo>
                      <a:pt x="226" y="336"/>
                      <a:pt x="228" y="334"/>
                      <a:pt x="229" y="332"/>
                    </a:cubicBezTo>
                    <a:cubicBezTo>
                      <a:pt x="231" y="331"/>
                      <a:pt x="232" y="330"/>
                      <a:pt x="233" y="328"/>
                    </a:cubicBezTo>
                    <a:cubicBezTo>
                      <a:pt x="236" y="325"/>
                      <a:pt x="239" y="322"/>
                      <a:pt x="242" y="319"/>
                    </a:cubicBezTo>
                    <a:cubicBezTo>
                      <a:pt x="243" y="318"/>
                      <a:pt x="244" y="317"/>
                      <a:pt x="245" y="316"/>
                    </a:cubicBezTo>
                    <a:cubicBezTo>
                      <a:pt x="249" y="312"/>
                      <a:pt x="252" y="309"/>
                      <a:pt x="255" y="306"/>
                    </a:cubicBezTo>
                    <a:cubicBezTo>
                      <a:pt x="256" y="305"/>
                      <a:pt x="257" y="304"/>
                      <a:pt x="258" y="303"/>
                    </a:cubicBezTo>
                    <a:cubicBezTo>
                      <a:pt x="261" y="301"/>
                      <a:pt x="263" y="300"/>
                      <a:pt x="265" y="298"/>
                    </a:cubicBezTo>
                    <a:cubicBezTo>
                      <a:pt x="266" y="297"/>
                      <a:pt x="267" y="296"/>
                      <a:pt x="268" y="296"/>
                    </a:cubicBezTo>
                    <a:cubicBezTo>
                      <a:pt x="271" y="292"/>
                      <a:pt x="275" y="289"/>
                      <a:pt x="279" y="286"/>
                    </a:cubicBezTo>
                    <a:cubicBezTo>
                      <a:pt x="280" y="285"/>
                      <a:pt x="281" y="285"/>
                      <a:pt x="282" y="284"/>
                    </a:cubicBezTo>
                    <a:cubicBezTo>
                      <a:pt x="290" y="279"/>
                      <a:pt x="297" y="273"/>
                      <a:pt x="305" y="268"/>
                    </a:cubicBezTo>
                    <a:cubicBezTo>
                      <a:pt x="306" y="268"/>
                      <a:pt x="306" y="268"/>
                      <a:pt x="307" y="267"/>
                    </a:cubicBezTo>
                    <a:cubicBezTo>
                      <a:pt x="312" y="264"/>
                      <a:pt x="317" y="261"/>
                      <a:pt x="322" y="259"/>
                    </a:cubicBezTo>
                    <a:cubicBezTo>
                      <a:pt x="322" y="258"/>
                      <a:pt x="323" y="258"/>
                      <a:pt x="324" y="258"/>
                    </a:cubicBezTo>
                    <a:cubicBezTo>
                      <a:pt x="332" y="253"/>
                      <a:pt x="341" y="249"/>
                      <a:pt x="350" y="245"/>
                    </a:cubicBezTo>
                    <a:cubicBezTo>
                      <a:pt x="350" y="245"/>
                      <a:pt x="350" y="244"/>
                      <a:pt x="351" y="244"/>
                    </a:cubicBezTo>
                    <a:cubicBezTo>
                      <a:pt x="357" y="242"/>
                      <a:pt x="362" y="239"/>
                      <a:pt x="368" y="237"/>
                    </a:cubicBezTo>
                    <a:cubicBezTo>
                      <a:pt x="368" y="237"/>
                      <a:pt x="369" y="237"/>
                      <a:pt x="369" y="237"/>
                    </a:cubicBezTo>
                    <a:cubicBezTo>
                      <a:pt x="378" y="234"/>
                      <a:pt x="388" y="230"/>
                      <a:pt x="397" y="228"/>
                    </a:cubicBezTo>
                    <a:cubicBezTo>
                      <a:pt x="398" y="228"/>
                      <a:pt x="398" y="228"/>
                      <a:pt x="399" y="227"/>
                    </a:cubicBezTo>
                    <a:cubicBezTo>
                      <a:pt x="405" y="226"/>
                      <a:pt x="411" y="224"/>
                      <a:pt x="418" y="223"/>
                    </a:cubicBezTo>
                    <a:cubicBezTo>
                      <a:pt x="442" y="218"/>
                      <a:pt x="466" y="215"/>
                      <a:pt x="492" y="215"/>
                    </a:cubicBezTo>
                    <a:cubicBezTo>
                      <a:pt x="621" y="215"/>
                      <a:pt x="735" y="285"/>
                      <a:pt x="796" y="389"/>
                    </a:cubicBezTo>
                    <a:cubicBezTo>
                      <a:pt x="757" y="389"/>
                      <a:pt x="757" y="389"/>
                      <a:pt x="757" y="389"/>
                    </a:cubicBezTo>
                    <a:lnTo>
                      <a:pt x="840" y="474"/>
                    </a:lnTo>
                    <a:close/>
                  </a:path>
                </a:pathLst>
              </a:custGeom>
              <a:solidFill>
                <a:srgbClr val="A5A5A5"/>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a:solidFill>
                    <a:srgbClr val="000000"/>
                  </a:solidFill>
                </a:endParaRPr>
              </a:p>
            </p:txBody>
          </p:sp>
          <p:sp>
            <p:nvSpPr>
              <p:cNvPr id="8212" name="文本框 41"/>
              <p:cNvSpPr>
                <a:spLocks noChangeArrowheads="1"/>
              </p:cNvSpPr>
              <p:nvPr/>
            </p:nvSpPr>
            <p:spPr bwMode="auto">
              <a:xfrm>
                <a:off x="1655" y="868"/>
                <a:ext cx="318"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3200" b="1">
                    <a:solidFill>
                      <a:srgbClr val="FF0000"/>
                    </a:solidFill>
                    <a:sym typeface="Arial" pitchFamily="34" charset="0"/>
                  </a:rPr>
                  <a:t>4</a:t>
                </a:r>
              </a:p>
            </p:txBody>
          </p:sp>
        </p:grpSp>
        <p:sp>
          <p:nvSpPr>
            <p:cNvPr id="8213" name="Text Box 38"/>
            <p:cNvSpPr>
              <a:spLocks noChangeArrowheads="1"/>
            </p:cNvSpPr>
            <p:nvPr/>
          </p:nvSpPr>
          <p:spPr bwMode="auto">
            <a:xfrm>
              <a:off x="0" y="572"/>
              <a:ext cx="3984" cy="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eaLnBrk="0" hangingPunct="0"/>
              <a:r>
                <a:rPr lang="zh-CN" altLang="en-US" sz="2000" b="1">
                  <a:solidFill>
                    <a:srgbClr val="000000"/>
                  </a:solidFill>
                  <a:sym typeface="Arial" pitchFamily="34" charset="0"/>
                </a:rPr>
                <a:t>用于批准审核及验证的，具有等效作用的电子签名或手迹签名例如</a:t>
              </a:r>
              <a:r>
                <a:rPr lang="en-US" sz="2000" b="1">
                  <a:solidFill>
                    <a:srgbClr val="000000"/>
                  </a:solidFill>
                  <a:sym typeface="Arial" pitchFamily="34" charset="0"/>
                </a:rPr>
                <a:t>SAP</a:t>
              </a:r>
              <a:r>
                <a:rPr lang="zh-CN" altLang="en-US" sz="2000" b="1">
                  <a:solidFill>
                    <a:srgbClr val="000000"/>
                  </a:solidFill>
                  <a:sym typeface="Arial" pitchFamily="34" charset="0"/>
                </a:rPr>
                <a:t>系统</a:t>
              </a:r>
            </a:p>
          </p:txBody>
        </p:sp>
      </p:grpSp>
      <p:sp>
        <p:nvSpPr>
          <p:cNvPr id="8214" name="Text Box 38"/>
          <p:cNvSpPr>
            <a:spLocks noChangeArrowheads="1"/>
          </p:cNvSpPr>
          <p:nvPr/>
        </p:nvSpPr>
        <p:spPr bwMode="auto">
          <a:xfrm>
            <a:off x="3417888" y="261938"/>
            <a:ext cx="589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eaLnBrk="0" hangingPunct="0"/>
            <a:r>
              <a:rPr lang="zh-CN" altLang="en-US" sz="2800">
                <a:solidFill>
                  <a:srgbClr val="FFC000"/>
                </a:solidFill>
                <a:latin typeface="楷体_GB2312" pitchFamily="1" charset="-122"/>
                <a:ea typeface="楷体_GB2312" pitchFamily="1" charset="-122"/>
                <a:sym typeface="宋体" pitchFamily="2" charset="-122"/>
              </a:rPr>
              <a:t>下列电子文件必须服从21CFR11要求</a:t>
            </a:r>
            <a:endParaRPr lang="zh-CN" altLang="en-US" sz="2000">
              <a:solidFill>
                <a:srgbClr val="0070C0"/>
              </a:solidFill>
              <a:latin typeface="楷体_GB2312" pitchFamily="1" charset="-122"/>
              <a:ea typeface="楷体_GB2312" pitchFamily="1" charset="-122"/>
              <a:sym typeface="楷体_GB2312" pitchFamily="1" charset="-122"/>
            </a:endParaRPr>
          </a:p>
        </p:txBody>
      </p:sp>
    </p:spTree>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标题 1"/>
          <p:cNvSpPr>
            <a:spLocks noGrp="1" noChangeArrowheads="1"/>
          </p:cNvSpPr>
          <p:nvPr/>
        </p:nvSpPr>
        <p:spPr bwMode="auto">
          <a:xfrm>
            <a:off x="2481263" y="6350"/>
            <a:ext cx="53594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4</a:t>
            </a:r>
            <a:r>
              <a:rPr lang="zh-CN" altLang="en-US" sz="2400" b="1">
                <a:solidFill>
                  <a:srgbClr val="FFFF00"/>
                </a:solidFill>
                <a:latin typeface="Calibri" pitchFamily="34" charset="0"/>
                <a:ea typeface="楷体" pitchFamily="49" charset="-122"/>
                <a:sym typeface="Calibri" pitchFamily="34" charset="0"/>
              </a:rPr>
              <a:t>节：数据完整性的关键点分析、适用范围与ALCOA+CCEA解读</a:t>
            </a:r>
          </a:p>
        </p:txBody>
      </p:sp>
      <p:grpSp>
        <p:nvGrpSpPr>
          <p:cNvPr id="9219" name="组合 2"/>
          <p:cNvGrpSpPr>
            <a:grpSpLocks/>
          </p:cNvGrpSpPr>
          <p:nvPr/>
        </p:nvGrpSpPr>
        <p:grpSpPr bwMode="auto">
          <a:xfrm>
            <a:off x="827088" y="1266825"/>
            <a:ext cx="3719512" cy="2260600"/>
            <a:chOff x="0" y="0"/>
            <a:chExt cx="5858" cy="3558"/>
          </a:xfrm>
        </p:grpSpPr>
        <p:sp>
          <p:nvSpPr>
            <p:cNvPr id="9220" name="矩形 22"/>
            <p:cNvSpPr>
              <a:spLocks noChangeArrowheads="1"/>
            </p:cNvSpPr>
            <p:nvPr/>
          </p:nvSpPr>
          <p:spPr bwMode="auto">
            <a:xfrm>
              <a:off x="0" y="570"/>
              <a:ext cx="5850" cy="2989"/>
            </a:xfrm>
            <a:prstGeom prst="rect">
              <a:avLst/>
            </a:prstGeom>
            <a:gradFill rotWithShape="1">
              <a:gsLst>
                <a:gs pos="0">
                  <a:srgbClr val="FFFFFF"/>
                </a:gs>
                <a:gs pos="100000">
                  <a:srgbClr val="8CB3E3"/>
                </a:gs>
              </a:gsLst>
              <a:lin ang="5400000" scaled="1"/>
            </a:gradFill>
            <a:ln>
              <a:noFill/>
            </a:ln>
            <a:extLst>
              <a:ext uri="{91240B29-F687-4F45-9708-019B960494DF}">
                <a14:hiddenLine xmlns:a14="http://schemas.microsoft.com/office/drawing/2010/main" w="12700" cap="flat" cmpd="sng">
                  <a:solidFill>
                    <a:srgbClr val="395E8A"/>
                  </a:solidFill>
                  <a:bevel/>
                  <a:headEnd/>
                  <a:tailEnd/>
                </a14:hiddenLine>
              </a:ext>
            </a:extLst>
          </p:spPr>
          <p:txBody>
            <a:bodyPr anchor="ctr"/>
            <a:lstStyle/>
            <a:p>
              <a:r>
                <a:rPr lang="zh-CN" altLang="en-US" sz="2000" b="1">
                  <a:solidFill>
                    <a:srgbClr val="0070C0"/>
                  </a:solidFill>
                </a:rPr>
                <a:t>数据完整性定义：数据在整个生命周期内的</a:t>
              </a:r>
              <a:r>
                <a:rPr lang="zh-CN" altLang="en-US" sz="2000" b="1"/>
                <a:t>完整性、准确性和一致性</a:t>
              </a:r>
              <a:r>
                <a:rPr lang="zh-CN" altLang="en-US" sz="2000" b="1">
                  <a:solidFill>
                    <a:srgbClr val="0070C0"/>
                  </a:solidFill>
                </a:rPr>
                <a:t>，用于描述存储的所有数据值均处于客观真实的状态。</a:t>
              </a:r>
            </a:p>
          </p:txBody>
        </p:sp>
        <p:sp>
          <p:nvSpPr>
            <p:cNvPr id="9221" name="圆角矩形 1"/>
            <p:cNvSpPr>
              <a:spLocks noChangeArrowheads="1"/>
            </p:cNvSpPr>
            <p:nvPr/>
          </p:nvSpPr>
          <p:spPr bwMode="auto">
            <a:xfrm>
              <a:off x="10" y="0"/>
              <a:ext cx="5848" cy="794"/>
            </a:xfrm>
            <a:prstGeom prst="roundRect">
              <a:avLst>
                <a:gd name="adj" fmla="val 16667"/>
              </a:avLst>
            </a:prstGeom>
            <a:solidFill>
              <a:srgbClr val="538CD5"/>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r>
                <a:rPr lang="zh-CN" altLang="en-US" sz="2000" b="1">
                  <a:solidFill>
                    <a:srgbClr val="C00000"/>
                  </a:solidFill>
                </a:rPr>
                <a:t>什么是数据完整性</a:t>
              </a:r>
            </a:p>
          </p:txBody>
        </p:sp>
      </p:grpSp>
      <p:grpSp>
        <p:nvGrpSpPr>
          <p:cNvPr id="9222" name="组合 3"/>
          <p:cNvGrpSpPr>
            <a:grpSpLocks/>
          </p:cNvGrpSpPr>
          <p:nvPr/>
        </p:nvGrpSpPr>
        <p:grpSpPr bwMode="auto">
          <a:xfrm>
            <a:off x="4787900" y="1266825"/>
            <a:ext cx="3719513" cy="2260600"/>
            <a:chOff x="0" y="0"/>
            <a:chExt cx="5858" cy="3558"/>
          </a:xfrm>
        </p:grpSpPr>
        <p:sp>
          <p:nvSpPr>
            <p:cNvPr id="9223" name="矩形 4"/>
            <p:cNvSpPr>
              <a:spLocks noChangeArrowheads="1"/>
            </p:cNvSpPr>
            <p:nvPr/>
          </p:nvSpPr>
          <p:spPr bwMode="auto">
            <a:xfrm>
              <a:off x="0" y="570"/>
              <a:ext cx="5851" cy="2989"/>
            </a:xfrm>
            <a:prstGeom prst="rect">
              <a:avLst/>
            </a:prstGeom>
            <a:gradFill rotWithShape="1">
              <a:gsLst>
                <a:gs pos="0">
                  <a:srgbClr val="FFFFFF"/>
                </a:gs>
                <a:gs pos="100000">
                  <a:srgbClr val="8CB3E3"/>
                </a:gs>
              </a:gsLst>
              <a:lin ang="5400000" scaled="1"/>
            </a:gradFill>
            <a:ln>
              <a:noFill/>
            </a:ln>
            <a:extLst>
              <a:ext uri="{91240B29-F687-4F45-9708-019B960494DF}">
                <a14:hiddenLine xmlns:a14="http://schemas.microsoft.com/office/drawing/2010/main" w="12700" cap="flat" cmpd="sng">
                  <a:solidFill>
                    <a:srgbClr val="395E8A"/>
                  </a:solidFill>
                  <a:bevel/>
                  <a:headEnd/>
                  <a:tailEnd/>
                </a14:hiddenLine>
              </a:ext>
            </a:extLst>
          </p:spPr>
          <p:txBody>
            <a:bodyPr anchor="ctr"/>
            <a:lstStyle/>
            <a:p>
              <a:r>
                <a:rPr lang="en-US" sz="2000" b="1">
                  <a:cs typeface="Arial" pitchFamily="34" charset="0"/>
                  <a:sym typeface="Arial" pitchFamily="34" charset="0"/>
                </a:rPr>
                <a:t>1.</a:t>
              </a:r>
              <a:r>
                <a:rPr lang="zh-CN" altLang="en-US" sz="2000" b="1">
                  <a:solidFill>
                    <a:srgbClr val="F763F5"/>
                  </a:solidFill>
                </a:rPr>
                <a:t>数据完整性</a:t>
              </a:r>
              <a:r>
                <a:rPr lang="en-US" sz="2000" b="1">
                  <a:solidFill>
                    <a:srgbClr val="F763F5"/>
                  </a:solidFill>
                  <a:cs typeface="Arial" pitchFamily="34" charset="0"/>
                  <a:sym typeface="Arial" pitchFamily="34" charset="0"/>
                </a:rPr>
                <a:t>=</a:t>
              </a:r>
              <a:r>
                <a:rPr lang="zh-CN" altLang="en-US" sz="2000" b="1">
                  <a:solidFill>
                    <a:srgbClr val="F763F5"/>
                  </a:solidFill>
                </a:rPr>
                <a:t>公正的结果</a:t>
              </a:r>
              <a:r>
                <a:rPr lang="zh-CN" altLang="en-US" sz="2000">
                  <a:solidFill>
                    <a:srgbClr val="0070C0"/>
                  </a:solidFill>
                  <a:latin typeface="宋体" pitchFamily="2" charset="-122"/>
                  <a:sym typeface="宋体" pitchFamily="2" charset="-122"/>
                </a:rPr>
                <a:t>【</a:t>
              </a:r>
              <a:r>
                <a:rPr lang="zh-CN" altLang="en-US" sz="2000" b="1">
                  <a:latin typeface="宋体" pitchFamily="2" charset="-122"/>
                  <a:sym typeface="宋体" pitchFamily="2" charset="-122"/>
                </a:rPr>
                <a:t>完整、准确、一致</a:t>
              </a:r>
              <a:r>
                <a:rPr lang="zh-CN" altLang="en-US" sz="2000">
                  <a:solidFill>
                    <a:srgbClr val="0070C0"/>
                  </a:solidFill>
                  <a:latin typeface="宋体" pitchFamily="2" charset="-122"/>
                  <a:sym typeface="宋体" pitchFamily="2" charset="-122"/>
                </a:rPr>
                <a:t>】</a:t>
              </a:r>
            </a:p>
            <a:p>
              <a:r>
                <a:rPr lang="en-US" sz="2000" b="1">
                  <a:cs typeface="Arial" pitchFamily="34" charset="0"/>
                  <a:sym typeface="Arial" pitchFamily="34" charset="0"/>
                </a:rPr>
                <a:t>2.</a:t>
              </a:r>
              <a:r>
                <a:rPr lang="zh-CN" altLang="en-US" sz="2000" b="1">
                  <a:solidFill>
                    <a:srgbClr val="F763F5"/>
                  </a:solidFill>
                </a:rPr>
                <a:t>数据完整性</a:t>
              </a:r>
              <a:r>
                <a:rPr lang="en-US" sz="2000" b="1">
                  <a:solidFill>
                    <a:srgbClr val="F763F5"/>
                  </a:solidFill>
                  <a:cs typeface="Arial" pitchFamily="34" charset="0"/>
                  <a:sym typeface="Arial" pitchFamily="34" charset="0"/>
                </a:rPr>
                <a:t>=</a:t>
              </a:r>
              <a:r>
                <a:rPr lang="zh-CN" altLang="en-US" sz="2000" b="1">
                  <a:solidFill>
                    <a:srgbClr val="F763F5"/>
                  </a:solidFill>
                </a:rPr>
                <a:t>数据真实性</a:t>
              </a:r>
              <a:r>
                <a:rPr lang="zh-CN" altLang="en-US" sz="2000">
                  <a:solidFill>
                    <a:srgbClr val="0070C0"/>
                  </a:solidFill>
                  <a:latin typeface="宋体" pitchFamily="2" charset="-122"/>
                  <a:sym typeface="宋体" pitchFamily="2" charset="-122"/>
                </a:rPr>
                <a:t>【</a:t>
              </a:r>
              <a:r>
                <a:rPr lang="zh-CN" altLang="en-US" sz="2000" b="1">
                  <a:latin typeface="宋体" pitchFamily="2" charset="-122"/>
                  <a:sym typeface="宋体" pitchFamily="2" charset="-122"/>
                </a:rPr>
                <a:t>真实、诚信、无误</a:t>
              </a:r>
              <a:r>
                <a:rPr lang="zh-CN" altLang="en-US" sz="2000">
                  <a:solidFill>
                    <a:srgbClr val="0070C0"/>
                  </a:solidFill>
                  <a:latin typeface="宋体" pitchFamily="2" charset="-122"/>
                  <a:sym typeface="宋体" pitchFamily="2" charset="-122"/>
                </a:rPr>
                <a:t>】</a:t>
              </a:r>
            </a:p>
            <a:p>
              <a:endParaRPr lang="zh-CN" altLang="en-US" sz="2000" b="1">
                <a:solidFill>
                  <a:srgbClr val="0070C0"/>
                </a:solidFill>
              </a:endParaRPr>
            </a:p>
          </p:txBody>
        </p:sp>
        <p:sp>
          <p:nvSpPr>
            <p:cNvPr id="9224" name="圆角矩形 5"/>
            <p:cNvSpPr>
              <a:spLocks noChangeArrowheads="1"/>
            </p:cNvSpPr>
            <p:nvPr/>
          </p:nvSpPr>
          <p:spPr bwMode="auto">
            <a:xfrm>
              <a:off x="10" y="0"/>
              <a:ext cx="5848" cy="794"/>
            </a:xfrm>
            <a:prstGeom prst="roundRect">
              <a:avLst>
                <a:gd name="adj" fmla="val 16667"/>
              </a:avLst>
            </a:prstGeom>
            <a:solidFill>
              <a:srgbClr val="538CD5"/>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r>
                <a:rPr lang="zh-CN" altLang="en-US" sz="2000" b="1">
                  <a:solidFill>
                    <a:srgbClr val="C00000"/>
                  </a:solidFill>
                </a:rPr>
                <a:t>关键点</a:t>
              </a:r>
            </a:p>
          </p:txBody>
        </p:sp>
      </p:grpSp>
      <p:grpSp>
        <p:nvGrpSpPr>
          <p:cNvPr id="9225" name="组合 8"/>
          <p:cNvGrpSpPr>
            <a:grpSpLocks/>
          </p:cNvGrpSpPr>
          <p:nvPr/>
        </p:nvGrpSpPr>
        <p:grpSpPr bwMode="auto">
          <a:xfrm>
            <a:off x="827088" y="3857625"/>
            <a:ext cx="3719512" cy="2259013"/>
            <a:chOff x="0" y="0"/>
            <a:chExt cx="5858" cy="3558"/>
          </a:xfrm>
        </p:grpSpPr>
        <p:sp>
          <p:nvSpPr>
            <p:cNvPr id="9226" name="矩形 9"/>
            <p:cNvSpPr>
              <a:spLocks noChangeArrowheads="1"/>
            </p:cNvSpPr>
            <p:nvPr/>
          </p:nvSpPr>
          <p:spPr bwMode="auto">
            <a:xfrm>
              <a:off x="0" y="570"/>
              <a:ext cx="5851" cy="2989"/>
            </a:xfrm>
            <a:prstGeom prst="rect">
              <a:avLst/>
            </a:prstGeom>
            <a:gradFill rotWithShape="1">
              <a:gsLst>
                <a:gs pos="0">
                  <a:srgbClr val="FFFFFF"/>
                </a:gs>
                <a:gs pos="100000">
                  <a:srgbClr val="8CB3E3"/>
                </a:gs>
              </a:gsLst>
              <a:lin ang="5400000" scaled="1"/>
            </a:gradFill>
            <a:ln>
              <a:noFill/>
            </a:ln>
            <a:extLst>
              <a:ext uri="{91240B29-F687-4F45-9708-019B960494DF}">
                <a14:hiddenLine xmlns:a14="http://schemas.microsoft.com/office/drawing/2010/main" w="12700" cap="flat" cmpd="sng">
                  <a:solidFill>
                    <a:srgbClr val="395E8A"/>
                  </a:solidFill>
                  <a:bevel/>
                  <a:headEnd/>
                  <a:tailEnd/>
                </a14:hiddenLine>
              </a:ext>
            </a:extLst>
          </p:spPr>
          <p:txBody>
            <a:bodyPr anchor="ctr"/>
            <a:lstStyle/>
            <a:p>
              <a:r>
                <a:rPr lang="zh-CN" altLang="en-US" sz="2000" b="1">
                  <a:solidFill>
                    <a:srgbClr val="0070C0"/>
                  </a:solidFill>
                </a:rPr>
                <a:t>包括研发、临床、注册、生产和检验的</a:t>
              </a:r>
              <a:r>
                <a:rPr lang="en-US" sz="2000" b="1">
                  <a:solidFill>
                    <a:srgbClr val="0070C0"/>
                  </a:solidFill>
                  <a:cs typeface="Arial" pitchFamily="34" charset="0"/>
                  <a:sym typeface="Arial" pitchFamily="34" charset="0"/>
                </a:rPr>
                <a:t>GMP</a:t>
              </a:r>
              <a:r>
                <a:rPr lang="zh-CN" altLang="en-US" sz="2000" b="1">
                  <a:solidFill>
                    <a:srgbClr val="0070C0"/>
                  </a:solidFill>
                </a:rPr>
                <a:t>相关</a:t>
              </a:r>
              <a:r>
                <a:rPr lang="zh-CN" altLang="en-US" sz="2000" b="1"/>
                <a:t>电子及纸质</a:t>
              </a:r>
              <a:r>
                <a:rPr lang="zh-CN" altLang="en-US" sz="2000" b="1">
                  <a:solidFill>
                    <a:srgbClr val="0070C0"/>
                  </a:solidFill>
                </a:rPr>
                <a:t>数据。对</a:t>
              </a:r>
              <a:r>
                <a:rPr lang="en-US" sz="2000" b="1">
                  <a:solidFill>
                    <a:srgbClr val="0070C0"/>
                  </a:solidFill>
                  <a:cs typeface="Arial" pitchFamily="34" charset="0"/>
                  <a:sym typeface="Arial" pitchFamily="34" charset="0"/>
                </a:rPr>
                <a:t>QC</a:t>
              </a:r>
              <a:r>
                <a:rPr lang="zh-CN" altLang="en-US" sz="2000" b="1">
                  <a:solidFill>
                    <a:srgbClr val="0070C0"/>
                  </a:solidFill>
                </a:rPr>
                <a:t>的着重检查，只是对</a:t>
              </a:r>
              <a:r>
                <a:rPr lang="en-US" sz="2000" b="1">
                  <a:solidFill>
                    <a:srgbClr val="0070C0"/>
                  </a:solidFill>
                  <a:cs typeface="Arial" pitchFamily="34" charset="0"/>
                  <a:sym typeface="Arial" pitchFamily="34" charset="0"/>
                </a:rPr>
                <a:t>DI</a:t>
              </a:r>
              <a:r>
                <a:rPr lang="zh-CN" altLang="en-US" sz="2000" b="1">
                  <a:solidFill>
                    <a:srgbClr val="0070C0"/>
                  </a:solidFill>
                </a:rPr>
                <a:t>关注的开始。以后注册、中控、生产</a:t>
              </a:r>
              <a:r>
                <a:rPr lang="en-US" sz="2000" b="1">
                  <a:solidFill>
                    <a:srgbClr val="0070C0"/>
                  </a:solidFill>
                  <a:cs typeface="Arial" pitchFamily="34" charset="0"/>
                  <a:sym typeface="Arial" pitchFamily="34" charset="0"/>
                </a:rPr>
                <a:t>......</a:t>
              </a:r>
            </a:p>
          </p:txBody>
        </p:sp>
        <p:sp>
          <p:nvSpPr>
            <p:cNvPr id="9227" name="圆角矩形 10"/>
            <p:cNvSpPr>
              <a:spLocks noChangeArrowheads="1"/>
            </p:cNvSpPr>
            <p:nvPr/>
          </p:nvSpPr>
          <p:spPr bwMode="auto">
            <a:xfrm>
              <a:off x="10" y="0"/>
              <a:ext cx="5848" cy="794"/>
            </a:xfrm>
            <a:prstGeom prst="roundRect">
              <a:avLst>
                <a:gd name="adj" fmla="val 16667"/>
              </a:avLst>
            </a:prstGeom>
            <a:solidFill>
              <a:srgbClr val="538CD5"/>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r>
                <a:rPr lang="zh-CN" altLang="en-US" sz="2000" b="1">
                  <a:solidFill>
                    <a:srgbClr val="C00000"/>
                  </a:solidFill>
                </a:rPr>
                <a:t>范围</a:t>
              </a:r>
            </a:p>
          </p:txBody>
        </p:sp>
      </p:grpSp>
      <p:grpSp>
        <p:nvGrpSpPr>
          <p:cNvPr id="9228" name="组合 11"/>
          <p:cNvGrpSpPr>
            <a:grpSpLocks/>
          </p:cNvGrpSpPr>
          <p:nvPr/>
        </p:nvGrpSpPr>
        <p:grpSpPr bwMode="auto">
          <a:xfrm>
            <a:off x="4787900" y="3857625"/>
            <a:ext cx="3719513" cy="2259013"/>
            <a:chOff x="0" y="0"/>
            <a:chExt cx="5858" cy="3558"/>
          </a:xfrm>
        </p:grpSpPr>
        <p:sp>
          <p:nvSpPr>
            <p:cNvPr id="9229" name="矩形 12"/>
            <p:cNvSpPr>
              <a:spLocks noChangeArrowheads="1"/>
            </p:cNvSpPr>
            <p:nvPr/>
          </p:nvSpPr>
          <p:spPr bwMode="auto">
            <a:xfrm>
              <a:off x="0" y="570"/>
              <a:ext cx="5851" cy="2989"/>
            </a:xfrm>
            <a:prstGeom prst="rect">
              <a:avLst/>
            </a:prstGeom>
            <a:gradFill rotWithShape="1">
              <a:gsLst>
                <a:gs pos="0">
                  <a:srgbClr val="FFFFFF"/>
                </a:gs>
                <a:gs pos="100000">
                  <a:srgbClr val="8CB3E3"/>
                </a:gs>
              </a:gsLst>
              <a:lin ang="5400000" scaled="1"/>
            </a:gradFill>
            <a:ln>
              <a:noFill/>
            </a:ln>
            <a:extLst>
              <a:ext uri="{91240B29-F687-4F45-9708-019B960494DF}">
                <a14:hiddenLine xmlns:a14="http://schemas.microsoft.com/office/drawing/2010/main" w="12700" cap="flat" cmpd="sng">
                  <a:solidFill>
                    <a:srgbClr val="395E8A"/>
                  </a:solidFill>
                  <a:bevel/>
                  <a:headEnd/>
                  <a:tailEnd/>
                </a14:hiddenLine>
              </a:ext>
            </a:extLst>
          </p:spPr>
          <p:txBody>
            <a:bodyPr anchor="ctr"/>
            <a:lstStyle/>
            <a:p>
              <a:pPr algn="ctr"/>
              <a:r>
                <a:rPr lang="en-US" sz="2000" b="1">
                  <a:solidFill>
                    <a:srgbClr val="0070C0"/>
                  </a:solidFill>
                  <a:cs typeface="Arial" pitchFamily="34" charset="0"/>
                  <a:sym typeface="Arial" pitchFamily="34" charset="0"/>
                </a:rPr>
                <a:t>ALCOA+CCEA</a:t>
              </a:r>
              <a:r>
                <a:rPr lang="zh-CN" altLang="en-US" sz="2000" b="1">
                  <a:solidFill>
                    <a:srgbClr val="0070C0"/>
                  </a:solidFill>
                </a:rPr>
                <a:t>原则</a:t>
              </a:r>
            </a:p>
            <a:p>
              <a:pPr algn="ctr"/>
              <a:r>
                <a:rPr lang="zh-CN" altLang="en-US" sz="2000" b="1">
                  <a:solidFill>
                    <a:srgbClr val="0070C0"/>
                  </a:solidFill>
                </a:rPr>
                <a:t>（详见第三节）</a:t>
              </a:r>
              <a:endParaRPr lang="zh-CN" altLang="en-US" sz="2000" b="1">
                <a:solidFill>
                  <a:srgbClr val="0070C0"/>
                </a:solidFill>
                <a:latin typeface="宋体" pitchFamily="2" charset="-122"/>
                <a:sym typeface="宋体" pitchFamily="2" charset="-122"/>
              </a:endParaRPr>
            </a:p>
            <a:p>
              <a:pPr algn="ctr"/>
              <a:endParaRPr lang="zh-CN" altLang="en-US" sz="2000" b="1">
                <a:solidFill>
                  <a:srgbClr val="0070C0"/>
                </a:solidFill>
              </a:endParaRPr>
            </a:p>
          </p:txBody>
        </p:sp>
        <p:sp>
          <p:nvSpPr>
            <p:cNvPr id="9230" name="圆角矩形 13"/>
            <p:cNvSpPr>
              <a:spLocks noChangeArrowheads="1"/>
            </p:cNvSpPr>
            <p:nvPr/>
          </p:nvSpPr>
          <p:spPr bwMode="auto">
            <a:xfrm>
              <a:off x="10" y="0"/>
              <a:ext cx="5848" cy="794"/>
            </a:xfrm>
            <a:prstGeom prst="roundRect">
              <a:avLst>
                <a:gd name="adj" fmla="val 16667"/>
              </a:avLst>
            </a:prstGeom>
            <a:solidFill>
              <a:srgbClr val="538CD5"/>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r>
                <a:rPr lang="zh-CN" altLang="en-US" sz="2000" b="1">
                  <a:solidFill>
                    <a:srgbClr val="C00000"/>
                  </a:solidFill>
                </a:rPr>
                <a:t>数据完整性的原则</a:t>
              </a:r>
            </a:p>
          </p:txBody>
        </p:sp>
      </p:grpSp>
    </p:spTree>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标题 1"/>
          <p:cNvSpPr>
            <a:spLocks noGrp="1" noChangeArrowheads="1"/>
          </p:cNvSpPr>
          <p:nvPr/>
        </p:nvSpPr>
        <p:spPr bwMode="auto">
          <a:xfrm>
            <a:off x="3757613" y="203200"/>
            <a:ext cx="60039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800">
                <a:solidFill>
                  <a:srgbClr val="FFC000"/>
                </a:solidFill>
                <a:latin typeface="楷体_GB2312" pitchFamily="1" charset="-122"/>
                <a:ea typeface="楷体_GB2312" pitchFamily="1" charset="-122"/>
                <a:sym typeface="楷体_GB2312" pitchFamily="1" charset="-122"/>
              </a:rPr>
              <a:t>数据完整性的</a:t>
            </a:r>
            <a:r>
              <a:rPr lang="en-US" sz="2800">
                <a:solidFill>
                  <a:srgbClr val="FFC000"/>
                </a:solidFill>
                <a:latin typeface="楷体_GB2312" pitchFamily="1" charset="-122"/>
                <a:ea typeface="楷体_GB2312" pitchFamily="1" charset="-122"/>
                <a:sym typeface="楷体_GB2312" pitchFamily="1" charset="-122"/>
              </a:rPr>
              <a:t>ALCOA+CCEA</a:t>
            </a:r>
            <a:r>
              <a:rPr lang="zh-CN" altLang="en-US" sz="2800">
                <a:solidFill>
                  <a:srgbClr val="FFC000"/>
                </a:solidFill>
                <a:latin typeface="楷体_GB2312" pitchFamily="1" charset="-122"/>
                <a:ea typeface="楷体_GB2312" pitchFamily="1" charset="-122"/>
                <a:sym typeface="楷体_GB2312" pitchFamily="1" charset="-122"/>
              </a:rPr>
              <a:t>原则</a:t>
            </a:r>
          </a:p>
        </p:txBody>
      </p:sp>
      <p:graphicFrame>
        <p:nvGraphicFramePr>
          <p:cNvPr id="10243" name="表格 2"/>
          <p:cNvGraphicFramePr>
            <a:graphicFrameLocks noGrp="1"/>
          </p:cNvGraphicFramePr>
          <p:nvPr/>
        </p:nvGraphicFramePr>
        <p:xfrm>
          <a:off x="439738" y="1165225"/>
          <a:ext cx="8312150" cy="5095875"/>
        </p:xfrm>
        <a:graphic>
          <a:graphicData uri="http://schemas.openxmlformats.org/drawingml/2006/table">
            <a:tbl>
              <a:tblPr/>
              <a:tblGrid>
                <a:gridCol w="792162"/>
                <a:gridCol w="1579563"/>
                <a:gridCol w="1619250"/>
                <a:gridCol w="4321175"/>
              </a:tblGrid>
              <a:tr h="3810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C00000"/>
                          </a:solidFill>
                          <a:effectLst/>
                          <a:latin typeface="" charset="0"/>
                          <a:ea typeface="宋体" pitchFamily="2" charset="-122"/>
                          <a:sym typeface="Arial" pitchFamily="34" charset="0"/>
                        </a:rPr>
                        <a:t>缩写</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95E6B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C00000"/>
                          </a:solidFill>
                          <a:effectLst/>
                          <a:latin typeface="" charset="0"/>
                          <a:ea typeface="宋体" pitchFamily="2" charset="-122"/>
                          <a:sym typeface="Arial" pitchFamily="34" charset="0"/>
                        </a:rPr>
                        <a:t>英文</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95E6B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C00000"/>
                          </a:solidFill>
                          <a:effectLst/>
                          <a:latin typeface="" charset="0"/>
                          <a:ea typeface="宋体" pitchFamily="2" charset="-122"/>
                          <a:sym typeface="Arial" pitchFamily="34" charset="0"/>
                        </a:rPr>
                        <a:t>意义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95E6B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C00000"/>
                          </a:solidFill>
                          <a:effectLst/>
                          <a:latin typeface="" charset="0"/>
                          <a:ea typeface="宋体" pitchFamily="2" charset="-122"/>
                          <a:sym typeface="Arial" pitchFamily="34" charset="0"/>
                        </a:rPr>
                        <a:t>解释</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95E6BF"/>
                    </a:solidFill>
                  </a:tcPr>
                </a:tc>
              </a:tr>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A</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Attributable</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可追溯</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记录可追溯到人（操作者本人填写，代写要有程序支持，例如无菌操作）</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r>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L</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Legible</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清晰、易读</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整个生命周期内记录清晰可读（可辨认的、字迹清楚易读、</a:t>
                      </a:r>
                      <a:r>
                        <a:rPr kumimoji="0" lang="zh-CN" altLang="en-US" sz="1800" b="0" i="0" u="none" strike="noStrike" cap="none" normalizeH="0" baseline="0" smtClean="0">
                          <a:ln>
                            <a:noFill/>
                          </a:ln>
                          <a:solidFill>
                            <a:srgbClr val="F763F5"/>
                          </a:solidFill>
                          <a:effectLst/>
                          <a:latin typeface="" charset="0"/>
                          <a:ea typeface="宋体" pitchFamily="2" charset="-122"/>
                          <a:sym typeface="Arial" pitchFamily="34" charset="0"/>
                        </a:rPr>
                        <a:t>可理解</a:t>
                      </a: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等）</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r>
              <a:tr h="64135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C</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Contemporaneous</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同步</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记录与操作同步；禁止提前记录或事后补填记录。</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r>
              <a:tr h="3810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O</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Original</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原始、第一手</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原始记录或真实副本；禁止转抄</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r>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A</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Arial" pitchFamily="34" charset="0"/>
                          <a:ea typeface="宋体" pitchFamily="2" charset="-122"/>
                          <a:sym typeface="Arial" pitchFamily="34" charset="0"/>
                        </a:rPr>
                        <a:t>Accurate</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准确的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chemeClr val="tx1"/>
                          </a:solidFill>
                          <a:effectLst/>
                          <a:latin typeface="" charset="0"/>
                          <a:ea typeface="宋体" pitchFamily="2" charset="-122"/>
                          <a:sym typeface="Arial" pitchFamily="34" charset="0"/>
                        </a:rPr>
                        <a:t>与实际操作相一致，无主客造假和客观输入错误</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r>
              <a:tr h="3810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1E5ECD"/>
                          </a:solidFill>
                          <a:effectLst/>
                          <a:latin typeface="Arial" pitchFamily="34" charset="0"/>
                          <a:ea typeface="宋体" pitchFamily="2" charset="-122"/>
                          <a:sym typeface="Arial" pitchFamily="34" charset="0"/>
                        </a:rPr>
                        <a:t>C</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1E5ECD"/>
                          </a:solidFill>
                          <a:effectLst/>
                          <a:latin typeface="Arial" pitchFamily="34" charset="0"/>
                          <a:ea typeface="宋体" pitchFamily="2" charset="-122"/>
                          <a:sym typeface="Arial" pitchFamily="34" charset="0"/>
                        </a:rPr>
                        <a:t>Complete</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1E5ECD"/>
                          </a:solidFill>
                          <a:effectLst/>
                          <a:latin typeface="" charset="0"/>
                          <a:ea typeface="宋体" pitchFamily="2" charset="-122"/>
                          <a:sym typeface="Arial" pitchFamily="34" charset="0"/>
                        </a:rPr>
                        <a:t>完整</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1E5ECD"/>
                          </a:solidFill>
                          <a:effectLst/>
                          <a:latin typeface="" charset="0"/>
                          <a:ea typeface="宋体" pitchFamily="2" charset="-122"/>
                          <a:sym typeface="Arial" pitchFamily="34" charset="0"/>
                        </a:rPr>
                        <a:t>无遗漏（不缺项、也不缺相关内容）</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r>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1E5ECD"/>
                          </a:solidFill>
                          <a:effectLst/>
                          <a:latin typeface="Arial" pitchFamily="34" charset="0"/>
                          <a:ea typeface="宋体" pitchFamily="2" charset="-122"/>
                          <a:sym typeface="Arial" pitchFamily="34" charset="0"/>
                        </a:rPr>
                        <a:t>C</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1E5ECD"/>
                          </a:solidFill>
                          <a:effectLst/>
                          <a:latin typeface="Arial" pitchFamily="34" charset="0"/>
                          <a:ea typeface="宋体" pitchFamily="2" charset="-122"/>
                          <a:sym typeface="Arial" pitchFamily="34" charset="0"/>
                        </a:rPr>
                        <a:t>Consistent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1E5ECD"/>
                          </a:solidFill>
                          <a:effectLst/>
                          <a:latin typeface="" charset="0"/>
                          <a:ea typeface="宋体" pitchFamily="2" charset="-122"/>
                          <a:sym typeface="Arial" pitchFamily="34" charset="0"/>
                        </a:rPr>
                        <a:t>一致</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1E5ECD"/>
                          </a:solidFill>
                          <a:effectLst/>
                          <a:latin typeface="" charset="0"/>
                          <a:ea typeface="宋体" pitchFamily="2" charset="-122"/>
                          <a:sym typeface="Arial" pitchFamily="34" charset="0"/>
                        </a:rPr>
                        <a:t>与实际生成逻辑顺序一致（一致的；连续的；不矛盾的）</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r>
              <a:tr h="3810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1E5ECD"/>
                          </a:solidFill>
                          <a:effectLst/>
                          <a:latin typeface="Arial" pitchFamily="34" charset="0"/>
                          <a:ea typeface="宋体" pitchFamily="2" charset="-122"/>
                          <a:sym typeface="Arial" pitchFamily="34" charset="0"/>
                        </a:rPr>
                        <a:t>E</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1E5ECD"/>
                          </a:solidFill>
                          <a:effectLst/>
                          <a:latin typeface="Arial" pitchFamily="34" charset="0"/>
                          <a:ea typeface="宋体" pitchFamily="2" charset="-122"/>
                          <a:sym typeface="Arial" pitchFamily="34" charset="0"/>
                        </a:rPr>
                        <a:t>Enduring</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1E5ECD"/>
                          </a:solidFill>
                          <a:effectLst/>
                          <a:latin typeface="" charset="0"/>
                          <a:ea typeface="宋体" pitchFamily="2" charset="-122"/>
                          <a:sym typeface="Arial" pitchFamily="34" charset="0"/>
                        </a:rPr>
                        <a:t>长久、耐受</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1E5ECD"/>
                          </a:solidFill>
                          <a:effectLst/>
                          <a:latin typeface="" charset="0"/>
                          <a:ea typeface="宋体" pitchFamily="2" charset="-122"/>
                          <a:sym typeface="Arial" pitchFamily="34" charset="0"/>
                        </a:rPr>
                        <a:t>原始数据长久保持，不易删除和丢弃</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1E5ECD"/>
                          </a:solidFill>
                          <a:effectLst/>
                          <a:latin typeface="Arial" pitchFamily="34" charset="0"/>
                          <a:ea typeface="宋体" pitchFamily="2" charset="-122"/>
                          <a:sym typeface="Arial" pitchFamily="34" charset="0"/>
                        </a:rPr>
                        <a:t>A</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1E5ECD"/>
                          </a:solidFill>
                          <a:effectLst/>
                          <a:latin typeface="Arial" pitchFamily="34" charset="0"/>
                          <a:ea typeface="宋体" pitchFamily="2" charset="-122"/>
                          <a:sym typeface="Arial" pitchFamily="34" charset="0"/>
                        </a:rPr>
                        <a:t>Available</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1E5ECD"/>
                          </a:solidFill>
                          <a:effectLst/>
                          <a:latin typeface="" charset="0"/>
                          <a:ea typeface="宋体" pitchFamily="2" charset="-122"/>
                          <a:sym typeface="Arial" pitchFamily="34" charset="0"/>
                        </a:rPr>
                        <a:t>可获得</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1E5ECD"/>
                          </a:solidFill>
                          <a:effectLst/>
                          <a:latin typeface="" charset="0"/>
                          <a:ea typeface="宋体" pitchFamily="2" charset="-122"/>
                          <a:sym typeface="Arial" pitchFamily="34" charset="0"/>
                        </a:rPr>
                        <a:t>在审计时、写报告时、使用时，可调取</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noFill/>
                  </a:tcPr>
                </a:tc>
              </a:tr>
            </a:tbl>
          </a:graphicData>
        </a:graphic>
      </p:graphicFrame>
    </p:spTree>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标题 1"/>
          <p:cNvSpPr>
            <a:spLocks noGrp="1" noChangeArrowheads="1"/>
          </p:cNvSpPr>
          <p:nvPr/>
        </p:nvSpPr>
        <p:spPr bwMode="auto">
          <a:xfrm>
            <a:off x="2481263" y="-4763"/>
            <a:ext cx="53594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楷体" pitchFamily="49" charset="-122"/>
                <a:ea typeface="楷体" pitchFamily="49" charset="-122"/>
                <a:sym typeface="楷体" pitchFamily="49" charset="-122"/>
              </a:rPr>
              <a:t>第</a:t>
            </a:r>
            <a:r>
              <a:rPr lang="en-US" sz="2400" b="1">
                <a:solidFill>
                  <a:srgbClr val="FFFF00"/>
                </a:solidFill>
                <a:latin typeface="楷体" pitchFamily="49" charset="-122"/>
                <a:ea typeface="楷体" pitchFamily="49" charset="-122"/>
                <a:sym typeface="楷体" pitchFamily="49" charset="-122"/>
              </a:rPr>
              <a:t>5</a:t>
            </a:r>
            <a:r>
              <a:rPr lang="zh-CN" altLang="en-US" sz="2400" b="1">
                <a:solidFill>
                  <a:srgbClr val="FFFF00"/>
                </a:solidFill>
                <a:latin typeface="楷体" pitchFamily="49" charset="-122"/>
                <a:ea typeface="楷体" pitchFamily="49" charset="-122"/>
                <a:sym typeface="楷体" pitchFamily="49" charset="-122"/>
              </a:rPr>
              <a:t>节：电子记录和纸质记录的</a:t>
            </a:r>
            <a:r>
              <a:rPr lang="en-US" sz="2400" b="1">
                <a:solidFill>
                  <a:schemeClr val="bg1"/>
                </a:solidFill>
                <a:latin typeface="楷体" pitchFamily="49" charset="-122"/>
                <a:ea typeface="楷体" pitchFamily="49" charset="-122"/>
                <a:sym typeface="楷体" pitchFamily="49" charset="-122"/>
              </a:rPr>
              <a:t>DI</a:t>
            </a:r>
            <a:r>
              <a:rPr lang="zh-CN" altLang="en-US" sz="2400" b="1">
                <a:solidFill>
                  <a:schemeClr val="bg1"/>
                </a:solidFill>
                <a:latin typeface="楷体" pitchFamily="49" charset="-122"/>
                <a:ea typeface="楷体" pitchFamily="49" charset="-122"/>
                <a:sym typeface="楷体" pitchFamily="49" charset="-122"/>
              </a:rPr>
              <a:t>要求比较</a:t>
            </a:r>
            <a:r>
              <a:rPr lang="zh-CN" altLang="en-US" sz="2400" b="1">
                <a:solidFill>
                  <a:srgbClr val="FFFF00"/>
                </a:solidFill>
                <a:latin typeface="楷体" pitchFamily="49" charset="-122"/>
                <a:ea typeface="楷体" pitchFamily="49" charset="-122"/>
                <a:sym typeface="宋体" pitchFamily="2" charset="-122"/>
              </a:rPr>
              <a:t>与</a:t>
            </a:r>
            <a:r>
              <a:rPr lang="zh-CN" altLang="en-US" sz="2400" b="1">
                <a:solidFill>
                  <a:srgbClr val="FFFF00"/>
                </a:solidFill>
                <a:latin typeface="楷体" pitchFamily="49" charset="-122"/>
                <a:ea typeface="楷体" pitchFamily="49" charset="-122"/>
                <a:sym typeface="楷体" pitchFamily="49" charset="-122"/>
              </a:rPr>
              <a:t>不符合举例分析</a:t>
            </a:r>
            <a:endParaRPr lang="zh-CN" altLang="en-US" sz="2400" b="1">
              <a:solidFill>
                <a:schemeClr val="bg1"/>
              </a:solidFill>
              <a:latin typeface="楷体" pitchFamily="49" charset="-122"/>
              <a:ea typeface="楷体" pitchFamily="49" charset="-122"/>
              <a:sym typeface="楷体" pitchFamily="49" charset="-122"/>
            </a:endParaRPr>
          </a:p>
        </p:txBody>
      </p:sp>
      <p:graphicFrame>
        <p:nvGraphicFramePr>
          <p:cNvPr id="11267" name="表格 6"/>
          <p:cNvGraphicFramePr>
            <a:graphicFrameLocks noGrp="1"/>
          </p:cNvGraphicFramePr>
          <p:nvPr/>
        </p:nvGraphicFramePr>
        <p:xfrm>
          <a:off x="195263" y="995363"/>
          <a:ext cx="8761412" cy="5486400"/>
        </p:xfrm>
        <a:graphic>
          <a:graphicData uri="http://schemas.openxmlformats.org/drawingml/2006/table">
            <a:tbl>
              <a:tblPr/>
              <a:tblGrid>
                <a:gridCol w="2235200"/>
                <a:gridCol w="608012"/>
                <a:gridCol w="2058988"/>
                <a:gridCol w="3859212"/>
              </a:tblGrid>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 charset="0"/>
                          <a:ea typeface="宋体" pitchFamily="2" charset="-122"/>
                          <a:sym typeface="Arial" pitchFamily="34" charset="0"/>
                        </a:rPr>
                        <a:t>项目</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48999">
                          <a:srgbClr val="FFFFFF"/>
                        </a:gs>
                        <a:gs pos="100000">
                          <a:srgbClr val="FFC000"/>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 charset="0"/>
                          <a:ea typeface="宋体" pitchFamily="2" charset="-122"/>
                          <a:sym typeface="Arial" pitchFamily="34" charset="0"/>
                        </a:rPr>
                        <a:t>意义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48999">
                          <a:srgbClr val="FFFFFF"/>
                        </a:gs>
                        <a:gs pos="100000">
                          <a:srgbClr val="FFC000"/>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C00000"/>
                          </a:solidFill>
                          <a:effectLst/>
                          <a:latin typeface="" charset="0"/>
                          <a:ea typeface="宋体" pitchFamily="2" charset="-122"/>
                          <a:sym typeface="Arial" pitchFamily="34" charset="0"/>
                        </a:rPr>
                        <a:t>纸质记录</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GDP</a:t>
                      </a: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或</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DI</a:t>
                      </a: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要求</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48999">
                          <a:srgbClr val="FFFFFF"/>
                        </a:gs>
                        <a:gs pos="100000">
                          <a:srgbClr val="FFC000"/>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C00000"/>
                          </a:solidFill>
                          <a:effectLst/>
                          <a:latin typeface="" charset="0"/>
                          <a:ea typeface="宋体" pitchFamily="2" charset="-122"/>
                          <a:sym typeface="Arial" pitchFamily="34" charset="0"/>
                        </a:rPr>
                        <a:t>电子记录</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GDP</a:t>
                      </a: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或</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DI</a:t>
                      </a: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要求</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48999">
                          <a:srgbClr val="FFFFFF"/>
                        </a:gs>
                        <a:gs pos="100000">
                          <a:srgbClr val="FFC000"/>
                        </a:gs>
                      </a:gsLst>
                      <a:lin ang="5400000" scaled="1"/>
                    </a:gradFill>
                  </a:tcPr>
                </a:tc>
              </a:tr>
              <a:tr h="10668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Attributable</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可追溯的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使用设备仪器登记；记录时签名和日期；修改笔误时划线并签名等</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所有组的用户与管理员，登录后做了什么都能跟踪和记录（登录，创建、更改、删除数据等可由审计跟踪来完成）</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8239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L</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Legible</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清晰、易读的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字迹清楚；内容易读、可理解；事件发生的顺序清晰等；</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谁</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什么时间</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在什么地方</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做了什么等操作，在电脑中都有非常清晰的记录或都有痕迹（安装并开启审计跟踪）。</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10668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C</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Contemporaneous</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同步的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endParaRP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记录与操作同步；即不提前也不滞后等。</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endParaRP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仪器的每一步操作都会同步自动生成电子记录；实际操作与真实日期</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时间戳同步（严禁修改仪器的系统时间）。</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82232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O</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Original</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原始的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原始记录，禁止转抄记录等</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endParaRP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电子数据是原始的；设置权限防止人员修改或转移；有权限的人做了什么审计跟踪也不放过，也要记录。</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10668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Accurate</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准确的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与实际操作相一致，无造假（如用替代样品检测、粘贴图谱、挑好数据）等</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电子数据是正确、真实、有效、可靠的；所有实际操作活动都由计算机系统自动、准确、及时的记录；数据处理时确保原始数据被正确的引用或转化</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bl>
          </a:graphicData>
        </a:graphic>
      </p:graphicFrame>
    </p:spTree>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2290" name="表格 6"/>
          <p:cNvGraphicFramePr>
            <a:graphicFrameLocks noGrp="1"/>
          </p:cNvGraphicFramePr>
          <p:nvPr/>
        </p:nvGraphicFramePr>
        <p:xfrm>
          <a:off x="195263" y="1209675"/>
          <a:ext cx="8761412" cy="4906963"/>
        </p:xfrm>
        <a:graphic>
          <a:graphicData uri="http://schemas.openxmlformats.org/drawingml/2006/table">
            <a:tbl>
              <a:tblPr/>
              <a:tblGrid>
                <a:gridCol w="1689100"/>
                <a:gridCol w="798512"/>
                <a:gridCol w="2528888"/>
                <a:gridCol w="3744912"/>
              </a:tblGrid>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 charset="0"/>
                          <a:ea typeface="宋体" pitchFamily="2" charset="-122"/>
                          <a:sym typeface="Arial" pitchFamily="34" charset="0"/>
                        </a:rPr>
                        <a:t>项目</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46999">
                          <a:srgbClr val="FFFFFF"/>
                        </a:gs>
                        <a:gs pos="100000">
                          <a:srgbClr val="FFC000"/>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 charset="0"/>
                          <a:ea typeface="宋体" pitchFamily="2" charset="-122"/>
                          <a:sym typeface="Arial" pitchFamily="34" charset="0"/>
                        </a:rPr>
                        <a:t>意义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46999">
                          <a:srgbClr val="FFFFFF"/>
                        </a:gs>
                        <a:gs pos="100000">
                          <a:srgbClr val="FFC000"/>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C00000"/>
                          </a:solidFill>
                          <a:effectLst/>
                          <a:latin typeface="" charset="0"/>
                          <a:ea typeface="宋体" pitchFamily="2" charset="-122"/>
                          <a:sym typeface="Arial" pitchFamily="34" charset="0"/>
                        </a:rPr>
                        <a:t>纸质记录</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GDP</a:t>
                      </a: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或</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DI</a:t>
                      </a: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要求</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46999">
                          <a:srgbClr val="FFFFFF"/>
                        </a:gs>
                        <a:gs pos="100000">
                          <a:srgbClr val="FFC000"/>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C00000"/>
                          </a:solidFill>
                          <a:effectLst/>
                          <a:latin typeface="" charset="0"/>
                          <a:ea typeface="宋体" pitchFamily="2" charset="-122"/>
                          <a:sym typeface="Arial" pitchFamily="34" charset="0"/>
                        </a:rPr>
                        <a:t>电子记录</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GDP</a:t>
                      </a: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或</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DI</a:t>
                      </a: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要求</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46999">
                          <a:srgbClr val="FFFFFF"/>
                        </a:gs>
                        <a:gs pos="100000">
                          <a:srgbClr val="FFC000"/>
                        </a:gs>
                      </a:gsLst>
                      <a:lin ang="5400000" scaled="1"/>
                    </a:gradFill>
                  </a:tcPr>
                </a:tc>
              </a:tr>
              <a:tr h="10668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C</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endParaRP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t>
                      </a:r>
                      <a:r>
                        <a:rPr kumimoji="0" 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Complete</a:t>
                      </a:r>
                      <a:r>
                        <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完整的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无遗漏（不缺项、也不缺相关内容）例如分析天平称量条包括日期时间；</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产生的数据能全面重现整个过程；信息全面、无遗漏、不缺项；各种信息与数据之间相互关联。</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131127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C</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endParaRP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t>
                      </a:r>
                      <a:r>
                        <a:rPr kumimoji="0" 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Consistent</a:t>
                      </a:r>
                      <a:r>
                        <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一致的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日期书写格式、签名字体和药品名称等一致性；文件与法规或药典一致性；文件与记录的一致性；操作与记录的一致性等；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电子记录能保证纸张图谱</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电子数据</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系统日志</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审计追踪四者间的一致性和符合性。报告数据与真实数据一致。记录与实际生成逻辑顺序一致（时间连续；顺序连续）</a:t>
                      </a:r>
                      <a:endPar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endParaRP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10668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E</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endParaRP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t>
                      </a:r>
                      <a:r>
                        <a:rPr kumimoji="0" 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Enduring</a:t>
                      </a:r>
                      <a:r>
                        <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长久、耐受的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能长久保持，不易破坏，增加保护；规定纸质记录保持时间</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数据存储、检索、备份、恢复、输出能达到长久和耐受；例如规定电子文件存放有效期（例如光盘为</a:t>
                      </a:r>
                      <a:r>
                        <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5</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年）；对电子系统进行安全与稳定性验证</a:t>
                      </a:r>
                      <a:endParaRPr kumimoji="0" 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endParaRP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82232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t>
                      </a:r>
                      <a:r>
                        <a:rPr kumimoji="0" 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Available</a:t>
                      </a:r>
                      <a:r>
                        <a:rPr kumimoji="0" lang="zh-CN" altLang="en-US" sz="1600" b="0" i="0" u="none" strike="noStrike" cap="none" normalizeH="0" baseline="0" smtClean="0">
                          <a:ln>
                            <a:noFill/>
                          </a:ln>
                          <a:solidFill>
                            <a:schemeClr val="tx1"/>
                          </a:solidFill>
                          <a:effectLst/>
                          <a:latin typeface="楷体_GB2312" pitchFamily="1" charset="-122"/>
                          <a:ea typeface="楷体_GB2312" pitchFamily="1" charset="-122"/>
                          <a:sym typeface="楷体_GB2312" pitchFamily="1" charset="-122"/>
                        </a:rPr>
                        <a:t>）</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可获得的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在审计时或写报告使用时，可调取纸质记录</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检查时或使用时可调取电子记录（包括仪器硬盘，备份硬盘与光盘等）；已备份的电子数据可打开并查阅</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bl>
          </a:graphicData>
        </a:graphic>
      </p:graphicFrame>
      <p:sp>
        <p:nvSpPr>
          <p:cNvPr id="12322" name="标题 1"/>
          <p:cNvSpPr>
            <a:spLocks noGrp="1" noChangeArrowheads="1"/>
          </p:cNvSpPr>
          <p:nvPr/>
        </p:nvSpPr>
        <p:spPr bwMode="auto">
          <a:xfrm>
            <a:off x="2481263" y="-4763"/>
            <a:ext cx="53594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楷体" pitchFamily="49" charset="-122"/>
                <a:ea typeface="楷体" pitchFamily="49" charset="-122"/>
                <a:sym typeface="楷体" pitchFamily="49" charset="-122"/>
              </a:rPr>
              <a:t>第</a:t>
            </a:r>
            <a:r>
              <a:rPr lang="en-US" sz="2400" b="1">
                <a:solidFill>
                  <a:srgbClr val="FFFF00"/>
                </a:solidFill>
                <a:latin typeface="楷体" pitchFamily="49" charset="-122"/>
                <a:ea typeface="楷体" pitchFamily="49" charset="-122"/>
                <a:sym typeface="楷体" pitchFamily="49" charset="-122"/>
              </a:rPr>
              <a:t>5</a:t>
            </a:r>
            <a:r>
              <a:rPr lang="zh-CN" altLang="en-US" sz="2400" b="1">
                <a:solidFill>
                  <a:srgbClr val="FFFF00"/>
                </a:solidFill>
                <a:latin typeface="楷体" pitchFamily="49" charset="-122"/>
                <a:ea typeface="楷体" pitchFamily="49" charset="-122"/>
                <a:sym typeface="楷体" pitchFamily="49" charset="-122"/>
              </a:rPr>
              <a:t>节：电子记录和纸质记录的</a:t>
            </a:r>
            <a:r>
              <a:rPr lang="en-US" sz="2400" b="1">
                <a:solidFill>
                  <a:schemeClr val="bg1"/>
                </a:solidFill>
                <a:latin typeface="楷体" pitchFamily="49" charset="-122"/>
                <a:ea typeface="楷体" pitchFamily="49" charset="-122"/>
                <a:sym typeface="楷体" pitchFamily="49" charset="-122"/>
              </a:rPr>
              <a:t>DI</a:t>
            </a:r>
            <a:r>
              <a:rPr lang="zh-CN" altLang="en-US" sz="2400" b="1">
                <a:solidFill>
                  <a:schemeClr val="bg1"/>
                </a:solidFill>
                <a:latin typeface="楷体" pitchFamily="49" charset="-122"/>
                <a:ea typeface="楷体" pitchFamily="49" charset="-122"/>
                <a:sym typeface="楷体" pitchFamily="49" charset="-122"/>
              </a:rPr>
              <a:t>要求比较</a:t>
            </a:r>
            <a:r>
              <a:rPr lang="zh-CN" altLang="en-US" sz="2400" b="1">
                <a:solidFill>
                  <a:srgbClr val="FFFF00"/>
                </a:solidFill>
                <a:latin typeface="楷体" pitchFamily="49" charset="-122"/>
                <a:ea typeface="楷体" pitchFamily="49" charset="-122"/>
                <a:sym typeface="宋体" pitchFamily="2" charset="-122"/>
              </a:rPr>
              <a:t>与</a:t>
            </a:r>
            <a:r>
              <a:rPr lang="zh-CN" altLang="en-US" sz="2400" b="1">
                <a:solidFill>
                  <a:srgbClr val="FFFF00"/>
                </a:solidFill>
                <a:latin typeface="楷体" pitchFamily="49" charset="-122"/>
                <a:ea typeface="楷体" pitchFamily="49" charset="-122"/>
                <a:sym typeface="楷体" pitchFamily="49" charset="-122"/>
              </a:rPr>
              <a:t>不符合举例分析</a:t>
            </a:r>
            <a:endParaRPr lang="zh-CN" altLang="en-US" sz="2400" b="1">
              <a:solidFill>
                <a:schemeClr val="bg1"/>
              </a:solidFill>
              <a:latin typeface="楷体" pitchFamily="49" charset="-122"/>
              <a:ea typeface="楷体" pitchFamily="49" charset="-122"/>
              <a:sym typeface="楷体" pitchFamily="49" charset="-122"/>
            </a:endParaRPr>
          </a:p>
        </p:txBody>
      </p:sp>
    </p:spTree>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314" name="表格 6"/>
          <p:cNvGraphicFramePr>
            <a:graphicFrameLocks noGrp="1"/>
          </p:cNvGraphicFramePr>
          <p:nvPr/>
        </p:nvGraphicFramePr>
        <p:xfrm>
          <a:off x="195263" y="1209675"/>
          <a:ext cx="8761412" cy="5159375"/>
        </p:xfrm>
        <a:graphic>
          <a:graphicData uri="http://schemas.openxmlformats.org/drawingml/2006/table">
            <a:tbl>
              <a:tblPr/>
              <a:tblGrid>
                <a:gridCol w="647700"/>
                <a:gridCol w="963612"/>
                <a:gridCol w="3036888"/>
                <a:gridCol w="4113212"/>
              </a:tblGrid>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 charset="0"/>
                          <a:ea typeface="宋体" pitchFamily="2" charset="-122"/>
                          <a:sym typeface="Arial" pitchFamily="34" charset="0"/>
                        </a:rPr>
                        <a:t>项目</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B1EFF7"/>
                        </a:gs>
                        <a:gs pos="50000">
                          <a:srgbClr val="FFFFFF"/>
                        </a:gs>
                        <a:gs pos="100000">
                          <a:srgbClr val="62DFEE"/>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 charset="0"/>
                          <a:ea typeface="宋体" pitchFamily="2" charset="-122"/>
                          <a:sym typeface="Arial" pitchFamily="34" charset="0"/>
                        </a:rPr>
                        <a:t>意义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B1EFF7"/>
                        </a:gs>
                        <a:gs pos="50000">
                          <a:srgbClr val="FFFFFF"/>
                        </a:gs>
                        <a:gs pos="100000">
                          <a:srgbClr val="62DFEE"/>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C00000"/>
                          </a:solidFill>
                          <a:effectLst/>
                          <a:latin typeface="" charset="0"/>
                          <a:ea typeface="宋体" pitchFamily="2" charset="-122"/>
                          <a:sym typeface="Arial" pitchFamily="34" charset="0"/>
                        </a:rPr>
                        <a:t>纸质记录</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Arial" pitchFamily="34" charset="0"/>
                          <a:ea typeface="宋体" pitchFamily="2" charset="-122"/>
                          <a:sym typeface="Arial" pitchFamily="34" charset="0"/>
                        </a:rPr>
                        <a:t>不符合</a:t>
                      </a:r>
                      <a:r>
                        <a:rPr kumimoji="0" lang="en-US" sz="1800" b="1" i="0" u="none" strike="noStrike" cap="none" normalizeH="0" baseline="0" smtClean="0">
                          <a:ln>
                            <a:noFill/>
                          </a:ln>
                          <a:solidFill>
                            <a:srgbClr val="0070C0"/>
                          </a:solidFill>
                          <a:effectLst/>
                          <a:latin typeface="Arial" pitchFamily="34" charset="0"/>
                          <a:ea typeface="宋体" pitchFamily="2" charset="-122"/>
                          <a:sym typeface="Arial" pitchFamily="34" charset="0"/>
                        </a:rPr>
                        <a:t>DI</a:t>
                      </a:r>
                      <a:r>
                        <a:rPr kumimoji="0" lang="zh-CN" altLang="en-US" sz="1800" b="1" i="0" u="none" strike="noStrike" cap="none" normalizeH="0" baseline="0" smtClean="0">
                          <a:ln>
                            <a:noFill/>
                          </a:ln>
                          <a:solidFill>
                            <a:srgbClr val="0070C0"/>
                          </a:solidFill>
                          <a:effectLst/>
                          <a:latin typeface="Arial" pitchFamily="34" charset="0"/>
                          <a:ea typeface="宋体" pitchFamily="2" charset="-122"/>
                          <a:sym typeface="Arial" pitchFamily="34" charset="0"/>
                        </a:rPr>
                        <a:t>原则举例</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B1EFF7"/>
                        </a:gs>
                        <a:gs pos="50000">
                          <a:srgbClr val="FFFFFF"/>
                        </a:gs>
                        <a:gs pos="100000">
                          <a:srgbClr val="62DFEE"/>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C00000"/>
                          </a:solidFill>
                          <a:effectLst/>
                          <a:latin typeface="" charset="0"/>
                          <a:ea typeface="宋体" pitchFamily="2" charset="-122"/>
                          <a:sym typeface="Arial" pitchFamily="34" charset="0"/>
                        </a:rPr>
                        <a:t>电子记录</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Arial" pitchFamily="34" charset="0"/>
                          <a:ea typeface="宋体" pitchFamily="2" charset="-122"/>
                          <a:cs typeface="Arial" pitchFamily="34" charset="0"/>
                          <a:sym typeface="宋体" pitchFamily="2" charset="-122"/>
                        </a:rPr>
                        <a:t>不符合</a:t>
                      </a:r>
                      <a:r>
                        <a:rPr kumimoji="0" lang="en-US" sz="1800" b="1" i="0" u="none" strike="noStrike" cap="none" normalizeH="0" baseline="0" smtClean="0">
                          <a:ln>
                            <a:noFill/>
                          </a:ln>
                          <a:solidFill>
                            <a:srgbClr val="0070C0"/>
                          </a:solidFill>
                          <a:effectLst/>
                          <a:latin typeface="Arial" pitchFamily="34" charset="0"/>
                          <a:ea typeface="宋体" pitchFamily="2" charset="-122"/>
                          <a:cs typeface="Arial" pitchFamily="34" charset="0"/>
                          <a:sym typeface="宋体" pitchFamily="2" charset="-122"/>
                        </a:rPr>
                        <a:t>DI</a:t>
                      </a:r>
                      <a:r>
                        <a:rPr kumimoji="0" lang="zh-CN" altLang="en-US" sz="1800" b="1" i="0" u="none" strike="noStrike" cap="none" normalizeH="0" baseline="0" smtClean="0">
                          <a:ln>
                            <a:noFill/>
                          </a:ln>
                          <a:solidFill>
                            <a:srgbClr val="0070C0"/>
                          </a:solidFill>
                          <a:effectLst/>
                          <a:latin typeface="Arial" pitchFamily="34" charset="0"/>
                          <a:ea typeface="宋体" pitchFamily="2" charset="-122"/>
                          <a:cs typeface="Arial" pitchFamily="34" charset="0"/>
                          <a:sym typeface="宋体" pitchFamily="2" charset="-122"/>
                        </a:rPr>
                        <a:t>原则举例</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B1EFF7"/>
                        </a:gs>
                        <a:gs pos="50000">
                          <a:srgbClr val="FFFFFF"/>
                        </a:gs>
                        <a:gs pos="100000">
                          <a:srgbClr val="62DFEE"/>
                        </a:gs>
                      </a:gsLst>
                      <a:lin ang="5400000" scaled="1"/>
                    </a:gradFill>
                  </a:tcPr>
                </a:tc>
              </a:tr>
              <a:tr h="9525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C00000"/>
                          </a:solidFill>
                          <a:effectLst/>
                          <a:latin typeface="Arial" pitchFamily="34" charset="0"/>
                          <a:ea typeface="宋体" pitchFamily="2" charset="-122"/>
                          <a:sym typeface="Arial" pitchFamily="34" charset="0"/>
                        </a:rPr>
                        <a:t>A</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51999">
                          <a:srgbClr val="FFFFFF"/>
                        </a:gs>
                        <a:gs pos="100000">
                          <a:srgbClr val="FFC000"/>
                        </a:gs>
                      </a:gsLst>
                      <a:lin ang="540000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可追溯</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丢失记录，记录没有编号和页码，使用修正液；用铅笔记录等；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共享登录账号或用公用权限登陆，用他人权限登陆；登陆密码泄露；关闭审计追踪，数据丢失等</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84137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C00000"/>
                          </a:solidFill>
                          <a:effectLst/>
                          <a:latin typeface="Arial" pitchFamily="34" charset="0"/>
                          <a:ea typeface="宋体" pitchFamily="2" charset="-122"/>
                          <a:sym typeface="Arial" pitchFamily="34" charset="0"/>
                        </a:rPr>
                        <a:t>L</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51999">
                          <a:srgbClr val="FFFFFF"/>
                        </a:gs>
                        <a:gs pos="100000">
                          <a:srgbClr val="FFC000"/>
                        </a:gs>
                      </a:gsLst>
                      <a:lin ang="540000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清晰、易读</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潦草、看不清、看不懂、覆盖、涂抹等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文件、记录和录像等</a:t>
                      </a:r>
                      <a:r>
                        <a:rPr kumimoji="0" lang="zh-CN" altLang="en-US" sz="1600" b="0" i="0" u="none" strike="noStrike" cap="none" normalizeH="0" baseline="0" smtClean="0">
                          <a:ln>
                            <a:noFill/>
                          </a:ln>
                          <a:solidFill>
                            <a:srgbClr val="F763F5"/>
                          </a:solidFill>
                          <a:effectLst/>
                          <a:latin typeface="楷体_GB2312" pitchFamily="1" charset="-122"/>
                          <a:ea typeface="楷体_GB2312" pitchFamily="1" charset="-122"/>
                          <a:sym typeface="楷体_GB2312" pitchFamily="1" charset="-122"/>
                        </a:rPr>
                        <a:t>打不开</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或出现乱码；覆盖、重命名、移动数据等</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5794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C00000"/>
                          </a:solidFill>
                          <a:effectLst/>
                          <a:latin typeface="Arial" pitchFamily="34" charset="0"/>
                          <a:ea typeface="宋体" pitchFamily="2" charset="-122"/>
                          <a:sym typeface="Arial" pitchFamily="34" charset="0"/>
                        </a:rPr>
                        <a:t>C</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51999">
                          <a:srgbClr val="FFFFFF"/>
                        </a:gs>
                        <a:gs pos="100000">
                          <a:srgbClr val="FFC000"/>
                        </a:gs>
                      </a:gsLst>
                      <a:lin ang="540000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同步</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不及时记录、第二天记录，提前记录等；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修订系统日期和时间后操作；修订时区后操作；</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70802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C00000"/>
                          </a:solidFill>
                          <a:effectLst/>
                          <a:latin typeface="Arial" pitchFamily="34" charset="0"/>
                          <a:ea typeface="宋体" pitchFamily="2" charset="-122"/>
                          <a:sym typeface="Arial" pitchFamily="34" charset="0"/>
                        </a:rPr>
                        <a:t>O</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51999">
                          <a:srgbClr val="FFFFFF"/>
                        </a:gs>
                        <a:gs pos="100000">
                          <a:srgbClr val="FFC000"/>
                        </a:gs>
                      </a:gsLst>
                      <a:lin ang="540000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原始、第一手</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转抄记录（记在废纸上；记在包装上等）；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重新积分后删除原数据；</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143827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C00000"/>
                          </a:solidFill>
                          <a:effectLst/>
                          <a:latin typeface="Arial" pitchFamily="34" charset="0"/>
                          <a:ea typeface="宋体" pitchFamily="2" charset="-122"/>
                          <a:sym typeface="Arial" pitchFamily="34" charset="0"/>
                        </a:rPr>
                        <a:t>A</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51999">
                          <a:srgbClr val="FFFFFF"/>
                        </a:gs>
                        <a:gs pos="100000">
                          <a:srgbClr val="FFC000"/>
                        </a:gs>
                      </a:gsLst>
                      <a:lin ang="540000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准确的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挑选数据、用替代样品检测、造假（工艺、生产地址、人员、打印图谱与电子图谱不一致、记录数据与仪表显示读书不一致、与实际操作过程不一致等）；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数据不正确、不真实；例如试针、检验直到合格、不报告不合格数据；删除、覆盖或者丢弃不想要的数据；采取替代样品检测；使用专业工具或仪器软件修订数据；数据转移时出错等</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bl>
          </a:graphicData>
        </a:graphic>
      </p:graphicFrame>
      <p:sp>
        <p:nvSpPr>
          <p:cNvPr id="13351" name="标题 1"/>
          <p:cNvSpPr>
            <a:spLocks noGrp="1" noChangeArrowheads="1"/>
          </p:cNvSpPr>
          <p:nvPr/>
        </p:nvSpPr>
        <p:spPr bwMode="auto">
          <a:xfrm>
            <a:off x="2481263" y="-4763"/>
            <a:ext cx="53594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楷体" pitchFamily="49" charset="-122"/>
                <a:ea typeface="楷体" pitchFamily="49" charset="-122"/>
                <a:sym typeface="楷体" pitchFamily="49" charset="-122"/>
              </a:rPr>
              <a:t>第</a:t>
            </a:r>
            <a:r>
              <a:rPr lang="en-US" sz="2400" b="1">
                <a:solidFill>
                  <a:srgbClr val="FFFF00"/>
                </a:solidFill>
                <a:latin typeface="楷体" pitchFamily="49" charset="-122"/>
                <a:ea typeface="楷体" pitchFamily="49" charset="-122"/>
                <a:sym typeface="楷体" pitchFamily="49" charset="-122"/>
              </a:rPr>
              <a:t>5</a:t>
            </a:r>
            <a:r>
              <a:rPr lang="zh-CN" altLang="en-US" sz="2400" b="1">
                <a:solidFill>
                  <a:srgbClr val="FFFF00"/>
                </a:solidFill>
                <a:latin typeface="楷体" pitchFamily="49" charset="-122"/>
                <a:ea typeface="楷体" pitchFamily="49" charset="-122"/>
                <a:sym typeface="楷体" pitchFamily="49" charset="-122"/>
              </a:rPr>
              <a:t>节：电子记录和纸质记录的DI要求比较</a:t>
            </a:r>
            <a:r>
              <a:rPr lang="zh-CN" altLang="en-US" sz="2400" b="1">
                <a:solidFill>
                  <a:srgbClr val="FFFF00"/>
                </a:solidFill>
                <a:latin typeface="楷体" pitchFamily="49" charset="-122"/>
                <a:ea typeface="楷体" pitchFamily="49" charset="-122"/>
                <a:sym typeface="宋体" pitchFamily="2" charset="-122"/>
              </a:rPr>
              <a:t>与</a:t>
            </a:r>
            <a:r>
              <a:rPr lang="zh-CN" altLang="en-US" sz="2400" b="1">
                <a:solidFill>
                  <a:schemeClr val="bg1"/>
                </a:solidFill>
                <a:latin typeface="楷体" pitchFamily="49" charset="-122"/>
                <a:ea typeface="楷体" pitchFamily="49" charset="-122"/>
                <a:sym typeface="楷体" pitchFamily="49" charset="-122"/>
              </a:rPr>
              <a:t>不符合举例分析</a:t>
            </a:r>
          </a:p>
        </p:txBody>
      </p:sp>
    </p:spTree>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4338" name="表格 6"/>
          <p:cNvGraphicFramePr>
            <a:graphicFrameLocks noGrp="1"/>
          </p:cNvGraphicFramePr>
          <p:nvPr/>
        </p:nvGraphicFramePr>
        <p:xfrm>
          <a:off x="195263" y="1209675"/>
          <a:ext cx="8761412" cy="4549775"/>
        </p:xfrm>
        <a:graphic>
          <a:graphicData uri="http://schemas.openxmlformats.org/drawingml/2006/table">
            <a:tbl>
              <a:tblPr/>
              <a:tblGrid>
                <a:gridCol w="647700"/>
                <a:gridCol w="963612"/>
                <a:gridCol w="4268788"/>
                <a:gridCol w="2881312"/>
              </a:tblGrid>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 charset="0"/>
                          <a:ea typeface="宋体" pitchFamily="2" charset="-122"/>
                          <a:sym typeface="Arial" pitchFamily="34" charset="0"/>
                        </a:rPr>
                        <a:t>项目</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62DFEE"/>
                        </a:gs>
                        <a:gs pos="50000">
                          <a:srgbClr val="FFFFFF"/>
                        </a:gs>
                        <a:gs pos="100000">
                          <a:srgbClr val="62DFEE"/>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 charset="0"/>
                          <a:ea typeface="宋体" pitchFamily="2" charset="-122"/>
                          <a:sym typeface="Arial" pitchFamily="34" charset="0"/>
                        </a:rPr>
                        <a:t>意义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62DFEE"/>
                        </a:gs>
                        <a:gs pos="50000">
                          <a:srgbClr val="FFFFFF"/>
                        </a:gs>
                        <a:gs pos="100000">
                          <a:srgbClr val="62DFEE"/>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C00000"/>
                          </a:solidFill>
                          <a:effectLst/>
                          <a:latin typeface="" charset="0"/>
                          <a:ea typeface="宋体" pitchFamily="2" charset="-122"/>
                          <a:sym typeface="Arial" pitchFamily="34" charset="0"/>
                        </a:rPr>
                        <a:t>纸质记录</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Arial" pitchFamily="34" charset="0"/>
                          <a:ea typeface="宋体" pitchFamily="2" charset="-122"/>
                          <a:sym typeface="Arial" pitchFamily="34" charset="0"/>
                        </a:rPr>
                        <a:t>不符合</a:t>
                      </a:r>
                      <a:r>
                        <a:rPr kumimoji="0" lang="en-US" sz="1800" b="1" i="0" u="none" strike="noStrike" cap="none" normalizeH="0" baseline="0" smtClean="0">
                          <a:ln>
                            <a:noFill/>
                          </a:ln>
                          <a:solidFill>
                            <a:srgbClr val="0070C0"/>
                          </a:solidFill>
                          <a:effectLst/>
                          <a:latin typeface="Arial" pitchFamily="34" charset="0"/>
                          <a:ea typeface="宋体" pitchFamily="2" charset="-122"/>
                          <a:sym typeface="Arial" pitchFamily="34" charset="0"/>
                        </a:rPr>
                        <a:t>DI</a:t>
                      </a:r>
                      <a:r>
                        <a:rPr kumimoji="0" lang="zh-CN" altLang="en-US" sz="1800" b="1" i="0" u="none" strike="noStrike" cap="none" normalizeH="0" baseline="0" smtClean="0">
                          <a:ln>
                            <a:noFill/>
                          </a:ln>
                          <a:solidFill>
                            <a:srgbClr val="0070C0"/>
                          </a:solidFill>
                          <a:effectLst/>
                          <a:latin typeface="Arial" pitchFamily="34" charset="0"/>
                          <a:ea typeface="宋体" pitchFamily="2" charset="-122"/>
                          <a:sym typeface="Arial" pitchFamily="34" charset="0"/>
                        </a:rPr>
                        <a:t>原则举例</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62DFEE"/>
                        </a:gs>
                        <a:gs pos="50000">
                          <a:srgbClr val="FFFFFF"/>
                        </a:gs>
                        <a:gs pos="100000">
                          <a:srgbClr val="62DFEE"/>
                        </a:gs>
                      </a:gsLst>
                      <a:lin ang="54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C00000"/>
                          </a:solidFill>
                          <a:effectLst/>
                          <a:latin typeface="" charset="0"/>
                          <a:ea typeface="宋体" pitchFamily="2" charset="-122"/>
                          <a:sym typeface="Arial" pitchFamily="34" charset="0"/>
                        </a:rPr>
                        <a:t>电子记录</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Arial" pitchFamily="34" charset="0"/>
                          <a:ea typeface="宋体" pitchFamily="2" charset="-122"/>
                          <a:cs typeface="Arial" pitchFamily="34" charset="0"/>
                          <a:sym typeface="宋体" pitchFamily="2" charset="-122"/>
                        </a:rPr>
                        <a:t>不符合</a:t>
                      </a:r>
                      <a:r>
                        <a:rPr kumimoji="0" lang="en-US" sz="1800" b="1" i="0" u="none" strike="noStrike" cap="none" normalizeH="0" baseline="0" smtClean="0">
                          <a:ln>
                            <a:noFill/>
                          </a:ln>
                          <a:solidFill>
                            <a:srgbClr val="0070C0"/>
                          </a:solidFill>
                          <a:effectLst/>
                          <a:latin typeface="Arial" pitchFamily="34" charset="0"/>
                          <a:ea typeface="宋体" pitchFamily="2" charset="-122"/>
                          <a:cs typeface="Arial" pitchFamily="34" charset="0"/>
                          <a:sym typeface="宋体" pitchFamily="2" charset="-122"/>
                        </a:rPr>
                        <a:t>DI</a:t>
                      </a:r>
                      <a:r>
                        <a:rPr kumimoji="0" lang="zh-CN" altLang="en-US" sz="1800" b="1" i="0" u="none" strike="noStrike" cap="none" normalizeH="0" baseline="0" smtClean="0">
                          <a:ln>
                            <a:noFill/>
                          </a:ln>
                          <a:solidFill>
                            <a:srgbClr val="0070C0"/>
                          </a:solidFill>
                          <a:effectLst/>
                          <a:latin typeface="Arial" pitchFamily="34" charset="0"/>
                          <a:ea typeface="宋体" pitchFamily="2" charset="-122"/>
                          <a:cs typeface="Arial" pitchFamily="34" charset="0"/>
                          <a:sym typeface="宋体" pitchFamily="2" charset="-122"/>
                        </a:rPr>
                        <a:t>原则举例</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62DFEE"/>
                        </a:gs>
                        <a:gs pos="50000">
                          <a:srgbClr val="FFFFFF"/>
                        </a:gs>
                        <a:gs pos="100000">
                          <a:srgbClr val="62DFEE"/>
                        </a:gs>
                      </a:gsLst>
                      <a:lin ang="5400000" scaled="1"/>
                    </a:gradFill>
                  </a:tcPr>
                </a:tc>
              </a:tr>
              <a:tr h="9525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C00000"/>
                          </a:solidFill>
                          <a:effectLst/>
                          <a:latin typeface="Arial" pitchFamily="34" charset="0"/>
                          <a:ea typeface="宋体" pitchFamily="2" charset="-122"/>
                          <a:sym typeface="Arial" pitchFamily="34" charset="0"/>
                        </a:rPr>
                        <a:t>C</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53000">
                          <a:srgbClr val="FFFFFF"/>
                        </a:gs>
                        <a:gs pos="100000">
                          <a:srgbClr val="FFC000"/>
                        </a:gs>
                      </a:gsLst>
                      <a:lin ang="540000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完整的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数据缺少最基本的内容，无法追溯与评估；不打印称量条等或打印称量条但是没有日期与时间；</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关闭审计追踪等；删除数据或序列；数据丢失；</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131127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C00000"/>
                          </a:solidFill>
                          <a:effectLst/>
                          <a:latin typeface="Arial" pitchFamily="34" charset="0"/>
                          <a:ea typeface="宋体" pitchFamily="2" charset="-122"/>
                          <a:sym typeface="Arial" pitchFamily="34" charset="0"/>
                        </a:rPr>
                        <a:t>C</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53000">
                          <a:srgbClr val="FFFFFF"/>
                        </a:gs>
                        <a:gs pos="100000">
                          <a:srgbClr val="FFC000"/>
                        </a:gs>
                      </a:gsLst>
                      <a:lin ang="540000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一致的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日期书写格式、签名字体和药品名称等不一致性；文件与法规或药典不一致性；文件与记录的不一致性；操作与记录的不一致性等；伪造数据；报告数据与真实数据不一致等；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电子数据与纸张图谱、系统日志和审计追踪等不一致，报告数据与真实数据不一致；用替代样品得到合格电子记录等；</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5794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C00000"/>
                          </a:solidFill>
                          <a:effectLst/>
                          <a:latin typeface="Arial" pitchFamily="34" charset="0"/>
                          <a:ea typeface="宋体" pitchFamily="2" charset="-122"/>
                          <a:sym typeface="Arial" pitchFamily="34" charset="0"/>
                        </a:rPr>
                        <a:t>E</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53000">
                          <a:srgbClr val="FFFFFF"/>
                        </a:gs>
                        <a:gs pos="100000">
                          <a:srgbClr val="FFC000"/>
                        </a:gs>
                      </a:gsLst>
                      <a:lin ang="540000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长久、耐受的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用铅笔写记录、用热敏纸记录后褪色；记录在有效期内不可用（贮存不当被破坏）等；</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光盘</a:t>
                      </a:r>
                      <a:r>
                        <a:rPr kumimoji="0" lang="zh-CN" altLang="en-US" sz="1600" b="0" i="0" u="none" strike="noStrike" cap="none" normalizeH="0" baseline="0" smtClean="0">
                          <a:ln>
                            <a:noFill/>
                          </a:ln>
                          <a:solidFill>
                            <a:srgbClr val="F763F5"/>
                          </a:solidFill>
                          <a:effectLst/>
                          <a:latin typeface="楷体_GB2312" pitchFamily="1" charset="-122"/>
                          <a:ea typeface="楷体_GB2312" pitchFamily="1" charset="-122"/>
                          <a:sym typeface="楷体_GB2312" pitchFamily="1" charset="-122"/>
                        </a:rPr>
                        <a:t>打不开</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等；没有备份以保证灾难性恢复；</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10668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C00000"/>
                          </a:solidFill>
                          <a:effectLst/>
                          <a:latin typeface="Arial" pitchFamily="34" charset="0"/>
                          <a:ea typeface="宋体" pitchFamily="2" charset="-122"/>
                          <a:sym typeface="Arial" pitchFamily="34" charset="0"/>
                        </a:rPr>
                        <a:t>A</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gradFill rotWithShape="0">
                      <a:gsLst>
                        <a:gs pos="0">
                          <a:srgbClr val="FFC000"/>
                        </a:gs>
                        <a:gs pos="53000">
                          <a:srgbClr val="FFFFFF"/>
                        </a:gs>
                        <a:gs pos="100000">
                          <a:srgbClr val="FFC000"/>
                        </a:gs>
                      </a:gsLst>
                      <a:lin ang="540000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可获得的</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检查时或使用时纸版记录找不到；存放记录没有专人管理或没有专门房间与设备；没建立目录方便调阅。</a:t>
                      </a:r>
                    </a:p>
                  </a:txBody>
                  <a:tcPr anchor="ctr" anchorCtr="1"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检查时或使用时找不到电子数据，没有定期备份</a:t>
                      </a:r>
                      <a:r>
                        <a:rPr kumimoji="0" lang="zh-CN" altLang="en-US" sz="1600" b="0" i="0" u="none" strike="noStrike" cap="none" normalizeH="0" baseline="0" smtClean="0">
                          <a:ln>
                            <a:noFill/>
                          </a:ln>
                          <a:solidFill>
                            <a:srgbClr val="F763F5"/>
                          </a:solidFill>
                          <a:effectLst/>
                          <a:latin typeface="楷体_GB2312" pitchFamily="1" charset="-122"/>
                          <a:ea typeface="楷体_GB2312" pitchFamily="1" charset="-122"/>
                          <a:sym typeface="楷体_GB2312" pitchFamily="1" charset="-122"/>
                        </a:rPr>
                        <a:t>异地保存</a:t>
                      </a:r>
                      <a:r>
                        <a:rPr kumimoji="0" lang="zh-CN" altLang="en-US" sz="1600" b="0" i="0" u="none" strike="noStrike" cap="none" normalizeH="0" baseline="0" smtClean="0">
                          <a:ln>
                            <a:noFill/>
                          </a:ln>
                          <a:solidFill>
                            <a:srgbClr val="000000"/>
                          </a:solidFill>
                          <a:effectLst/>
                          <a:latin typeface="楷体_GB2312" pitchFamily="1" charset="-122"/>
                          <a:ea typeface="楷体_GB2312" pitchFamily="1" charset="-122"/>
                          <a:sym typeface="楷体_GB2312" pitchFamily="1" charset="-122"/>
                        </a:rPr>
                        <a:t>；没有对电子数据设置安全的储存归档区域</a:t>
                      </a:r>
                    </a:p>
                  </a:txBody>
                  <a:tcP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bl>
          </a:graphicData>
        </a:graphic>
      </p:graphicFrame>
      <p:sp>
        <p:nvSpPr>
          <p:cNvPr id="14370" name="标题 1"/>
          <p:cNvSpPr>
            <a:spLocks noGrp="1" noChangeArrowheads="1"/>
          </p:cNvSpPr>
          <p:nvPr/>
        </p:nvSpPr>
        <p:spPr bwMode="auto">
          <a:xfrm>
            <a:off x="2481263" y="-4763"/>
            <a:ext cx="53594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楷体" pitchFamily="49" charset="-122"/>
                <a:ea typeface="楷体" pitchFamily="49" charset="-122"/>
                <a:sym typeface="楷体" pitchFamily="49" charset="-122"/>
              </a:rPr>
              <a:t>第</a:t>
            </a:r>
            <a:r>
              <a:rPr lang="en-US" sz="2400" b="1">
                <a:solidFill>
                  <a:srgbClr val="FFFF00"/>
                </a:solidFill>
                <a:latin typeface="楷体" pitchFamily="49" charset="-122"/>
                <a:ea typeface="楷体" pitchFamily="49" charset="-122"/>
                <a:sym typeface="楷体" pitchFamily="49" charset="-122"/>
              </a:rPr>
              <a:t>5</a:t>
            </a:r>
            <a:r>
              <a:rPr lang="zh-CN" altLang="en-US" sz="2400" b="1">
                <a:solidFill>
                  <a:srgbClr val="FFFF00"/>
                </a:solidFill>
                <a:latin typeface="楷体" pitchFamily="49" charset="-122"/>
                <a:ea typeface="楷体" pitchFamily="49" charset="-122"/>
                <a:sym typeface="楷体" pitchFamily="49" charset="-122"/>
              </a:rPr>
              <a:t>节：电子记录和纸质记录的DI要求比较</a:t>
            </a:r>
            <a:r>
              <a:rPr lang="zh-CN" altLang="en-US" sz="2400" b="1">
                <a:solidFill>
                  <a:srgbClr val="FFFF00"/>
                </a:solidFill>
                <a:latin typeface="楷体" pitchFamily="49" charset="-122"/>
                <a:ea typeface="楷体" pitchFamily="49" charset="-122"/>
                <a:sym typeface="宋体" pitchFamily="2" charset="-122"/>
              </a:rPr>
              <a:t>与</a:t>
            </a:r>
            <a:r>
              <a:rPr lang="zh-CN" altLang="en-US" sz="2400" b="1">
                <a:solidFill>
                  <a:schemeClr val="bg1"/>
                </a:solidFill>
                <a:latin typeface="楷体" pitchFamily="49" charset="-122"/>
                <a:ea typeface="楷体" pitchFamily="49" charset="-122"/>
                <a:sym typeface="楷体" pitchFamily="49" charset="-122"/>
              </a:rPr>
              <a:t>不符合举例分析</a:t>
            </a:r>
          </a:p>
        </p:txBody>
      </p:sp>
    </p:spTree>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ChangeArrowheads="1"/>
          </p:cNvSpPr>
          <p:nvPr>
            <p:ph type="title" idx="4294967295"/>
          </p:nvPr>
        </p:nvSpPr>
        <p:spPr bwMode="auto">
          <a:xfrm>
            <a:off x="1835150" y="908050"/>
            <a:ext cx="5761038" cy="7207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r>
              <a:rPr lang="zh-CN" altLang="en-US" sz="2400" b="1">
                <a:solidFill>
                  <a:srgbClr val="FF3300"/>
                </a:solidFill>
                <a:ea typeface="楷体" pitchFamily="49" charset="-122"/>
              </a:rPr>
              <a:t>数据完整性缺陷的严重性分类（1）</a:t>
            </a:r>
          </a:p>
        </p:txBody>
      </p:sp>
      <p:sp>
        <p:nvSpPr>
          <p:cNvPr id="15363" name="Rectangle 3"/>
          <p:cNvSpPr>
            <a:spLocks noChangeArrowheads="1"/>
          </p:cNvSpPr>
          <p:nvPr/>
        </p:nvSpPr>
        <p:spPr bwMode="auto">
          <a:xfrm>
            <a:off x="2630488" y="44450"/>
            <a:ext cx="57594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楷体" pitchFamily="49" charset="-122"/>
                <a:ea typeface="楷体" pitchFamily="49" charset="-122"/>
                <a:sym typeface="楷体" pitchFamily="49" charset="-122"/>
              </a:rPr>
              <a:t>第</a:t>
            </a:r>
            <a:r>
              <a:rPr lang="en-US" sz="2400" b="1">
                <a:solidFill>
                  <a:srgbClr val="FFFF00"/>
                </a:solidFill>
                <a:latin typeface="楷体" pitchFamily="49" charset="-122"/>
                <a:ea typeface="楷体" pitchFamily="49" charset="-122"/>
                <a:sym typeface="楷体" pitchFamily="49" charset="-122"/>
              </a:rPr>
              <a:t>6</a:t>
            </a:r>
            <a:r>
              <a:rPr lang="zh-CN" altLang="en-US" sz="2400" b="1">
                <a:solidFill>
                  <a:srgbClr val="FFFF00"/>
                </a:solidFill>
                <a:latin typeface="楷体" pitchFamily="49" charset="-122"/>
                <a:ea typeface="楷体" pitchFamily="49" charset="-122"/>
                <a:sym typeface="楷体" pitchFamily="49" charset="-122"/>
              </a:rPr>
              <a:t>节：药企治理数据完整性的关键要素</a:t>
            </a:r>
          </a:p>
        </p:txBody>
      </p:sp>
      <p:sp>
        <p:nvSpPr>
          <p:cNvPr id="15364" name="Rectangle 4"/>
          <p:cNvSpPr>
            <a:spLocks noChangeArrowheads="1"/>
          </p:cNvSpPr>
          <p:nvPr/>
        </p:nvSpPr>
        <p:spPr bwMode="auto">
          <a:xfrm>
            <a:off x="325438" y="2274888"/>
            <a:ext cx="8785225" cy="439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eaLnBrk="0" hangingPunct="0">
              <a:lnSpc>
                <a:spcPct val="150000"/>
              </a:lnSpc>
            </a:pPr>
            <a:r>
              <a:rPr lang="zh-CN" altLang="en-US" sz="2000" b="1">
                <a:solidFill>
                  <a:srgbClr val="FF3300"/>
                </a:solidFill>
                <a:latin typeface="Calibri" pitchFamily="34" charset="0"/>
                <a:ea typeface="楷体" pitchFamily="49" charset="-122"/>
                <a:sym typeface="Calibri" pitchFamily="34" charset="0"/>
              </a:rPr>
              <a:t>1.关键缺陷</a:t>
            </a:r>
            <a:r>
              <a:rPr lang="zh-CN" altLang="en-US" sz="2000" b="1">
                <a:solidFill>
                  <a:schemeClr val="hlink"/>
                </a:solidFill>
                <a:latin typeface="Calibri" pitchFamily="34" charset="0"/>
                <a:ea typeface="楷体" pitchFamily="49" charset="-122"/>
                <a:sym typeface="Calibri" pitchFamily="34" charset="0"/>
              </a:rPr>
              <a:t>——</a:t>
            </a:r>
            <a:r>
              <a:rPr lang="zh-CN" altLang="en-US" sz="2000" b="1">
                <a:solidFill>
                  <a:srgbClr val="000000"/>
                </a:solidFill>
                <a:latin typeface="Calibri" pitchFamily="34" charset="0"/>
                <a:ea typeface="楷体" pitchFamily="49" charset="-122"/>
                <a:sym typeface="Calibri" pitchFamily="34" charset="0"/>
              </a:rPr>
              <a:t>影响产品质量</a:t>
            </a:r>
            <a:r>
              <a:rPr lang="zh-CN" altLang="en-US" sz="2000" b="1">
                <a:solidFill>
                  <a:schemeClr val="hlink"/>
                </a:solidFill>
                <a:latin typeface="Calibri" pitchFamily="34" charset="0"/>
                <a:ea typeface="楷体" pitchFamily="49" charset="-122"/>
                <a:sym typeface="Calibri" pitchFamily="34" charset="0"/>
              </a:rPr>
              <a:t>，同时对患者</a:t>
            </a:r>
            <a:r>
              <a:rPr lang="zh-CN" altLang="en-US" sz="2000" b="1">
                <a:solidFill>
                  <a:srgbClr val="000000"/>
                </a:solidFill>
                <a:latin typeface="Calibri" pitchFamily="34" charset="0"/>
                <a:ea typeface="楷体" pitchFamily="49" charset="-122"/>
                <a:sym typeface="Calibri" pitchFamily="34" charset="0"/>
              </a:rPr>
              <a:t>具有健康风险</a:t>
            </a:r>
            <a:r>
              <a:rPr lang="zh-CN" altLang="en-US" sz="2000" b="1">
                <a:solidFill>
                  <a:schemeClr val="hlink"/>
                </a:solidFill>
                <a:latin typeface="Calibri" pitchFamily="34" charset="0"/>
                <a:ea typeface="楷体" pitchFamily="49" charset="-122"/>
                <a:sym typeface="Calibri" pitchFamily="34" charset="0"/>
              </a:rPr>
              <a:t>（包括数据造假）。</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1.1 产品不合格放行或在有效期内不合格；</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1.2 QC检验结果或关键工艺参数，只报告好数据，不报告超标数据。</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rgbClr val="FF3300"/>
                </a:solidFill>
                <a:latin typeface="Calibri" pitchFamily="34" charset="0"/>
                <a:ea typeface="楷体" pitchFamily="49" charset="-122"/>
                <a:sym typeface="Calibri" pitchFamily="34" charset="0"/>
              </a:rPr>
              <a:t>2.主要缺陷</a:t>
            </a:r>
            <a:r>
              <a:rPr lang="zh-CN" altLang="en-US" sz="2000" b="1">
                <a:solidFill>
                  <a:schemeClr val="hlink"/>
                </a:solidFill>
                <a:latin typeface="Calibri" pitchFamily="34" charset="0"/>
                <a:ea typeface="楷体" pitchFamily="49" charset="-122"/>
                <a:sym typeface="Calibri" pitchFamily="34" charset="0"/>
              </a:rPr>
              <a:t>——</a:t>
            </a:r>
            <a:r>
              <a:rPr lang="zh-CN" altLang="en-US" sz="2000" b="1">
                <a:solidFill>
                  <a:srgbClr val="000000"/>
                </a:solidFill>
                <a:latin typeface="Calibri" pitchFamily="34" charset="0"/>
                <a:ea typeface="楷体" pitchFamily="49" charset="-122"/>
                <a:sym typeface="Calibri" pitchFamily="34" charset="0"/>
              </a:rPr>
              <a:t>影响产品质量</a:t>
            </a:r>
            <a:r>
              <a:rPr lang="zh-CN" altLang="en-US" sz="2000" b="1">
                <a:solidFill>
                  <a:schemeClr val="hlink"/>
                </a:solidFill>
                <a:latin typeface="Calibri" pitchFamily="34" charset="0"/>
                <a:ea typeface="楷体" pitchFamily="49" charset="-122"/>
                <a:sym typeface="Calibri" pitchFamily="34" charset="0"/>
              </a:rPr>
              <a:t>，但对患者</a:t>
            </a:r>
            <a:r>
              <a:rPr lang="zh-CN" altLang="en-US" sz="2000" b="1">
                <a:solidFill>
                  <a:srgbClr val="000000"/>
                </a:solidFill>
                <a:latin typeface="Calibri" pitchFamily="34" charset="0"/>
                <a:ea typeface="楷体" pitchFamily="49" charset="-122"/>
                <a:sym typeface="Calibri" pitchFamily="34" charset="0"/>
              </a:rPr>
              <a:t>健康没有风险</a:t>
            </a:r>
            <a:r>
              <a:rPr lang="zh-CN" altLang="en-US" sz="2000" b="1">
                <a:solidFill>
                  <a:schemeClr val="hlink"/>
                </a:solidFill>
                <a:latin typeface="Calibri" pitchFamily="34" charset="0"/>
                <a:ea typeface="楷体" pitchFamily="49" charset="-122"/>
                <a:sym typeface="Calibri" pitchFamily="34" charset="0"/>
              </a:rPr>
              <a:t>。</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2.1 例如漏报数据（比如漏报规格中的原始数据，使其趋势变好）；</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2.2 除QC检验结果或关键工艺参数外，只报告好数据，不报告超标数据；</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2.3 数据采集系统设计不好引起的失败。</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rgbClr val="FF3300"/>
                </a:solidFill>
                <a:latin typeface="Calibri" pitchFamily="34" charset="0"/>
                <a:ea typeface="楷体" pitchFamily="49" charset="-122"/>
                <a:sym typeface="Calibri" pitchFamily="34" charset="0"/>
              </a:rPr>
              <a:t/>
            </a:r>
            <a:br>
              <a:rPr lang="zh-CN" altLang="en-US" sz="2000" b="1">
                <a:solidFill>
                  <a:srgbClr val="FF3300"/>
                </a:solidFill>
                <a:latin typeface="Calibri" pitchFamily="34" charset="0"/>
                <a:ea typeface="楷体" pitchFamily="49" charset="-122"/>
                <a:sym typeface="Calibri" pitchFamily="34" charset="0"/>
              </a:rPr>
            </a:br>
            <a:r>
              <a:rPr lang="zh-CN" altLang="en-US" sz="2000" b="1">
                <a:solidFill>
                  <a:srgbClr val="FF3300"/>
                </a:solidFill>
                <a:latin typeface="Calibri" pitchFamily="34" charset="0"/>
                <a:ea typeface="楷体" pitchFamily="49" charset="-122"/>
                <a:sym typeface="Calibri" pitchFamily="34" charset="0"/>
              </a:rPr>
              <a:t/>
            </a:r>
            <a:br>
              <a:rPr lang="zh-CN" altLang="en-US" sz="2000" b="1">
                <a:solidFill>
                  <a:srgbClr val="FF3300"/>
                </a:solidFill>
                <a:latin typeface="Calibri" pitchFamily="34" charset="0"/>
                <a:ea typeface="楷体" pitchFamily="49" charset="-122"/>
                <a:sym typeface="Calibri" pitchFamily="34" charset="0"/>
              </a:rPr>
            </a:br>
            <a:endParaRPr lang="zh-CN" altLang="en-US" sz="2000" b="1">
              <a:solidFill>
                <a:srgbClr val="FF3300"/>
              </a:solidFill>
              <a:latin typeface="Calibri" pitchFamily="34" charset="0"/>
              <a:ea typeface="楷体" pitchFamily="49" charset="-122"/>
              <a:sym typeface="Calibri" pitchFamily="34" charset="0"/>
            </a:endParaRPr>
          </a:p>
        </p:txBody>
      </p:sp>
    </p:spTree>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ChangeArrowheads="1"/>
          </p:cNvSpPr>
          <p:nvPr>
            <p:ph type="title" idx="4294967295"/>
          </p:nvPr>
        </p:nvSpPr>
        <p:spPr bwMode="auto">
          <a:xfrm>
            <a:off x="1835150" y="908050"/>
            <a:ext cx="5761038" cy="7207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r>
              <a:rPr lang="zh-CN" altLang="en-US" sz="2400" b="1">
                <a:solidFill>
                  <a:srgbClr val="FF3300"/>
                </a:solidFill>
                <a:ea typeface="楷体" pitchFamily="49" charset="-122"/>
              </a:rPr>
              <a:t>数据完整性缺陷的严重性分类（2）</a:t>
            </a:r>
            <a:endParaRPr lang="zh-CN" altLang="en-US"/>
          </a:p>
        </p:txBody>
      </p:sp>
      <p:sp>
        <p:nvSpPr>
          <p:cNvPr id="16387" name="Rectangle 3"/>
          <p:cNvSpPr>
            <a:spLocks noChangeArrowheads="1"/>
          </p:cNvSpPr>
          <p:nvPr/>
        </p:nvSpPr>
        <p:spPr bwMode="auto">
          <a:xfrm>
            <a:off x="2846388" y="44450"/>
            <a:ext cx="57594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第5节：药企治理数据完整性的关键要素</a:t>
            </a:r>
          </a:p>
        </p:txBody>
      </p:sp>
      <p:sp>
        <p:nvSpPr>
          <p:cNvPr id="16388" name="Rectangle 4"/>
          <p:cNvSpPr>
            <a:spLocks noChangeArrowheads="1"/>
          </p:cNvSpPr>
          <p:nvPr/>
        </p:nvSpPr>
        <p:spPr bwMode="auto">
          <a:xfrm>
            <a:off x="325438" y="2274888"/>
            <a:ext cx="8785225" cy="439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eaLnBrk="0" hangingPunct="0">
              <a:lnSpc>
                <a:spcPct val="150000"/>
              </a:lnSpc>
            </a:pPr>
            <a:r>
              <a:rPr lang="zh-CN" altLang="en-US" sz="2000" b="1">
                <a:solidFill>
                  <a:srgbClr val="FF3300"/>
                </a:solidFill>
                <a:latin typeface="Calibri" pitchFamily="34" charset="0"/>
                <a:ea typeface="楷体" pitchFamily="49" charset="-122"/>
                <a:sym typeface="Calibri" pitchFamily="34" charset="0"/>
              </a:rPr>
              <a:t>3.主要缺陷</a:t>
            </a:r>
            <a:r>
              <a:rPr lang="zh-CN" altLang="en-US" sz="2000" b="1">
                <a:solidFill>
                  <a:schemeClr val="hlink"/>
                </a:solidFill>
                <a:latin typeface="Calibri" pitchFamily="34" charset="0"/>
                <a:ea typeface="楷体" pitchFamily="49" charset="-122"/>
                <a:sym typeface="Calibri" pitchFamily="34" charset="0"/>
              </a:rPr>
              <a:t>——</a:t>
            </a:r>
            <a:r>
              <a:rPr lang="zh-CN" altLang="en-US" sz="2000" b="1">
                <a:solidFill>
                  <a:srgbClr val="000000"/>
                </a:solidFill>
                <a:latin typeface="Calibri" pitchFamily="34" charset="0"/>
                <a:ea typeface="楷体" pitchFamily="49" charset="-122"/>
                <a:sym typeface="Calibri" pitchFamily="34" charset="0"/>
              </a:rPr>
              <a:t>不影响产品质量</a:t>
            </a:r>
            <a:r>
              <a:rPr lang="zh-CN" altLang="en-US" sz="2000" b="1">
                <a:solidFill>
                  <a:schemeClr val="hlink"/>
                </a:solidFill>
                <a:latin typeface="Calibri" pitchFamily="34" charset="0"/>
                <a:ea typeface="楷体" pitchFamily="49" charset="-122"/>
                <a:sym typeface="Calibri" pitchFamily="34" charset="0"/>
              </a:rPr>
              <a:t>，失败</a:t>
            </a:r>
            <a:r>
              <a:rPr lang="zh-CN" altLang="en-US" sz="2000" b="1">
                <a:solidFill>
                  <a:srgbClr val="000000"/>
                </a:solidFill>
                <a:latin typeface="Calibri" pitchFamily="34" charset="0"/>
                <a:ea typeface="楷体" pitchFamily="49" charset="-122"/>
                <a:sym typeface="Calibri" pitchFamily="34" charset="0"/>
              </a:rPr>
              <a:t>很多。</a:t>
            </a:r>
            <a:r>
              <a:rPr lang="zh-CN" altLang="en-US" sz="2000" b="1">
                <a:solidFill>
                  <a:schemeClr val="hlink"/>
                </a:solidFill>
                <a:latin typeface="Calibri" pitchFamily="34" charset="0"/>
                <a:ea typeface="楷体" pitchFamily="49" charset="-122"/>
                <a:sym typeface="Calibri" pitchFamily="34" charset="0"/>
              </a:rPr>
              <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3.1 不良操作或设计不佳，导致很多功能部门（QA、生产和QC等）的数据不完整或失去可跟踪性，但是不影响产品质量。</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rgbClr val="FF3300"/>
                </a:solidFill>
                <a:latin typeface="Calibri" pitchFamily="34" charset="0"/>
                <a:ea typeface="楷体" pitchFamily="49" charset="-122"/>
                <a:sym typeface="Calibri" pitchFamily="34" charset="0"/>
              </a:rPr>
              <a:t>4.一般缺陷</a:t>
            </a:r>
            <a:r>
              <a:rPr lang="zh-CN" altLang="en-US" sz="2000" b="1">
                <a:solidFill>
                  <a:schemeClr val="hlink"/>
                </a:solidFill>
                <a:latin typeface="Calibri" pitchFamily="34" charset="0"/>
                <a:ea typeface="楷体" pitchFamily="49" charset="-122"/>
                <a:sym typeface="Calibri" pitchFamily="34" charset="0"/>
              </a:rPr>
              <a:t>——</a:t>
            </a:r>
            <a:r>
              <a:rPr lang="zh-CN" altLang="en-US" sz="2000" b="1">
                <a:solidFill>
                  <a:srgbClr val="000000"/>
                </a:solidFill>
                <a:latin typeface="Calibri" pitchFamily="34" charset="0"/>
                <a:ea typeface="楷体" pitchFamily="49" charset="-122"/>
                <a:sym typeface="Calibri" pitchFamily="34" charset="0"/>
              </a:rPr>
              <a:t>不影响产品质量</a:t>
            </a:r>
            <a:r>
              <a:rPr lang="zh-CN" altLang="en-US" sz="2000" b="1">
                <a:solidFill>
                  <a:schemeClr val="hlink"/>
                </a:solidFill>
                <a:latin typeface="Calibri" pitchFamily="34" charset="0"/>
                <a:ea typeface="楷体" pitchFamily="49" charset="-122"/>
                <a:sym typeface="Calibri" pitchFamily="34" charset="0"/>
              </a:rPr>
              <a:t>，</a:t>
            </a:r>
            <a:r>
              <a:rPr lang="zh-CN" altLang="en-US" sz="2000" b="1">
                <a:solidFill>
                  <a:srgbClr val="000000"/>
                </a:solidFill>
                <a:latin typeface="Calibri" pitchFamily="34" charset="0"/>
                <a:ea typeface="楷体" pitchFamily="49" charset="-122"/>
                <a:sym typeface="Calibri" pitchFamily="34" charset="0"/>
              </a:rPr>
              <a:t>偶然</a:t>
            </a:r>
            <a:r>
              <a:rPr lang="zh-CN" altLang="en-US" sz="2000" b="1">
                <a:solidFill>
                  <a:schemeClr val="hlink"/>
                </a:solidFill>
                <a:latin typeface="Calibri" pitchFamily="34" charset="0"/>
                <a:ea typeface="楷体" pitchFamily="49" charset="-122"/>
                <a:sym typeface="Calibri" pitchFamily="34" charset="0"/>
              </a:rPr>
              <a:t>失败。</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4.1 不良操作或设计不佳，导致非功能部门的数据不完整或失去可跟踪性；</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chemeClr val="hlink"/>
                </a:solidFill>
                <a:latin typeface="Calibri" pitchFamily="34" charset="0"/>
                <a:ea typeface="楷体" pitchFamily="49" charset="-122"/>
                <a:sym typeface="Calibri" pitchFamily="34" charset="0"/>
              </a:rPr>
              <a:t>4.2 在其它可接受系统，偶然失败。</a:t>
            </a:r>
            <a:br>
              <a:rPr lang="zh-CN" altLang="en-US" sz="2000" b="1">
                <a:solidFill>
                  <a:schemeClr val="hlink"/>
                </a:solidFill>
                <a:latin typeface="Calibri" pitchFamily="34" charset="0"/>
                <a:ea typeface="楷体" pitchFamily="49" charset="-122"/>
                <a:sym typeface="Calibri" pitchFamily="34" charset="0"/>
              </a:rPr>
            </a:br>
            <a:r>
              <a:rPr lang="zh-CN" altLang="en-US" sz="2000" b="1">
                <a:solidFill>
                  <a:srgbClr val="FF3300"/>
                </a:solidFill>
                <a:latin typeface="Calibri" pitchFamily="34" charset="0"/>
                <a:ea typeface="楷体" pitchFamily="49" charset="-122"/>
                <a:sym typeface="Calibri" pitchFamily="34" charset="0"/>
              </a:rPr>
              <a:t/>
            </a:r>
            <a:br>
              <a:rPr lang="zh-CN" altLang="en-US" sz="2000" b="1">
                <a:solidFill>
                  <a:srgbClr val="FF3300"/>
                </a:solidFill>
                <a:latin typeface="Calibri" pitchFamily="34" charset="0"/>
                <a:ea typeface="楷体" pitchFamily="49" charset="-122"/>
                <a:sym typeface="Calibri" pitchFamily="34" charset="0"/>
              </a:rPr>
            </a:br>
            <a:r>
              <a:rPr lang="zh-CN" altLang="en-US" sz="2000" b="1">
                <a:solidFill>
                  <a:srgbClr val="FF3300"/>
                </a:solidFill>
                <a:latin typeface="Calibri" pitchFamily="34" charset="0"/>
                <a:ea typeface="楷体" pitchFamily="49" charset="-122"/>
                <a:sym typeface="Calibri" pitchFamily="34" charset="0"/>
              </a:rPr>
              <a:t/>
            </a:r>
            <a:br>
              <a:rPr lang="zh-CN" altLang="en-US" sz="2000" b="1">
                <a:solidFill>
                  <a:srgbClr val="FF3300"/>
                </a:solidFill>
                <a:latin typeface="Calibri" pitchFamily="34" charset="0"/>
                <a:ea typeface="楷体" pitchFamily="49" charset="-122"/>
                <a:sym typeface="Calibri" pitchFamily="34" charset="0"/>
              </a:rPr>
            </a:br>
            <a:endParaRPr lang="zh-CN" altLang="en-US" sz="2000" b="1">
              <a:solidFill>
                <a:srgbClr val="FF3300"/>
              </a:solidFill>
              <a:latin typeface="Calibri" pitchFamily="34" charset="0"/>
              <a:ea typeface="楷体" pitchFamily="49" charset="-122"/>
              <a:sym typeface="Calibri" pitchFamily="34" charset="0"/>
            </a:endParaRPr>
          </a:p>
        </p:txBody>
      </p:sp>
      <p:sp>
        <p:nvSpPr>
          <p:cNvPr id="16389" name="Rectangle 5"/>
          <p:cNvSpPr>
            <a:spLocks noChangeArrowheads="1"/>
          </p:cNvSpPr>
          <p:nvPr/>
        </p:nvSpPr>
        <p:spPr bwMode="auto">
          <a:xfrm>
            <a:off x="5219700" y="5805488"/>
            <a:ext cx="3744913" cy="865187"/>
          </a:xfrm>
          <a:prstGeom prst="rect">
            <a:avLst/>
          </a:prstGeom>
          <a:solidFill>
            <a:srgbClr val="FFCC00"/>
          </a:solidFill>
          <a:ln>
            <a:noFill/>
          </a:ln>
          <a:extLst>
            <a:ext uri="{91240B29-F687-4F45-9708-019B960494DF}">
              <a14:hiddenLine xmlns:a14="http://schemas.microsoft.com/office/drawing/2010/main" w="9525" cmpd="sng">
                <a:solidFill>
                  <a:srgbClr val="000000"/>
                </a:solidFill>
                <a:bevel/>
                <a:headEnd/>
                <a:tailEnd/>
              </a14:hiddenLine>
            </a:ext>
          </a:extLst>
        </p:spPr>
        <p:txBody>
          <a:bodyPr anchor="ctr"/>
          <a:lstStyle/>
          <a:p>
            <a:endParaRPr lang="zh-CN" altLang="zh-CN">
              <a:solidFill>
                <a:srgbClr val="000000"/>
              </a:solidFill>
              <a:sym typeface="Arial" pitchFamily="34" charset="0"/>
            </a:endParaRPr>
          </a:p>
        </p:txBody>
      </p:sp>
      <p:sp>
        <p:nvSpPr>
          <p:cNvPr id="16390" name="Rectangle 6"/>
          <p:cNvSpPr>
            <a:spLocks noChangeArrowheads="1"/>
          </p:cNvSpPr>
          <p:nvPr/>
        </p:nvSpPr>
        <p:spPr bwMode="auto">
          <a:xfrm>
            <a:off x="5435600" y="5805488"/>
            <a:ext cx="34639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000" b="1">
                <a:solidFill>
                  <a:srgbClr val="000000"/>
                </a:solidFill>
                <a:latin typeface="Calibri" pitchFamily="34" charset="0"/>
                <a:ea typeface="楷体" pitchFamily="49" charset="-122"/>
                <a:sym typeface="Calibri" pitchFamily="34" charset="0"/>
              </a:rPr>
              <a:t>严重性分类对我们有什么指导意义？——见注释</a:t>
            </a:r>
          </a:p>
        </p:txBody>
      </p:sp>
    </p:spTree>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Text Box 2"/>
          <p:cNvSpPr>
            <a:spLocks noChangeArrowheads="1"/>
          </p:cNvSpPr>
          <p:nvPr/>
        </p:nvSpPr>
        <p:spPr bwMode="auto">
          <a:xfrm>
            <a:off x="338138" y="1844675"/>
            <a:ext cx="8843962" cy="461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a:lnSpc>
                <a:spcPct val="150000"/>
              </a:lnSpc>
              <a:buFont typeface="Arial" pitchFamily="34" charset="0"/>
              <a:buAutoNum type="arabicPeriod"/>
            </a:pPr>
            <a:r>
              <a:rPr lang="zh-CN" altLang="en-US" sz="2200">
                <a:solidFill>
                  <a:srgbClr val="000000"/>
                </a:solidFill>
                <a:latin typeface="楷体" pitchFamily="49" charset="-122"/>
                <a:ea typeface="楷体" pitchFamily="49" charset="-122"/>
                <a:sym typeface="楷体" pitchFamily="49" charset="-122"/>
              </a:rPr>
              <a:t>在产品质量年报中，将不合格的批次没有统计进去</a:t>
            </a:r>
            <a:r>
              <a:rPr lang="zh-CN" altLang="en-US" sz="2200" b="1">
                <a:latin typeface="楷体" pitchFamily="49" charset="-122"/>
                <a:ea typeface="楷体" pitchFamily="49" charset="-122"/>
                <a:sym typeface="楷体" pitchFamily="49" charset="-122"/>
              </a:rPr>
              <a:t>？</a:t>
            </a:r>
          </a:p>
          <a:p>
            <a:pPr>
              <a:lnSpc>
                <a:spcPct val="150000"/>
              </a:lnSpc>
              <a:buFont typeface="Arial" pitchFamily="34" charset="0"/>
              <a:buAutoNum type="arabicPeriod"/>
            </a:pPr>
            <a:r>
              <a:rPr lang="zh-CN" altLang="en-US" sz="2200">
                <a:solidFill>
                  <a:srgbClr val="000000"/>
                </a:solidFill>
                <a:latin typeface="楷体" pitchFamily="49" charset="-122"/>
                <a:ea typeface="楷体" pitchFamily="49" charset="-122"/>
                <a:sym typeface="楷体" pitchFamily="49" charset="-122"/>
              </a:rPr>
              <a:t>原料药QC检验不合格，没调查，复测检验直到合格？</a:t>
            </a:r>
          </a:p>
          <a:p>
            <a:pPr>
              <a:lnSpc>
                <a:spcPct val="150000"/>
              </a:lnSpc>
              <a:buFont typeface="Arial" pitchFamily="34" charset="0"/>
              <a:buAutoNum type="arabicPeriod"/>
            </a:pPr>
            <a:r>
              <a:rPr lang="zh-CN" altLang="en-US" sz="2200">
                <a:solidFill>
                  <a:srgbClr val="000000"/>
                </a:solidFill>
                <a:latin typeface="楷体" pitchFamily="49" charset="-122"/>
                <a:ea typeface="楷体" pitchFamily="49" charset="-122"/>
                <a:sym typeface="楷体" pitchFamily="49" charset="-122"/>
              </a:rPr>
              <a:t>纯化水检验不合格，没有调查，复测得到合格结果？</a:t>
            </a:r>
          </a:p>
          <a:p>
            <a:pPr>
              <a:lnSpc>
                <a:spcPct val="150000"/>
              </a:lnSpc>
              <a:buFont typeface="Arial" pitchFamily="34" charset="0"/>
              <a:buAutoNum type="arabicPeriod"/>
            </a:pPr>
            <a:r>
              <a:rPr lang="zh-CN" altLang="en-US" sz="2200">
                <a:solidFill>
                  <a:srgbClr val="000000"/>
                </a:solidFill>
                <a:latin typeface="楷体" pitchFamily="49" charset="-122"/>
                <a:ea typeface="楷体" pitchFamily="49" charset="-122"/>
                <a:sym typeface="楷体" pitchFamily="49" charset="-122"/>
              </a:rPr>
              <a:t>某员工的培训记录不完整，有丢失</a:t>
            </a:r>
            <a:r>
              <a:rPr lang="zh-CN" altLang="en-US" sz="2200" b="1">
                <a:latin typeface="楷体" pitchFamily="49" charset="-122"/>
                <a:ea typeface="楷体" pitchFamily="49" charset="-122"/>
                <a:sym typeface="楷体" pitchFamily="49" charset="-122"/>
              </a:rPr>
              <a:t>？</a:t>
            </a:r>
          </a:p>
          <a:p>
            <a:pPr>
              <a:lnSpc>
                <a:spcPct val="150000"/>
              </a:lnSpc>
              <a:buFont typeface="Arial" pitchFamily="34" charset="0"/>
              <a:buAutoNum type="arabicPeriod"/>
            </a:pPr>
            <a:r>
              <a:rPr lang="zh-CN" altLang="en-US" sz="2200">
                <a:solidFill>
                  <a:srgbClr val="000000"/>
                </a:solidFill>
                <a:latin typeface="楷体" pitchFamily="49" charset="-122"/>
                <a:ea typeface="楷体" pitchFamily="49" charset="-122"/>
                <a:sym typeface="楷体" pitchFamily="49" charset="-122"/>
              </a:rPr>
              <a:t>设备检验或计量中，出现不合格，复测合格后，仅报告合格结果</a:t>
            </a:r>
            <a:r>
              <a:rPr lang="zh-CN" altLang="en-US" sz="2200" b="1">
                <a:latin typeface="楷体" pitchFamily="49" charset="-122"/>
                <a:ea typeface="楷体" pitchFamily="49" charset="-122"/>
                <a:sym typeface="楷体" pitchFamily="49" charset="-122"/>
              </a:rPr>
              <a:t>？</a:t>
            </a:r>
          </a:p>
          <a:p>
            <a:pPr>
              <a:lnSpc>
                <a:spcPct val="150000"/>
              </a:lnSpc>
              <a:buFont typeface="Arial" pitchFamily="34" charset="0"/>
              <a:buAutoNum type="arabicPeriod"/>
            </a:pPr>
            <a:r>
              <a:rPr lang="zh-CN" altLang="en-US" sz="2200">
                <a:solidFill>
                  <a:srgbClr val="000000"/>
                </a:solidFill>
                <a:latin typeface="楷体" pitchFamily="49" charset="-122"/>
                <a:ea typeface="楷体" pitchFamily="49" charset="-122"/>
                <a:sym typeface="楷体" pitchFamily="49" charset="-122"/>
              </a:rPr>
              <a:t>上市产品后续稳定性数据不合格，没调查复测合格后报告合格数据？</a:t>
            </a:r>
          </a:p>
          <a:p>
            <a:pPr>
              <a:lnSpc>
                <a:spcPct val="150000"/>
              </a:lnSpc>
              <a:buFont typeface="Arial" pitchFamily="34" charset="0"/>
              <a:buAutoNum type="arabicPeriod"/>
            </a:pPr>
            <a:r>
              <a:rPr lang="zh-CN" altLang="en-US" sz="2200">
                <a:solidFill>
                  <a:srgbClr val="000000"/>
                </a:solidFill>
                <a:latin typeface="楷体" pitchFamily="49" charset="-122"/>
                <a:ea typeface="楷体" pitchFamily="49" charset="-122"/>
                <a:sym typeface="楷体" pitchFamily="49" charset="-122"/>
              </a:rPr>
              <a:t>关键工艺参数不合格，没有记录，仅内部报告？</a:t>
            </a:r>
          </a:p>
          <a:p>
            <a:pPr>
              <a:lnSpc>
                <a:spcPct val="150000"/>
              </a:lnSpc>
              <a:buFont typeface="Arial" pitchFamily="34" charset="0"/>
              <a:buAutoNum type="arabicPeriod"/>
            </a:pPr>
            <a:r>
              <a:rPr lang="zh-CN" altLang="en-US" sz="2200">
                <a:solidFill>
                  <a:srgbClr val="000000"/>
                </a:solidFill>
                <a:latin typeface="楷体" pitchFamily="49" charset="-122"/>
                <a:ea typeface="楷体" pitchFamily="49" charset="-122"/>
                <a:sym typeface="楷体" pitchFamily="49" charset="-122"/>
              </a:rPr>
              <a:t>物料检验、水系统检验数据或记录发现多次或多处丢失</a:t>
            </a:r>
            <a:r>
              <a:rPr lang="zh-CN" altLang="en-US" sz="2200" b="1">
                <a:latin typeface="楷体" pitchFamily="49" charset="-122"/>
                <a:ea typeface="楷体" pitchFamily="49" charset="-122"/>
                <a:sym typeface="楷体" pitchFamily="49" charset="-122"/>
              </a:rPr>
              <a:t>？</a:t>
            </a:r>
          </a:p>
          <a:p>
            <a:pPr>
              <a:lnSpc>
                <a:spcPct val="150000"/>
              </a:lnSpc>
            </a:pPr>
            <a:endParaRPr lang="zh-CN" altLang="en-US" sz="2200">
              <a:solidFill>
                <a:srgbClr val="000000"/>
              </a:solidFill>
              <a:latin typeface="楷体" pitchFamily="49" charset="-122"/>
              <a:ea typeface="楷体" pitchFamily="49" charset="-122"/>
              <a:sym typeface="楷体" pitchFamily="49" charset="-122"/>
            </a:endParaRPr>
          </a:p>
        </p:txBody>
      </p:sp>
      <p:sp>
        <p:nvSpPr>
          <p:cNvPr id="17411" name="Text Box 3"/>
          <p:cNvSpPr>
            <a:spLocks noChangeArrowheads="1"/>
          </p:cNvSpPr>
          <p:nvPr/>
        </p:nvSpPr>
        <p:spPr bwMode="auto">
          <a:xfrm>
            <a:off x="1331913" y="1125538"/>
            <a:ext cx="6583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800" b="1">
                <a:solidFill>
                  <a:schemeClr val="hlink"/>
                </a:solidFill>
                <a:latin typeface="楷体" pitchFamily="49" charset="-122"/>
                <a:ea typeface="楷体" pitchFamily="49" charset="-122"/>
                <a:sym typeface="楷体" pitchFamily="49" charset="-122"/>
              </a:rPr>
              <a:t>请对下列数据完整性问题进行严重性分类</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17410">
                                            <p:txEl>
                                              <p:pRg st="0" end="0"/>
                                            </p:txEl>
                                          </p:spTgt>
                                        </p:tgtEl>
                                        <p:attrNameLst>
                                          <p:attrName>style.color</p:attrName>
                                        </p:attrNameLst>
                                      </p:cBhvr>
                                      <p:to>
                                        <a:srgbClr val="EF1D22"/>
                                      </p:to>
                                    </p:animClr>
                                  </p:childTnLst>
                                </p:cTn>
                              </p:par>
                              <p:par>
                                <p:cTn id="7" presetID="3" presetClass="emph" presetSubtype="2" fill="hold" nodeType="withEffect">
                                  <p:stCondLst>
                                    <p:cond delay="0"/>
                                  </p:stCondLst>
                                  <p:childTnLst>
                                    <p:animClr clrSpc="rgb" dir="cw">
                                      <p:cBhvr override="childStyle">
                                        <p:cTn id="8" dur="2000" fill="hold"/>
                                        <p:tgtEl>
                                          <p:spTgt spid="17410">
                                            <p:txEl>
                                              <p:pRg st="4" end="4"/>
                                            </p:txEl>
                                          </p:spTgt>
                                        </p:tgtEl>
                                        <p:attrNameLst>
                                          <p:attrName>style.color</p:attrName>
                                        </p:attrNameLst>
                                      </p:cBhvr>
                                      <p:to>
                                        <a:srgbClr val="EF1D22"/>
                                      </p:to>
                                    </p:animClr>
                                  </p:childTnLst>
                                </p:cTn>
                              </p:par>
                              <p:par>
                                <p:cTn id="9" presetID="3" presetClass="emph" presetSubtype="2" fill="hold" nodeType="withEffect">
                                  <p:stCondLst>
                                    <p:cond delay="0"/>
                                  </p:stCondLst>
                                  <p:childTnLst>
                                    <p:animClr clrSpc="rgb" dir="cw">
                                      <p:cBhvr override="childStyle">
                                        <p:cTn id="10" dur="2000" fill="hold"/>
                                        <p:tgtEl>
                                          <p:spTgt spid="17410">
                                            <p:txEl>
                                              <p:pRg st="7" end="7"/>
                                            </p:txEl>
                                          </p:spTgt>
                                        </p:tgtEl>
                                        <p:attrNameLst>
                                          <p:attrName>style.color</p:attrName>
                                        </p:attrNameLst>
                                      </p:cBhvr>
                                      <p:to>
                                        <a:srgbClr val="EF1D22"/>
                                      </p:to>
                                    </p:animClr>
                                  </p:childTnLst>
                                </p:cTn>
                              </p:par>
                              <p:par>
                                <p:cTn id="11" presetID="3" presetClass="emph" presetSubtype="2" fill="hold" nodeType="withEffect">
                                  <p:stCondLst>
                                    <p:cond delay="0"/>
                                  </p:stCondLst>
                                  <p:childTnLst>
                                    <p:animClr clrSpc="rgb" dir="cw">
                                      <p:cBhvr override="childStyle">
                                        <p:cTn id="12" dur="2000" fill="hold"/>
                                        <p:tgtEl>
                                          <p:spTgt spid="17410">
                                            <p:txEl>
                                              <p:pRg st="3" end="3"/>
                                            </p:txEl>
                                          </p:spTgt>
                                        </p:tgtEl>
                                        <p:attrNameLst>
                                          <p:attrName>style.color</p:attrName>
                                        </p:attrNameLst>
                                      </p:cBhvr>
                                      <p:to>
                                        <a:srgbClr val="EF830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ext Box 2"/>
          <p:cNvSpPr>
            <a:spLocks noChangeArrowheads="1"/>
          </p:cNvSpPr>
          <p:nvPr/>
        </p:nvSpPr>
        <p:spPr bwMode="auto">
          <a:xfrm>
            <a:off x="1836738" y="981075"/>
            <a:ext cx="60467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800" b="1">
                <a:solidFill>
                  <a:srgbClr val="FF3300"/>
                </a:solidFill>
                <a:latin typeface="楷体" pitchFamily="49" charset="-122"/>
                <a:ea typeface="楷体" pitchFamily="49" charset="-122"/>
                <a:sym typeface="楷体" pitchFamily="49" charset="-122"/>
              </a:rPr>
              <a:t>药品研发与商业化生产DI管理的区别</a:t>
            </a:r>
          </a:p>
        </p:txBody>
      </p:sp>
      <p:sp>
        <p:nvSpPr>
          <p:cNvPr id="18435" name="Text Box 3"/>
          <p:cNvSpPr>
            <a:spLocks noChangeArrowheads="1"/>
          </p:cNvSpPr>
          <p:nvPr/>
        </p:nvSpPr>
        <p:spPr bwMode="auto">
          <a:xfrm>
            <a:off x="684213" y="1701800"/>
            <a:ext cx="8066087" cy="490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楷体" pitchFamily="49" charset="-122"/>
                <a:ea typeface="楷体" pitchFamily="49" charset="-122"/>
                <a:sym typeface="楷体" pitchFamily="49" charset="-122"/>
              </a:rPr>
              <a:t>一、相同地方</a:t>
            </a: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药物或药品安全性、有效性的关键数据（包括注册）；</a:t>
            </a: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记录规范性要求；</a:t>
            </a: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设备校正与维护；</a:t>
            </a: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用于人使用的药品或API的生产与检验放行；</a:t>
            </a: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注册批或验证批与商业化生产与检测完全相同；</a:t>
            </a: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分析方法验证</a:t>
            </a: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稳定性检测等</a:t>
            </a:r>
          </a:p>
          <a:p>
            <a:pPr>
              <a:buFont typeface="Arial" pitchFamily="34" charset="0"/>
              <a:buAutoNum type="arabicPeriod"/>
            </a:pPr>
            <a:endParaRPr lang="zh-CN" altLang="en-US" sz="2800" b="1">
              <a:solidFill>
                <a:srgbClr val="000000"/>
              </a:solidFill>
              <a:latin typeface="楷体" pitchFamily="49" charset="-122"/>
              <a:ea typeface="楷体" pitchFamily="49" charset="-122"/>
              <a:sym typeface="楷体" pitchFamily="49" charset="-122"/>
            </a:endParaRPr>
          </a:p>
          <a:p>
            <a:r>
              <a:rPr lang="zh-CN" altLang="en-US" sz="2400" b="1">
                <a:solidFill>
                  <a:srgbClr val="000000"/>
                </a:solidFill>
                <a:latin typeface="楷体" pitchFamily="49" charset="-122"/>
                <a:ea typeface="楷体" pitchFamily="49" charset="-122"/>
                <a:sym typeface="楷体" pitchFamily="49" charset="-122"/>
              </a:rPr>
              <a:t>二、不同地方</a:t>
            </a: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偏差调查（不需要调查或不需要正式的调查）</a:t>
            </a: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变更控制</a:t>
            </a:r>
            <a:endParaRPr lang="zh-CN" altLang="en-US" sz="2800" b="1">
              <a:solidFill>
                <a:srgbClr val="000000"/>
              </a:solidFill>
              <a:latin typeface="楷体" pitchFamily="49" charset="-122"/>
              <a:ea typeface="楷体" pitchFamily="49" charset="-122"/>
              <a:sym typeface="楷体" pitchFamily="49" charset="-122"/>
            </a:endParaRPr>
          </a:p>
          <a:p>
            <a:pPr>
              <a:buFont typeface="Arial" pitchFamily="34" charset="0"/>
              <a:buAutoNum type="arabicPeriod"/>
            </a:pPr>
            <a:r>
              <a:rPr lang="zh-CN" altLang="en-US" sz="2400" b="1">
                <a:solidFill>
                  <a:srgbClr val="000000"/>
                </a:solidFill>
                <a:latin typeface="楷体" pitchFamily="49" charset="-122"/>
                <a:ea typeface="楷体" pitchFamily="49" charset="-122"/>
                <a:sym typeface="楷体" pitchFamily="49" charset="-122"/>
              </a:rPr>
              <a:t>文件与记录受控程序不同等</a:t>
            </a:r>
          </a:p>
        </p:txBody>
      </p:sp>
    </p:spTree>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Text Box 2"/>
          <p:cNvSpPr>
            <a:spLocks noChangeArrowheads="1"/>
          </p:cNvSpPr>
          <p:nvPr/>
        </p:nvSpPr>
        <p:spPr bwMode="auto">
          <a:xfrm>
            <a:off x="1692275" y="981075"/>
            <a:ext cx="60467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800" b="1">
                <a:solidFill>
                  <a:srgbClr val="FF3300"/>
                </a:solidFill>
                <a:latin typeface="楷体" pitchFamily="49" charset="-122"/>
                <a:ea typeface="楷体" pitchFamily="49" charset="-122"/>
                <a:sym typeface="楷体" pitchFamily="49" charset="-122"/>
              </a:rPr>
              <a:t>第二章  数据完整性管控的顶层设计</a:t>
            </a:r>
            <a:endParaRPr lang="zh-CN" altLang="en-US">
              <a:solidFill>
                <a:srgbClr val="000000"/>
              </a:solidFill>
              <a:sym typeface="Arial" pitchFamily="34" charset="0"/>
            </a:endParaRPr>
          </a:p>
        </p:txBody>
      </p:sp>
      <p:sp>
        <p:nvSpPr>
          <p:cNvPr id="19459" name="Text Box 3"/>
          <p:cNvSpPr>
            <a:spLocks noChangeArrowheads="1"/>
          </p:cNvSpPr>
          <p:nvPr/>
        </p:nvSpPr>
        <p:spPr bwMode="auto">
          <a:xfrm>
            <a:off x="180975" y="1557338"/>
            <a:ext cx="8856663" cy="491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nSpc>
                <a:spcPct val="120000"/>
              </a:lnSpc>
            </a:pPr>
            <a:r>
              <a:rPr lang="zh-CN" altLang="en-US" sz="2400" b="1">
                <a:solidFill>
                  <a:srgbClr val="000000"/>
                </a:solidFill>
                <a:latin typeface="楷体" pitchFamily="49" charset="-122"/>
                <a:ea typeface="楷体" pitchFamily="49" charset="-122"/>
                <a:sym typeface="楷体" pitchFamily="49" charset="-122"/>
              </a:rPr>
              <a:t>第1节：  数据完整性管控顶层设计主要考虑的角度与要点；</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第2节：  数据完整性管控的风险/资源/发展三者间的平衡；</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第3节：  研发</a:t>
            </a:r>
            <a:r>
              <a:rPr lang="en-US" sz="2400" b="1">
                <a:solidFill>
                  <a:srgbClr val="000000"/>
                </a:solidFill>
                <a:latin typeface="楷体" pitchFamily="49" charset="-122"/>
                <a:ea typeface="楷体" pitchFamily="49" charset="-122"/>
                <a:sym typeface="楷体" pitchFamily="49" charset="-122"/>
              </a:rPr>
              <a:t>/</a:t>
            </a:r>
            <a:r>
              <a:rPr lang="zh-CN" altLang="en-US" sz="2400" b="1">
                <a:solidFill>
                  <a:srgbClr val="000000"/>
                </a:solidFill>
                <a:latin typeface="楷体" pitchFamily="49" charset="-122"/>
                <a:ea typeface="楷体" pitchFamily="49" charset="-122"/>
                <a:sym typeface="楷体" pitchFamily="49" charset="-122"/>
              </a:rPr>
              <a:t>中控</a:t>
            </a:r>
            <a:r>
              <a:rPr lang="en-US" sz="2400" b="1">
                <a:solidFill>
                  <a:srgbClr val="000000"/>
                </a:solidFill>
                <a:latin typeface="楷体" pitchFamily="49" charset="-122"/>
                <a:ea typeface="楷体" pitchFamily="49" charset="-122"/>
                <a:sym typeface="楷体" pitchFamily="49" charset="-122"/>
              </a:rPr>
              <a:t>/</a:t>
            </a:r>
            <a:r>
              <a:rPr lang="zh-CN" altLang="en-US" sz="2400" b="1">
                <a:solidFill>
                  <a:srgbClr val="000000"/>
                </a:solidFill>
                <a:latin typeface="楷体" pitchFamily="49" charset="-122"/>
                <a:ea typeface="楷体" pitchFamily="49" charset="-122"/>
                <a:sym typeface="楷体" pitchFamily="49" charset="-122"/>
              </a:rPr>
              <a:t>生产</a:t>
            </a:r>
            <a:r>
              <a:rPr lang="en-US" sz="2400" b="1">
                <a:solidFill>
                  <a:srgbClr val="000000"/>
                </a:solidFill>
                <a:latin typeface="楷体" pitchFamily="49" charset="-122"/>
                <a:ea typeface="楷体" pitchFamily="49" charset="-122"/>
                <a:sym typeface="楷体" pitchFamily="49" charset="-122"/>
              </a:rPr>
              <a:t>/</a:t>
            </a:r>
            <a:r>
              <a:rPr lang="zh-CN" altLang="en-US" sz="2400" b="1">
                <a:solidFill>
                  <a:srgbClr val="000000"/>
                </a:solidFill>
                <a:latin typeface="楷体" pitchFamily="49" charset="-122"/>
                <a:ea typeface="楷体" pitchFamily="49" charset="-122"/>
                <a:sym typeface="楷体" pitchFamily="49" charset="-122"/>
              </a:rPr>
              <a:t>产品DI管控策略和资源配置优先原则；</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第4节：  QC实验室检测与研发检测等共用风险与控制策略；</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第5节：  数据完整性管控的体系建设要点；</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第6节：  预防数据完整性问题的硬件配置原则（服务器/单机版）</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第7节：  引入计算机化管理系统软件（例如SAP系统）的原则；</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第8节：  编制计算机化系统管理清单的原则与策略；</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第9节：  生产部门数据完整性管控策略与要点；</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第10节： QC实验室的数据完整性管控设计；</a:t>
            </a:r>
          </a:p>
          <a:p>
            <a:pPr>
              <a:lnSpc>
                <a:spcPct val="120000"/>
              </a:lnSpc>
            </a:pPr>
            <a:r>
              <a:rPr lang="zh-CN" altLang="en-US" sz="2400" b="1">
                <a:solidFill>
                  <a:srgbClr val="000000"/>
                </a:solidFill>
                <a:latin typeface="楷体" pitchFamily="49" charset="-122"/>
                <a:ea typeface="楷体" pitchFamily="49" charset="-122"/>
                <a:sym typeface="楷体" pitchFamily="49" charset="-122"/>
              </a:rPr>
              <a:t>第11节： 研发注册中的数据完整性控要点。</a:t>
            </a:r>
          </a:p>
        </p:txBody>
      </p:sp>
    </p:spTree>
  </p:cSld>
  <p:clrMapOvr>
    <a:masterClrMapping/>
  </p:clrMapOvr>
  <p:transition>
    <p:strips dir="ld"/>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ext Box 4"/>
          <p:cNvSpPr>
            <a:spLocks noChangeArrowheads="1"/>
          </p:cNvSpPr>
          <p:nvPr/>
        </p:nvSpPr>
        <p:spPr bwMode="auto">
          <a:xfrm>
            <a:off x="2338388" y="1055688"/>
            <a:ext cx="45402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600" b="1">
                <a:solidFill>
                  <a:srgbClr val="FF3300"/>
                </a:solidFill>
                <a:latin typeface="楷体" pitchFamily="49" charset="-122"/>
                <a:ea typeface="楷体" pitchFamily="49" charset="-122"/>
                <a:sym typeface="楷体" pitchFamily="49" charset="-122"/>
              </a:rPr>
              <a:t>管控策略与资源配置优先原则</a:t>
            </a:r>
            <a:endParaRPr lang="zh-CN" altLang="en-US">
              <a:solidFill>
                <a:srgbClr val="000000"/>
              </a:solidFill>
              <a:sym typeface="Arial" pitchFamily="34" charset="0"/>
            </a:endParaRPr>
          </a:p>
        </p:txBody>
      </p:sp>
      <p:sp>
        <p:nvSpPr>
          <p:cNvPr id="20483" name="Text Box 4"/>
          <p:cNvSpPr>
            <a:spLocks noChangeArrowheads="1"/>
          </p:cNvSpPr>
          <p:nvPr/>
        </p:nvSpPr>
        <p:spPr bwMode="auto">
          <a:xfrm>
            <a:off x="282575" y="1774825"/>
            <a:ext cx="8689975"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457200" indent="-457200">
              <a:lnSpc>
                <a:spcPts val="3500"/>
              </a:lnSpc>
              <a:buFont typeface="Wingdings" pitchFamily="2" charset="2"/>
              <a:buChar char="l"/>
            </a:pPr>
            <a:r>
              <a:rPr lang="zh-CN" altLang="en-US" sz="2400" b="1">
                <a:solidFill>
                  <a:srgbClr val="0070C0"/>
                </a:solidFill>
                <a:latin typeface="楷体" pitchFamily="49" charset="-122"/>
                <a:ea typeface="楷体" pitchFamily="49" charset="-122"/>
                <a:sym typeface="楷体" pitchFamily="49" charset="-122"/>
              </a:rPr>
              <a:t>产品检测与放行；</a:t>
            </a:r>
            <a:endParaRPr lang="en-US" sz="2400" b="1">
              <a:solidFill>
                <a:srgbClr val="0070C0"/>
              </a:solidFill>
              <a:latin typeface="楷体" pitchFamily="49" charset="-122"/>
              <a:ea typeface="楷体" pitchFamily="49" charset="-122"/>
              <a:sym typeface="楷体" pitchFamily="49" charset="-122"/>
            </a:endParaRPr>
          </a:p>
          <a:p>
            <a:pPr marL="457200" indent="-457200">
              <a:lnSpc>
                <a:spcPts val="3500"/>
              </a:lnSpc>
              <a:buFont typeface="Wingdings" pitchFamily="2" charset="2"/>
              <a:buChar char="l"/>
            </a:pPr>
            <a:r>
              <a:rPr lang="zh-CN" altLang="en-US" sz="2400" b="1">
                <a:solidFill>
                  <a:srgbClr val="0070C0"/>
                </a:solidFill>
                <a:latin typeface="楷体" pitchFamily="49" charset="-122"/>
                <a:ea typeface="楷体" pitchFamily="49" charset="-122"/>
                <a:sym typeface="楷体" pitchFamily="49" charset="-122"/>
              </a:rPr>
              <a:t>研发注册涉及的安全性与有效性的关键数据；</a:t>
            </a:r>
            <a:endParaRPr lang="en-US" sz="2400" b="1">
              <a:solidFill>
                <a:srgbClr val="0070C0"/>
              </a:solidFill>
              <a:latin typeface="楷体" pitchFamily="49" charset="-122"/>
              <a:ea typeface="楷体" pitchFamily="49" charset="-122"/>
              <a:sym typeface="楷体" pitchFamily="49" charset="-122"/>
            </a:endParaRPr>
          </a:p>
          <a:p>
            <a:pPr marL="457200" indent="-457200">
              <a:lnSpc>
                <a:spcPts val="3500"/>
              </a:lnSpc>
              <a:buFont typeface="Wingdings" pitchFamily="2" charset="2"/>
              <a:buChar char="l"/>
            </a:pPr>
            <a:r>
              <a:rPr lang="zh-CN" altLang="en-US" sz="2400" b="1">
                <a:solidFill>
                  <a:srgbClr val="0070C0"/>
                </a:solidFill>
                <a:latin typeface="楷体" pitchFamily="49" charset="-122"/>
                <a:ea typeface="楷体" pitchFamily="49" charset="-122"/>
                <a:sym typeface="楷体" pitchFamily="49" charset="-122"/>
              </a:rPr>
              <a:t>中间产品的检测；</a:t>
            </a:r>
            <a:endParaRPr lang="en-US" sz="2400" b="1">
              <a:solidFill>
                <a:srgbClr val="0070C0"/>
              </a:solidFill>
              <a:latin typeface="楷体" pitchFamily="49" charset="-122"/>
              <a:ea typeface="楷体" pitchFamily="49" charset="-122"/>
              <a:sym typeface="楷体" pitchFamily="49" charset="-122"/>
            </a:endParaRPr>
          </a:p>
          <a:p>
            <a:pPr marL="457200" indent="-457200">
              <a:lnSpc>
                <a:spcPts val="3500"/>
              </a:lnSpc>
              <a:buFont typeface="Wingdings" pitchFamily="2" charset="2"/>
              <a:buChar char="l"/>
            </a:pPr>
            <a:r>
              <a:rPr lang="zh-CN" altLang="en-US" sz="2400" b="1">
                <a:solidFill>
                  <a:srgbClr val="0070C0"/>
                </a:solidFill>
                <a:latin typeface="楷体" pitchFamily="49" charset="-122"/>
                <a:ea typeface="楷体" pitchFamily="49" charset="-122"/>
                <a:sym typeface="楷体" pitchFamily="49" charset="-122"/>
              </a:rPr>
              <a:t>生产过程的控制（</a:t>
            </a:r>
            <a:r>
              <a:rPr lang="en-US" sz="2400" b="1">
                <a:solidFill>
                  <a:srgbClr val="0070C0"/>
                </a:solidFill>
                <a:latin typeface="楷体" pitchFamily="49" charset="-122"/>
                <a:ea typeface="楷体" pitchFamily="49" charset="-122"/>
                <a:sym typeface="楷体" pitchFamily="49" charset="-122"/>
              </a:rPr>
              <a:t>API</a:t>
            </a:r>
            <a:r>
              <a:rPr lang="zh-CN" altLang="en-US" sz="2400" b="1">
                <a:solidFill>
                  <a:srgbClr val="0070C0"/>
                </a:solidFill>
                <a:latin typeface="楷体" pitchFamily="49" charset="-122"/>
                <a:ea typeface="楷体" pitchFamily="49" charset="-122"/>
                <a:sym typeface="楷体" pitchFamily="49" charset="-122"/>
              </a:rPr>
              <a:t>发酵过程控制、自动控制系统）；</a:t>
            </a:r>
            <a:endParaRPr lang="en-US" sz="2400" b="1">
              <a:solidFill>
                <a:srgbClr val="0070C0"/>
              </a:solidFill>
              <a:latin typeface="楷体" pitchFamily="49" charset="-122"/>
              <a:ea typeface="楷体" pitchFamily="49" charset="-122"/>
              <a:sym typeface="楷体" pitchFamily="49" charset="-122"/>
            </a:endParaRPr>
          </a:p>
          <a:p>
            <a:pPr marL="457200" indent="-457200">
              <a:lnSpc>
                <a:spcPts val="3500"/>
              </a:lnSpc>
              <a:buFont typeface="Wingdings" pitchFamily="2" charset="2"/>
              <a:buChar char="l"/>
            </a:pPr>
            <a:r>
              <a:rPr lang="zh-CN" altLang="en-US" sz="2400" b="1">
                <a:solidFill>
                  <a:srgbClr val="0070C0"/>
                </a:solidFill>
                <a:latin typeface="楷体" pitchFamily="49" charset="-122"/>
                <a:ea typeface="楷体" pitchFamily="49" charset="-122"/>
                <a:sym typeface="楷体" pitchFamily="49" charset="-122"/>
              </a:rPr>
              <a:t>生产环境控制（例如各种环境的检测等）；</a:t>
            </a:r>
            <a:endParaRPr lang="en-US" sz="2400" b="1">
              <a:solidFill>
                <a:srgbClr val="0070C0"/>
              </a:solidFill>
              <a:latin typeface="楷体" pitchFamily="49" charset="-122"/>
              <a:ea typeface="楷体" pitchFamily="49" charset="-122"/>
              <a:sym typeface="楷体" pitchFamily="49" charset="-122"/>
            </a:endParaRPr>
          </a:p>
          <a:p>
            <a:pPr marL="457200" indent="-457200">
              <a:lnSpc>
                <a:spcPts val="3500"/>
              </a:lnSpc>
              <a:buFont typeface="Wingdings" pitchFamily="2" charset="2"/>
              <a:buChar char="l"/>
            </a:pPr>
            <a:r>
              <a:rPr lang="zh-CN" altLang="en-US" sz="2400" b="1">
                <a:solidFill>
                  <a:srgbClr val="0070C0"/>
                </a:solidFill>
                <a:latin typeface="楷体" pitchFamily="49" charset="-122"/>
                <a:ea typeface="楷体" pitchFamily="49" charset="-122"/>
                <a:sym typeface="楷体" pitchFamily="49" charset="-122"/>
              </a:rPr>
              <a:t>生产介质控制（制水系统，空气净化系统，生产用气等）；</a:t>
            </a:r>
            <a:endParaRPr lang="en-US" sz="2400" b="1">
              <a:solidFill>
                <a:srgbClr val="0070C0"/>
              </a:solidFill>
              <a:latin typeface="楷体" pitchFamily="49" charset="-122"/>
              <a:ea typeface="楷体" pitchFamily="49" charset="-122"/>
              <a:sym typeface="楷体" pitchFamily="49" charset="-122"/>
            </a:endParaRPr>
          </a:p>
          <a:p>
            <a:pPr marL="457200" indent="-457200">
              <a:lnSpc>
                <a:spcPts val="3500"/>
              </a:lnSpc>
              <a:buFont typeface="Wingdings" pitchFamily="2" charset="2"/>
              <a:buChar char="l"/>
            </a:pPr>
            <a:r>
              <a:rPr lang="zh-CN" altLang="en-US" sz="2400" b="1">
                <a:solidFill>
                  <a:srgbClr val="0070C0"/>
                </a:solidFill>
                <a:latin typeface="楷体" pitchFamily="49" charset="-122"/>
                <a:ea typeface="楷体" pitchFamily="49" charset="-122"/>
                <a:sym typeface="楷体" pitchFamily="49" charset="-122"/>
              </a:rPr>
              <a:t>物料检验与使用。</a:t>
            </a:r>
          </a:p>
        </p:txBody>
      </p:sp>
      <p:sp>
        <p:nvSpPr>
          <p:cNvPr id="20484" name="圆角矩形 5"/>
          <p:cNvSpPr>
            <a:spLocks/>
          </p:cNvSpPr>
          <p:nvPr/>
        </p:nvSpPr>
        <p:spPr bwMode="auto">
          <a:xfrm>
            <a:off x="1474788" y="5157788"/>
            <a:ext cx="7061200" cy="1201737"/>
          </a:xfrm>
          <a:prstGeom prst="roundRect">
            <a:avLst>
              <a:gd name="adj" fmla="val 16667"/>
            </a:avLst>
          </a:prstGeom>
          <a:solidFill>
            <a:srgbClr val="E5B8B7"/>
          </a:solidFill>
          <a:ln>
            <a:noFill/>
          </a:ln>
          <a:extLst>
            <a:ext uri="{91240B29-F687-4F45-9708-019B960494DF}">
              <a14:hiddenLine xmlns:a14="http://schemas.microsoft.com/office/drawing/2010/main" w="9525" cap="flat" cmpd="sng">
                <a:solidFill>
                  <a:srgbClr val="000000"/>
                </a:solidFill>
                <a:bevel/>
                <a:headEnd/>
                <a:tailEnd/>
              </a14:hiddenLine>
            </a:ext>
          </a:extLst>
        </p:spPr>
        <p:txBody>
          <a:bodyPr/>
          <a:lstStyle/>
          <a:p>
            <a:endParaRPr lang="zh-CN" altLang="zh-CN" b="1" i="1">
              <a:sym typeface="Arial" pitchFamily="34" charset="0"/>
            </a:endParaRPr>
          </a:p>
        </p:txBody>
      </p:sp>
      <p:sp>
        <p:nvSpPr>
          <p:cNvPr id="20485" name="Text Box 4"/>
          <p:cNvSpPr>
            <a:spLocks noChangeArrowheads="1"/>
          </p:cNvSpPr>
          <p:nvPr/>
        </p:nvSpPr>
        <p:spPr bwMode="auto">
          <a:xfrm>
            <a:off x="1763713" y="5181600"/>
            <a:ext cx="6215062"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457200" indent="-457200">
              <a:buFont typeface="Wingdings" pitchFamily="2" charset="2"/>
              <a:buChar char="Ø"/>
            </a:pPr>
            <a:r>
              <a:rPr lang="zh-CN" altLang="en-US" sz="2400" b="1">
                <a:solidFill>
                  <a:srgbClr val="0070C0"/>
                </a:solidFill>
                <a:latin typeface="楷体" pitchFamily="49" charset="-122"/>
                <a:ea typeface="楷体" pitchFamily="49" charset="-122"/>
                <a:sym typeface="楷体" pitchFamily="49" charset="-122"/>
              </a:rPr>
              <a:t>风险越大，资源配置与要求也越高；</a:t>
            </a:r>
            <a:endParaRPr lang="en-US" sz="2400" b="1">
              <a:solidFill>
                <a:srgbClr val="0070C0"/>
              </a:solidFill>
              <a:latin typeface="楷体" pitchFamily="49" charset="-122"/>
              <a:ea typeface="楷体" pitchFamily="49" charset="-122"/>
              <a:sym typeface="楷体" pitchFamily="49" charset="-122"/>
            </a:endParaRPr>
          </a:p>
          <a:p>
            <a:pPr marL="457200" indent="-457200">
              <a:buFont typeface="Wingdings" pitchFamily="2" charset="2"/>
              <a:buChar char="Ø"/>
            </a:pPr>
            <a:r>
              <a:rPr lang="zh-CN" altLang="en-US" sz="2400" b="1">
                <a:solidFill>
                  <a:srgbClr val="0070C0"/>
                </a:solidFill>
                <a:latin typeface="楷体" pitchFamily="49" charset="-122"/>
                <a:ea typeface="楷体" pitchFamily="49" charset="-122"/>
                <a:sym typeface="楷体" pitchFamily="49" charset="-122"/>
              </a:rPr>
              <a:t>思考：电子数据应分类管理（高中低），</a:t>
            </a:r>
            <a:endParaRPr lang="en-US" sz="2400" b="1">
              <a:solidFill>
                <a:srgbClr val="0070C0"/>
              </a:solidFill>
              <a:latin typeface="楷体" pitchFamily="49" charset="-122"/>
              <a:ea typeface="楷体" pitchFamily="49" charset="-122"/>
              <a:sym typeface="楷体" pitchFamily="49" charset="-122"/>
            </a:endParaRPr>
          </a:p>
          <a:p>
            <a:pPr marL="457200" indent="-457200"/>
            <a:r>
              <a:rPr lang="en-US" sz="2400" b="1">
                <a:solidFill>
                  <a:srgbClr val="0070C0"/>
                </a:solidFill>
                <a:latin typeface="楷体" pitchFamily="49" charset="-122"/>
                <a:ea typeface="楷体" pitchFamily="49" charset="-122"/>
                <a:sym typeface="楷体" pitchFamily="49" charset="-122"/>
              </a:rPr>
              <a:t>    </a:t>
            </a:r>
            <a:r>
              <a:rPr lang="zh-CN" altLang="en-US" sz="2400" b="1">
                <a:solidFill>
                  <a:srgbClr val="0070C0"/>
                </a:solidFill>
                <a:latin typeface="楷体" pitchFamily="49" charset="-122"/>
                <a:ea typeface="楷体" pitchFamily="49" charset="-122"/>
                <a:sym typeface="楷体" pitchFamily="49" charset="-122"/>
              </a:rPr>
              <a:t>风险越高，管控越严？</a:t>
            </a:r>
          </a:p>
        </p:txBody>
      </p:sp>
      <p:sp>
        <p:nvSpPr>
          <p:cNvPr id="20486" name="上箭头 7"/>
          <p:cNvSpPr>
            <a:spLocks noChangeArrowheads="1"/>
          </p:cNvSpPr>
          <p:nvPr/>
        </p:nvSpPr>
        <p:spPr bwMode="auto">
          <a:xfrm>
            <a:off x="8543925" y="2408238"/>
            <a:ext cx="600075" cy="1966912"/>
          </a:xfrm>
          <a:prstGeom prst="upArrow">
            <a:avLst>
              <a:gd name="adj1" fmla="val 50000"/>
              <a:gd name="adj2" fmla="val 49819"/>
            </a:avLst>
          </a:prstGeom>
          <a:solidFill>
            <a:srgbClr val="92D050"/>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a:solidFill>
                <a:srgbClr val="000000"/>
              </a:solidFill>
              <a:sym typeface="Arial" pitchFamily="34" charset="0"/>
            </a:endParaRPr>
          </a:p>
        </p:txBody>
      </p:sp>
      <p:sp>
        <p:nvSpPr>
          <p:cNvPr id="20487" name="Rectangle 3"/>
          <p:cNvSpPr>
            <a:spLocks noChangeArrowheads="1"/>
          </p:cNvSpPr>
          <p:nvPr/>
        </p:nvSpPr>
        <p:spPr bwMode="auto">
          <a:xfrm>
            <a:off x="2846388" y="44450"/>
            <a:ext cx="514826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节：研发/中控/生产/产品DI管控策略和资源配置优先原则</a:t>
            </a:r>
          </a:p>
        </p:txBody>
      </p:sp>
    </p:spTree>
  </p:cSld>
  <p:clrMapOvr>
    <a:masterClrMapping/>
  </p:clrMapOvr>
  <p:transition>
    <p:strips dir="ld"/>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ext Box 4"/>
          <p:cNvSpPr>
            <a:spLocks noChangeArrowheads="1"/>
          </p:cNvSpPr>
          <p:nvPr/>
        </p:nvSpPr>
        <p:spPr bwMode="auto">
          <a:xfrm>
            <a:off x="684213" y="1312863"/>
            <a:ext cx="6837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400" b="1">
                <a:solidFill>
                  <a:srgbClr val="FF3300"/>
                </a:solidFill>
                <a:latin typeface="楷体" pitchFamily="49" charset="-122"/>
                <a:ea typeface="楷体" pitchFamily="49" charset="-122"/>
                <a:sym typeface="楷体" pitchFamily="49" charset="-122"/>
              </a:rPr>
              <a:t>QC</a:t>
            </a:r>
            <a:r>
              <a:rPr lang="zh-CN" altLang="en-US" sz="2400" b="1">
                <a:solidFill>
                  <a:srgbClr val="FF3300"/>
                </a:solidFill>
                <a:latin typeface="楷体" pitchFamily="49" charset="-122"/>
                <a:ea typeface="楷体" pitchFamily="49" charset="-122"/>
                <a:sym typeface="楷体" pitchFamily="49" charset="-122"/>
              </a:rPr>
              <a:t>实验室与研发实验室混用或共用设备</a:t>
            </a:r>
            <a:r>
              <a:rPr lang="en-US" sz="2400" b="1">
                <a:solidFill>
                  <a:srgbClr val="FF3300"/>
                </a:solidFill>
                <a:latin typeface="楷体" pitchFamily="49" charset="-122"/>
                <a:ea typeface="楷体" pitchFamily="49" charset="-122"/>
                <a:sym typeface="楷体" pitchFamily="49" charset="-122"/>
              </a:rPr>
              <a:t>/</a:t>
            </a:r>
            <a:r>
              <a:rPr lang="zh-CN" altLang="en-US" sz="2400" b="1">
                <a:solidFill>
                  <a:srgbClr val="FF3300"/>
                </a:solidFill>
                <a:latin typeface="楷体" pitchFamily="49" charset="-122"/>
                <a:ea typeface="楷体" pitchFamily="49" charset="-122"/>
                <a:sym typeface="楷体" pitchFamily="49" charset="-122"/>
              </a:rPr>
              <a:t>委托检验</a:t>
            </a:r>
            <a:endParaRPr lang="zh-CN" altLang="en-US" sz="1600">
              <a:solidFill>
                <a:srgbClr val="000000"/>
              </a:solidFill>
              <a:sym typeface="Arial" pitchFamily="34" charset="0"/>
            </a:endParaRPr>
          </a:p>
        </p:txBody>
      </p:sp>
      <p:sp>
        <p:nvSpPr>
          <p:cNvPr id="21507" name="Text Box 5"/>
          <p:cNvSpPr>
            <a:spLocks noChangeArrowheads="1"/>
          </p:cNvSpPr>
          <p:nvPr/>
        </p:nvSpPr>
        <p:spPr bwMode="auto">
          <a:xfrm>
            <a:off x="179388" y="1981200"/>
            <a:ext cx="87122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457200" indent="-457200">
              <a:lnSpc>
                <a:spcPct val="150000"/>
              </a:lnSpc>
              <a:buFont typeface="Wingdings" pitchFamily="2" charset="2"/>
              <a:buChar char="l"/>
            </a:pPr>
            <a:r>
              <a:rPr lang="en-US" sz="2400" b="1">
                <a:solidFill>
                  <a:schemeClr val="hlink"/>
                </a:solidFill>
                <a:latin typeface="楷体" pitchFamily="49" charset="-122"/>
                <a:ea typeface="楷体" pitchFamily="49" charset="-122"/>
                <a:sym typeface="楷体" pitchFamily="49" charset="-122"/>
              </a:rPr>
              <a:t>QC</a:t>
            </a:r>
            <a:r>
              <a:rPr lang="zh-CN" altLang="en-US" sz="2400" b="1">
                <a:solidFill>
                  <a:schemeClr val="hlink"/>
                </a:solidFill>
                <a:latin typeface="楷体" pitchFamily="49" charset="-122"/>
                <a:ea typeface="楷体" pitchFamily="49" charset="-122"/>
                <a:sym typeface="楷体" pitchFamily="49" charset="-122"/>
              </a:rPr>
              <a:t>实验室的</a:t>
            </a:r>
            <a:r>
              <a:rPr lang="zh-CN" altLang="en-US" sz="2400" b="1">
                <a:solidFill>
                  <a:srgbClr val="FF0000"/>
                </a:solidFill>
                <a:latin typeface="楷体" pitchFamily="49" charset="-122"/>
                <a:ea typeface="楷体" pitchFamily="49" charset="-122"/>
                <a:sym typeface="楷体" pitchFamily="49" charset="-122"/>
              </a:rPr>
              <a:t>功能</a:t>
            </a:r>
            <a:r>
              <a:rPr lang="zh-CN" altLang="en-US" sz="2400" b="1">
                <a:solidFill>
                  <a:schemeClr val="hlink"/>
                </a:solidFill>
                <a:latin typeface="楷体" pitchFamily="49" charset="-122"/>
                <a:ea typeface="楷体" pitchFamily="49" charset="-122"/>
                <a:sym typeface="楷体" pitchFamily="49" charset="-122"/>
              </a:rPr>
              <a:t>若包括研发的部分工作，应如何控制</a:t>
            </a:r>
            <a:r>
              <a:rPr lang="en-US" sz="2400" b="1">
                <a:solidFill>
                  <a:schemeClr val="hlink"/>
                </a:solidFill>
                <a:latin typeface="楷体" pitchFamily="49" charset="-122"/>
                <a:ea typeface="楷体" pitchFamily="49" charset="-122"/>
                <a:sym typeface="楷体" pitchFamily="49" charset="-122"/>
              </a:rPr>
              <a:t>——</a:t>
            </a:r>
            <a:r>
              <a:rPr lang="zh-CN" altLang="en-US" sz="2400" b="1">
                <a:solidFill>
                  <a:schemeClr val="hlink"/>
                </a:solidFill>
                <a:latin typeface="楷体" pitchFamily="49" charset="-122"/>
                <a:ea typeface="楷体" pitchFamily="49" charset="-122"/>
                <a:sym typeface="楷体" pitchFamily="49" charset="-122"/>
              </a:rPr>
              <a:t>按</a:t>
            </a:r>
            <a:r>
              <a:rPr lang="en-US" sz="2400" b="1">
                <a:solidFill>
                  <a:schemeClr val="hlink"/>
                </a:solidFill>
                <a:latin typeface="楷体" pitchFamily="49" charset="-122"/>
                <a:ea typeface="楷体" pitchFamily="49" charset="-122"/>
                <a:sym typeface="楷体" pitchFamily="49" charset="-122"/>
              </a:rPr>
              <a:t>GMP</a:t>
            </a:r>
            <a:r>
              <a:rPr lang="zh-CN" altLang="en-US" sz="2400" b="1">
                <a:solidFill>
                  <a:schemeClr val="hlink"/>
                </a:solidFill>
                <a:latin typeface="楷体" pitchFamily="49" charset="-122"/>
                <a:ea typeface="楷体" pitchFamily="49" charset="-122"/>
                <a:sym typeface="楷体" pitchFamily="49" charset="-122"/>
              </a:rPr>
              <a:t>要求操作</a:t>
            </a:r>
            <a:r>
              <a:rPr lang="en-US" sz="2400" b="1">
                <a:solidFill>
                  <a:schemeClr val="hlink"/>
                </a:solidFill>
                <a:latin typeface="楷体" pitchFamily="49" charset="-122"/>
                <a:ea typeface="楷体" pitchFamily="49" charset="-122"/>
                <a:sym typeface="楷体" pitchFamily="49" charset="-122"/>
              </a:rPr>
              <a:t>/</a:t>
            </a:r>
            <a:r>
              <a:rPr lang="zh-CN" altLang="en-US" sz="2400" b="1">
                <a:solidFill>
                  <a:schemeClr val="hlink"/>
                </a:solidFill>
                <a:latin typeface="楷体" pitchFamily="49" charset="-122"/>
                <a:ea typeface="楷体" pitchFamily="49" charset="-122"/>
                <a:sym typeface="楷体" pitchFamily="49" charset="-122"/>
              </a:rPr>
              <a:t>最严原则</a:t>
            </a:r>
            <a:r>
              <a:rPr lang="en-US" sz="2400" b="1">
                <a:solidFill>
                  <a:schemeClr val="hlink"/>
                </a:solidFill>
                <a:latin typeface="楷体" pitchFamily="49" charset="-122"/>
                <a:ea typeface="楷体" pitchFamily="49" charset="-122"/>
                <a:sym typeface="楷体" pitchFamily="49" charset="-122"/>
              </a:rPr>
              <a:t>/</a:t>
            </a:r>
            <a:r>
              <a:rPr lang="zh-CN" altLang="en-US" sz="2400" b="1">
                <a:solidFill>
                  <a:schemeClr val="hlink"/>
                </a:solidFill>
                <a:latin typeface="楷体" pitchFamily="49" charset="-122"/>
                <a:ea typeface="楷体" pitchFamily="49" charset="-122"/>
                <a:sym typeface="楷体" pitchFamily="49" charset="-122"/>
              </a:rPr>
              <a:t>包括研发人员等，最好要尽快分开。</a:t>
            </a:r>
            <a:endParaRPr lang="en-US" sz="2400" b="1">
              <a:solidFill>
                <a:schemeClr val="hlink"/>
              </a:solidFill>
              <a:latin typeface="楷体" pitchFamily="49" charset="-122"/>
              <a:ea typeface="楷体" pitchFamily="49" charset="-122"/>
              <a:sym typeface="楷体" pitchFamily="49" charset="-122"/>
            </a:endParaRPr>
          </a:p>
          <a:p>
            <a:pPr marL="457200" indent="-457200">
              <a:lnSpc>
                <a:spcPct val="150000"/>
              </a:lnSpc>
              <a:buFont typeface="Wingdings" pitchFamily="2" charset="2"/>
              <a:buChar char="l"/>
            </a:pPr>
            <a:r>
              <a:rPr lang="en-US" sz="2400" b="1">
                <a:solidFill>
                  <a:schemeClr val="hlink"/>
                </a:solidFill>
                <a:latin typeface="楷体" pitchFamily="49" charset="-122"/>
                <a:ea typeface="楷体" pitchFamily="49" charset="-122"/>
                <a:sym typeface="楷体" pitchFamily="49" charset="-122"/>
              </a:rPr>
              <a:t>QC</a:t>
            </a:r>
            <a:r>
              <a:rPr lang="zh-CN" altLang="en-US" sz="2400" b="1">
                <a:solidFill>
                  <a:schemeClr val="hlink"/>
                </a:solidFill>
                <a:latin typeface="楷体" pitchFamily="49" charset="-122"/>
                <a:ea typeface="楷体" pitchFamily="49" charset="-122"/>
                <a:sym typeface="楷体" pitchFamily="49" charset="-122"/>
              </a:rPr>
              <a:t>实验室的</a:t>
            </a:r>
            <a:r>
              <a:rPr lang="zh-CN" altLang="en-US" sz="2400" b="1">
                <a:solidFill>
                  <a:srgbClr val="FF0000"/>
                </a:solidFill>
                <a:latin typeface="楷体" pitchFamily="49" charset="-122"/>
                <a:ea typeface="楷体" pitchFamily="49" charset="-122"/>
                <a:sym typeface="楷体" pitchFamily="49" charset="-122"/>
              </a:rPr>
              <a:t>检测项目或部分设备</a:t>
            </a:r>
            <a:r>
              <a:rPr lang="zh-CN" altLang="en-US" sz="2400" b="1">
                <a:solidFill>
                  <a:schemeClr val="hlink"/>
                </a:solidFill>
                <a:latin typeface="楷体" pitchFamily="49" charset="-122"/>
                <a:ea typeface="楷体" pitchFamily="49" charset="-122"/>
                <a:sym typeface="楷体" pitchFamily="49" charset="-122"/>
              </a:rPr>
              <a:t>与研发共用，应如何控制（例如：酶标仪、颗粒分析仪等）</a:t>
            </a:r>
            <a:r>
              <a:rPr lang="en-US" sz="2400" b="1">
                <a:solidFill>
                  <a:schemeClr val="hlink"/>
                </a:solidFill>
                <a:latin typeface="楷体" pitchFamily="49" charset="-122"/>
                <a:ea typeface="楷体" pitchFamily="49" charset="-122"/>
                <a:sym typeface="楷体" pitchFamily="49" charset="-122"/>
              </a:rPr>
              <a:t>——</a:t>
            </a:r>
            <a:r>
              <a:rPr lang="zh-CN" altLang="en-US" sz="2400" b="1">
                <a:solidFill>
                  <a:schemeClr val="hlink"/>
                </a:solidFill>
                <a:latin typeface="楷体" pitchFamily="49" charset="-122"/>
                <a:ea typeface="楷体" pitchFamily="49" charset="-122"/>
                <a:sym typeface="楷体" pitchFamily="49" charset="-122"/>
              </a:rPr>
              <a:t>同上</a:t>
            </a:r>
            <a:endParaRPr lang="en-US" sz="2400" b="1">
              <a:solidFill>
                <a:schemeClr val="hlink"/>
              </a:solidFill>
              <a:latin typeface="楷体" pitchFamily="49" charset="-122"/>
              <a:ea typeface="楷体" pitchFamily="49" charset="-122"/>
              <a:sym typeface="楷体" pitchFamily="49" charset="-122"/>
            </a:endParaRPr>
          </a:p>
          <a:p>
            <a:pPr marL="457200" indent="-457200">
              <a:lnSpc>
                <a:spcPct val="150000"/>
              </a:lnSpc>
              <a:buFont typeface="Wingdings" pitchFamily="2" charset="2"/>
              <a:buChar char="l"/>
            </a:pPr>
            <a:r>
              <a:rPr lang="en-US" sz="2400" b="1">
                <a:solidFill>
                  <a:schemeClr val="hlink"/>
                </a:solidFill>
                <a:latin typeface="楷体" pitchFamily="49" charset="-122"/>
                <a:ea typeface="楷体" pitchFamily="49" charset="-122"/>
                <a:sym typeface="楷体" pitchFamily="49" charset="-122"/>
              </a:rPr>
              <a:t>QC</a:t>
            </a:r>
            <a:r>
              <a:rPr lang="zh-CN" altLang="en-US" sz="2400" b="1">
                <a:solidFill>
                  <a:schemeClr val="hlink"/>
                </a:solidFill>
                <a:latin typeface="楷体" pitchFamily="49" charset="-122"/>
                <a:ea typeface="楷体" pitchFamily="49" charset="-122"/>
                <a:sym typeface="楷体" pitchFamily="49" charset="-122"/>
              </a:rPr>
              <a:t>实验室的检测放行若</a:t>
            </a:r>
            <a:r>
              <a:rPr lang="zh-CN" altLang="en-US" sz="2400" b="1">
                <a:solidFill>
                  <a:srgbClr val="FF0000"/>
                </a:solidFill>
                <a:latin typeface="楷体" pitchFamily="49" charset="-122"/>
                <a:ea typeface="楷体" pitchFamily="49" charset="-122"/>
                <a:sym typeface="楷体" pitchFamily="49" charset="-122"/>
              </a:rPr>
              <a:t>委托</a:t>
            </a:r>
            <a:r>
              <a:rPr lang="zh-CN" altLang="en-US" sz="2400" b="1">
                <a:solidFill>
                  <a:schemeClr val="hlink"/>
                </a:solidFill>
                <a:latin typeface="楷体" pitchFamily="49" charset="-122"/>
                <a:ea typeface="楷体" pitchFamily="49" charset="-122"/>
                <a:sym typeface="楷体" pitchFamily="49" charset="-122"/>
              </a:rPr>
              <a:t>研发部门或外部，应如何控制（例如：</a:t>
            </a:r>
            <a:r>
              <a:rPr lang="en-US" sz="2400" b="1">
                <a:solidFill>
                  <a:schemeClr val="hlink"/>
                </a:solidFill>
                <a:latin typeface="楷体" pitchFamily="49" charset="-122"/>
                <a:ea typeface="楷体" pitchFamily="49" charset="-122"/>
                <a:sym typeface="楷体" pitchFamily="49" charset="-122"/>
              </a:rPr>
              <a:t>DSC/X</a:t>
            </a:r>
            <a:r>
              <a:rPr lang="zh-CN" altLang="en-US" sz="2400" b="1">
                <a:solidFill>
                  <a:schemeClr val="hlink"/>
                </a:solidFill>
                <a:latin typeface="楷体" pitchFamily="49" charset="-122"/>
                <a:ea typeface="楷体" pitchFamily="49" charset="-122"/>
                <a:sym typeface="楷体" pitchFamily="49" charset="-122"/>
              </a:rPr>
              <a:t>衍射等）</a:t>
            </a:r>
            <a:r>
              <a:rPr lang="en-US" sz="2400" b="1">
                <a:solidFill>
                  <a:schemeClr val="hlink"/>
                </a:solidFill>
                <a:latin typeface="楷体" pitchFamily="49" charset="-122"/>
                <a:ea typeface="楷体" pitchFamily="49" charset="-122"/>
                <a:sym typeface="楷体" pitchFamily="49" charset="-122"/>
              </a:rPr>
              <a:t>——</a:t>
            </a:r>
            <a:r>
              <a:rPr lang="zh-CN" altLang="en-US" sz="2400" b="1">
                <a:solidFill>
                  <a:schemeClr val="hlink"/>
                </a:solidFill>
                <a:latin typeface="楷体" pitchFamily="49" charset="-122"/>
                <a:ea typeface="楷体" pitchFamily="49" charset="-122"/>
                <a:sym typeface="楷体" pitchFamily="49" charset="-122"/>
              </a:rPr>
              <a:t>委托协议、质量协议（包括数据完整性、偏差与</a:t>
            </a:r>
            <a:r>
              <a:rPr lang="en-US" sz="2400" b="1">
                <a:solidFill>
                  <a:schemeClr val="hlink"/>
                </a:solidFill>
                <a:latin typeface="楷体" pitchFamily="49" charset="-122"/>
                <a:ea typeface="楷体" pitchFamily="49" charset="-122"/>
                <a:sym typeface="楷体" pitchFamily="49" charset="-122"/>
              </a:rPr>
              <a:t>OOS</a:t>
            </a:r>
            <a:r>
              <a:rPr lang="zh-CN" altLang="en-US" sz="2400" b="1">
                <a:solidFill>
                  <a:schemeClr val="hlink"/>
                </a:solidFill>
                <a:latin typeface="楷体" pitchFamily="49" charset="-122"/>
                <a:ea typeface="楷体" pitchFamily="49" charset="-122"/>
                <a:sym typeface="楷体" pitchFamily="49" charset="-122"/>
              </a:rPr>
              <a:t>要求）</a:t>
            </a:r>
          </a:p>
        </p:txBody>
      </p:sp>
      <p:sp>
        <p:nvSpPr>
          <p:cNvPr id="21508" name="Rectangle 3"/>
          <p:cNvSpPr>
            <a:spLocks noChangeArrowheads="1"/>
          </p:cNvSpPr>
          <p:nvPr/>
        </p:nvSpPr>
        <p:spPr bwMode="auto">
          <a:xfrm>
            <a:off x="2846388" y="44450"/>
            <a:ext cx="50228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2</a:t>
            </a:r>
            <a:r>
              <a:rPr lang="zh-CN" altLang="en-US" sz="2400" b="1">
                <a:solidFill>
                  <a:srgbClr val="FFFF00"/>
                </a:solidFill>
                <a:latin typeface="Calibri" pitchFamily="34" charset="0"/>
                <a:ea typeface="楷体" pitchFamily="49" charset="-122"/>
                <a:sym typeface="Calibri" pitchFamily="34" charset="0"/>
              </a:rPr>
              <a:t>节：QC实验室检测与研发检测等共用风险与控制策略</a:t>
            </a:r>
          </a:p>
        </p:txBody>
      </p:sp>
    </p:spTree>
  </p:cSld>
  <p:clrMapOvr>
    <a:masterClrMapping/>
  </p:clrMapOvr>
  <p:transition>
    <p:strips dir="ld"/>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Text Box 4"/>
          <p:cNvSpPr>
            <a:spLocks noChangeArrowheads="1"/>
          </p:cNvSpPr>
          <p:nvPr/>
        </p:nvSpPr>
        <p:spPr bwMode="auto">
          <a:xfrm>
            <a:off x="2268538" y="1814513"/>
            <a:ext cx="4205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b="1">
                <a:solidFill>
                  <a:srgbClr val="FF3300"/>
                </a:solidFill>
                <a:latin typeface="楷体" pitchFamily="49" charset="-122"/>
                <a:ea typeface="楷体" pitchFamily="49" charset="-122"/>
                <a:sym typeface="楷体" pitchFamily="49" charset="-122"/>
              </a:rPr>
              <a:t>中控实验室的数据完整性策略</a:t>
            </a:r>
            <a:endParaRPr lang="zh-CN" altLang="en-US" sz="1600">
              <a:solidFill>
                <a:srgbClr val="000000"/>
              </a:solidFill>
              <a:sym typeface="Arial" pitchFamily="34" charset="0"/>
            </a:endParaRPr>
          </a:p>
        </p:txBody>
      </p:sp>
      <p:sp>
        <p:nvSpPr>
          <p:cNvPr id="22531" name="Text Box 5"/>
          <p:cNvSpPr>
            <a:spLocks noChangeArrowheads="1"/>
          </p:cNvSpPr>
          <p:nvPr/>
        </p:nvSpPr>
        <p:spPr bwMode="auto">
          <a:xfrm>
            <a:off x="179388" y="2776538"/>
            <a:ext cx="8712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457200" indent="-457200">
              <a:lnSpc>
                <a:spcPct val="150000"/>
              </a:lnSpc>
              <a:buFont typeface="Wingdings" pitchFamily="2" charset="2"/>
              <a:buChar char="l"/>
            </a:pPr>
            <a:r>
              <a:rPr lang="en-US" sz="2400" b="1">
                <a:solidFill>
                  <a:schemeClr val="hlink"/>
                </a:solidFill>
                <a:latin typeface="楷体" pitchFamily="49" charset="-122"/>
                <a:ea typeface="楷体" pitchFamily="49" charset="-122"/>
                <a:sym typeface="楷体" pitchFamily="49" charset="-122"/>
              </a:rPr>
              <a:t>QC</a:t>
            </a:r>
            <a:r>
              <a:rPr lang="zh-CN" altLang="en-US" sz="2400" b="1">
                <a:solidFill>
                  <a:schemeClr val="hlink"/>
                </a:solidFill>
                <a:latin typeface="楷体" pitchFamily="49" charset="-122"/>
                <a:ea typeface="楷体" pitchFamily="49" charset="-122"/>
                <a:sym typeface="楷体" pitchFamily="49" charset="-122"/>
              </a:rPr>
              <a:t>实验室和中控实验室的最佳配置与管控策略</a:t>
            </a:r>
            <a:r>
              <a:rPr lang="en-US" sz="2400" b="1">
                <a:solidFill>
                  <a:schemeClr val="hlink"/>
                </a:solidFill>
                <a:latin typeface="楷体" pitchFamily="49" charset="-122"/>
                <a:ea typeface="楷体" pitchFamily="49" charset="-122"/>
                <a:sym typeface="楷体" pitchFamily="49" charset="-122"/>
              </a:rPr>
              <a:t>——API</a:t>
            </a:r>
            <a:r>
              <a:rPr lang="zh-CN" altLang="en-US" sz="2400" b="1">
                <a:solidFill>
                  <a:schemeClr val="hlink"/>
                </a:solidFill>
                <a:latin typeface="楷体" pitchFamily="49" charset="-122"/>
                <a:ea typeface="楷体" pitchFamily="49" charset="-122"/>
                <a:sym typeface="楷体" pitchFamily="49" charset="-122"/>
              </a:rPr>
              <a:t>厂二者最好分开管理</a:t>
            </a:r>
            <a:r>
              <a:rPr lang="en-US" sz="2400" b="1">
                <a:solidFill>
                  <a:schemeClr val="hlink"/>
                </a:solidFill>
                <a:latin typeface="楷体" pitchFamily="49" charset="-122"/>
                <a:ea typeface="楷体" pitchFamily="49" charset="-122"/>
                <a:sym typeface="楷体" pitchFamily="49" charset="-122"/>
              </a:rPr>
              <a:t>/</a:t>
            </a:r>
            <a:r>
              <a:rPr lang="zh-CN" altLang="en-US" sz="2400" b="1">
                <a:solidFill>
                  <a:schemeClr val="hlink"/>
                </a:solidFill>
                <a:latin typeface="楷体" pitchFamily="49" charset="-122"/>
                <a:ea typeface="楷体" pitchFamily="49" charset="-122"/>
                <a:sym typeface="楷体" pitchFamily="49" charset="-122"/>
              </a:rPr>
              <a:t>制剂厂可以由</a:t>
            </a:r>
            <a:r>
              <a:rPr lang="en-US" sz="2400" b="1">
                <a:solidFill>
                  <a:schemeClr val="hlink"/>
                </a:solidFill>
                <a:latin typeface="楷体" pitchFamily="49" charset="-122"/>
                <a:ea typeface="楷体" pitchFamily="49" charset="-122"/>
                <a:sym typeface="楷体" pitchFamily="49" charset="-122"/>
              </a:rPr>
              <a:t>QC</a:t>
            </a:r>
            <a:r>
              <a:rPr lang="zh-CN" altLang="en-US" sz="2400" b="1">
                <a:solidFill>
                  <a:schemeClr val="hlink"/>
                </a:solidFill>
                <a:latin typeface="楷体" pitchFamily="49" charset="-122"/>
                <a:ea typeface="楷体" pitchFamily="49" charset="-122"/>
                <a:sym typeface="楷体" pitchFamily="49" charset="-122"/>
              </a:rPr>
              <a:t>监测中控的复杂项目。</a:t>
            </a:r>
            <a:endParaRPr lang="en-US" sz="2400" b="1">
              <a:solidFill>
                <a:schemeClr val="hlink"/>
              </a:solidFill>
              <a:latin typeface="楷体" pitchFamily="49" charset="-122"/>
              <a:ea typeface="楷体" pitchFamily="49" charset="-122"/>
              <a:sym typeface="楷体" pitchFamily="49" charset="-122"/>
            </a:endParaRPr>
          </a:p>
          <a:p>
            <a:pPr marL="457200" indent="-457200">
              <a:lnSpc>
                <a:spcPct val="150000"/>
              </a:lnSpc>
              <a:buFont typeface="Wingdings" pitchFamily="2" charset="2"/>
              <a:buChar char="l"/>
            </a:pPr>
            <a:r>
              <a:rPr lang="zh-CN" altLang="en-US" sz="2400" b="1">
                <a:solidFill>
                  <a:schemeClr val="hlink"/>
                </a:solidFill>
                <a:latin typeface="楷体" pitchFamily="49" charset="-122"/>
                <a:ea typeface="楷体" pitchFamily="49" charset="-122"/>
                <a:sym typeface="楷体" pitchFamily="49" charset="-122"/>
              </a:rPr>
              <a:t>确定哪些设备可列入计算机化系统</a:t>
            </a:r>
            <a:r>
              <a:rPr lang="en-US" sz="2400" b="1">
                <a:solidFill>
                  <a:schemeClr val="hlink"/>
                </a:solidFill>
                <a:latin typeface="楷体" pitchFamily="49" charset="-122"/>
                <a:ea typeface="楷体" pitchFamily="49" charset="-122"/>
                <a:sym typeface="楷体" pitchFamily="49" charset="-122"/>
              </a:rPr>
              <a:t>——</a:t>
            </a:r>
            <a:r>
              <a:rPr lang="zh-CN" altLang="en-US" sz="2400" b="1">
                <a:solidFill>
                  <a:schemeClr val="hlink"/>
                </a:solidFill>
                <a:latin typeface="楷体" pitchFamily="49" charset="-122"/>
                <a:ea typeface="楷体" pitchFamily="49" charset="-122"/>
                <a:sym typeface="楷体" pitchFamily="49" charset="-122"/>
              </a:rPr>
              <a:t>要考虑到数据完整性管控的风险</a:t>
            </a:r>
            <a:r>
              <a:rPr lang="en-US" sz="2400" b="1">
                <a:solidFill>
                  <a:schemeClr val="hlink"/>
                </a:solidFill>
                <a:latin typeface="楷体" pitchFamily="49" charset="-122"/>
                <a:ea typeface="楷体" pitchFamily="49" charset="-122"/>
                <a:sym typeface="楷体" pitchFamily="49" charset="-122"/>
              </a:rPr>
              <a:t>/</a:t>
            </a:r>
            <a:r>
              <a:rPr lang="zh-CN" altLang="en-US" sz="2400" b="1">
                <a:solidFill>
                  <a:schemeClr val="hlink"/>
                </a:solidFill>
                <a:latin typeface="楷体" pitchFamily="49" charset="-122"/>
                <a:ea typeface="楷体" pitchFamily="49" charset="-122"/>
                <a:sym typeface="楷体" pitchFamily="49" charset="-122"/>
              </a:rPr>
              <a:t>资源</a:t>
            </a:r>
            <a:r>
              <a:rPr lang="en-US" sz="2400" b="1">
                <a:solidFill>
                  <a:schemeClr val="hlink"/>
                </a:solidFill>
                <a:latin typeface="楷体" pitchFamily="49" charset="-122"/>
                <a:ea typeface="楷体" pitchFamily="49" charset="-122"/>
                <a:sym typeface="楷体" pitchFamily="49" charset="-122"/>
              </a:rPr>
              <a:t>/</a:t>
            </a:r>
            <a:r>
              <a:rPr lang="zh-CN" altLang="en-US" sz="2400" b="1">
                <a:solidFill>
                  <a:schemeClr val="hlink"/>
                </a:solidFill>
                <a:latin typeface="楷体" pitchFamily="49" charset="-122"/>
                <a:ea typeface="楷体" pitchFamily="49" charset="-122"/>
                <a:sym typeface="楷体" pitchFamily="49" charset="-122"/>
              </a:rPr>
              <a:t>发展三者间的平衡。</a:t>
            </a:r>
          </a:p>
        </p:txBody>
      </p:sp>
      <p:sp>
        <p:nvSpPr>
          <p:cNvPr id="22532" name="Rectangle 3"/>
          <p:cNvSpPr>
            <a:spLocks noChangeArrowheads="1"/>
          </p:cNvSpPr>
          <p:nvPr/>
        </p:nvSpPr>
        <p:spPr bwMode="auto">
          <a:xfrm>
            <a:off x="2846388" y="44450"/>
            <a:ext cx="50228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2</a:t>
            </a:r>
            <a:r>
              <a:rPr lang="zh-CN" altLang="en-US" sz="2400" b="1">
                <a:solidFill>
                  <a:srgbClr val="FFFF00"/>
                </a:solidFill>
                <a:latin typeface="Calibri" pitchFamily="34" charset="0"/>
                <a:ea typeface="楷体" pitchFamily="49" charset="-122"/>
                <a:sym typeface="Calibri" pitchFamily="34" charset="0"/>
              </a:rPr>
              <a:t>节：QC实验室检测与研发检测等共用风险与控制策略</a:t>
            </a:r>
          </a:p>
        </p:txBody>
      </p:sp>
    </p:spTree>
  </p:cSld>
  <p:clrMapOvr>
    <a:masterClrMapping/>
  </p:clrMapOvr>
  <p:transition>
    <p:strips dir="ld"/>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3554" name="组合 9"/>
          <p:cNvGrpSpPr>
            <a:grpSpLocks/>
          </p:cNvGrpSpPr>
          <p:nvPr/>
        </p:nvGrpSpPr>
        <p:grpSpPr bwMode="auto">
          <a:xfrm>
            <a:off x="468313" y="2133600"/>
            <a:ext cx="1908175" cy="935038"/>
            <a:chOff x="0" y="0"/>
            <a:chExt cx="1908212" cy="935233"/>
          </a:xfrm>
        </p:grpSpPr>
        <p:sp>
          <p:nvSpPr>
            <p:cNvPr id="23555" name="椭圆 3"/>
            <p:cNvSpPr>
              <a:spLocks/>
            </p:cNvSpPr>
            <p:nvPr/>
          </p:nvSpPr>
          <p:spPr bwMode="auto">
            <a:xfrm>
              <a:off x="0" y="0"/>
              <a:ext cx="1908212" cy="935233"/>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56" name="TextBox 4"/>
            <p:cNvSpPr>
              <a:spLocks noChangeArrowheads="1"/>
            </p:cNvSpPr>
            <p:nvPr/>
          </p:nvSpPr>
          <p:spPr bwMode="auto">
            <a:xfrm>
              <a:off x="234026" y="144450"/>
              <a:ext cx="14401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b="1">
                  <a:solidFill>
                    <a:srgbClr val="FF0000"/>
                  </a:solidFill>
                  <a:sym typeface="Arial" pitchFamily="34" charset="0"/>
                </a:rPr>
                <a:t>数据完整性管理程序</a:t>
              </a:r>
            </a:p>
          </p:txBody>
        </p:sp>
      </p:grpSp>
      <p:grpSp>
        <p:nvGrpSpPr>
          <p:cNvPr id="23557" name="组合 10"/>
          <p:cNvGrpSpPr>
            <a:grpSpLocks/>
          </p:cNvGrpSpPr>
          <p:nvPr/>
        </p:nvGrpSpPr>
        <p:grpSpPr bwMode="auto">
          <a:xfrm>
            <a:off x="1830388" y="1766888"/>
            <a:ext cx="1800225" cy="792162"/>
            <a:chOff x="0" y="0"/>
            <a:chExt cx="1800200" cy="791217"/>
          </a:xfrm>
        </p:grpSpPr>
        <p:sp>
          <p:nvSpPr>
            <p:cNvPr id="23558" name="椭圆 11"/>
            <p:cNvSpPr>
              <a:spLocks/>
            </p:cNvSpPr>
            <p:nvPr/>
          </p:nvSpPr>
          <p:spPr bwMode="auto">
            <a:xfrm>
              <a:off x="0" y="0"/>
              <a:ext cx="1800200" cy="791217"/>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59" name="TextBox 12"/>
            <p:cNvSpPr>
              <a:spLocks noChangeArrowheads="1"/>
            </p:cNvSpPr>
            <p:nvPr/>
          </p:nvSpPr>
          <p:spPr bwMode="auto">
            <a:xfrm>
              <a:off x="216024" y="72007"/>
              <a:ext cx="14401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b="1">
                  <a:solidFill>
                    <a:srgbClr val="FF0000"/>
                  </a:solidFill>
                  <a:sym typeface="Arial" pitchFamily="34" charset="0"/>
                </a:rPr>
                <a:t>计算机化系统管理程序</a:t>
              </a:r>
            </a:p>
          </p:txBody>
        </p:sp>
      </p:grpSp>
      <p:grpSp>
        <p:nvGrpSpPr>
          <p:cNvPr id="23560" name="组合 13"/>
          <p:cNvGrpSpPr>
            <a:grpSpLocks/>
          </p:cNvGrpSpPr>
          <p:nvPr/>
        </p:nvGrpSpPr>
        <p:grpSpPr bwMode="auto">
          <a:xfrm>
            <a:off x="3457575" y="1708150"/>
            <a:ext cx="1349375" cy="995363"/>
            <a:chOff x="0" y="0"/>
            <a:chExt cx="1259604" cy="995337"/>
          </a:xfrm>
        </p:grpSpPr>
        <p:sp>
          <p:nvSpPr>
            <p:cNvPr id="23561" name="椭圆 14"/>
            <p:cNvSpPr>
              <a:spLocks/>
            </p:cNvSpPr>
            <p:nvPr/>
          </p:nvSpPr>
          <p:spPr bwMode="auto">
            <a:xfrm>
              <a:off x="0" y="0"/>
              <a:ext cx="1259604" cy="995337"/>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62" name="TextBox 15"/>
            <p:cNvSpPr>
              <a:spLocks noChangeArrowheads="1"/>
            </p:cNvSpPr>
            <p:nvPr/>
          </p:nvSpPr>
          <p:spPr bwMode="auto">
            <a:xfrm>
              <a:off x="77145" y="72007"/>
              <a:ext cx="118245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a:solidFill>
                    <a:srgbClr val="000000"/>
                  </a:solidFill>
                  <a:sym typeface="Arial" pitchFamily="34" charset="0"/>
                </a:rPr>
                <a:t>计算机化系统验证管理程序</a:t>
              </a:r>
            </a:p>
          </p:txBody>
        </p:sp>
      </p:grpSp>
      <p:grpSp>
        <p:nvGrpSpPr>
          <p:cNvPr id="23563" name="组合 16"/>
          <p:cNvGrpSpPr>
            <a:grpSpLocks/>
          </p:cNvGrpSpPr>
          <p:nvPr/>
        </p:nvGrpSpPr>
        <p:grpSpPr bwMode="auto">
          <a:xfrm>
            <a:off x="4716463" y="1779588"/>
            <a:ext cx="1800225" cy="790575"/>
            <a:chOff x="0" y="0"/>
            <a:chExt cx="1800200" cy="791217"/>
          </a:xfrm>
        </p:grpSpPr>
        <p:sp>
          <p:nvSpPr>
            <p:cNvPr id="23564" name="椭圆 17"/>
            <p:cNvSpPr>
              <a:spLocks/>
            </p:cNvSpPr>
            <p:nvPr/>
          </p:nvSpPr>
          <p:spPr bwMode="auto">
            <a:xfrm>
              <a:off x="0" y="0"/>
              <a:ext cx="1800200" cy="791217"/>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65" name="TextBox 18"/>
            <p:cNvSpPr>
              <a:spLocks noChangeArrowheads="1"/>
            </p:cNvSpPr>
            <p:nvPr/>
          </p:nvSpPr>
          <p:spPr bwMode="auto">
            <a:xfrm>
              <a:off x="216024" y="72007"/>
              <a:ext cx="14401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a:solidFill>
                    <a:srgbClr val="000000"/>
                  </a:solidFill>
                  <a:sym typeface="Arial" pitchFamily="34" charset="0"/>
                </a:rPr>
                <a:t>审计追踪管理程序</a:t>
              </a:r>
            </a:p>
          </p:txBody>
        </p:sp>
      </p:grpSp>
      <p:grpSp>
        <p:nvGrpSpPr>
          <p:cNvPr id="23566" name="组合 19"/>
          <p:cNvGrpSpPr>
            <a:grpSpLocks/>
          </p:cNvGrpSpPr>
          <p:nvPr/>
        </p:nvGrpSpPr>
        <p:grpSpPr bwMode="auto">
          <a:xfrm>
            <a:off x="6227763" y="1911350"/>
            <a:ext cx="1944687" cy="911225"/>
            <a:chOff x="0" y="0"/>
            <a:chExt cx="1944216" cy="911802"/>
          </a:xfrm>
        </p:grpSpPr>
        <p:sp>
          <p:nvSpPr>
            <p:cNvPr id="23567" name="椭圆 20"/>
            <p:cNvSpPr>
              <a:spLocks/>
            </p:cNvSpPr>
            <p:nvPr/>
          </p:nvSpPr>
          <p:spPr bwMode="auto">
            <a:xfrm>
              <a:off x="0" y="0"/>
              <a:ext cx="1944216" cy="911802"/>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68" name="TextBox 21"/>
            <p:cNvSpPr>
              <a:spLocks noChangeArrowheads="1"/>
            </p:cNvSpPr>
            <p:nvPr/>
          </p:nvSpPr>
          <p:spPr bwMode="auto">
            <a:xfrm>
              <a:off x="309201" y="80805"/>
              <a:ext cx="14401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实验室计算机化系统用户权限管理程序</a:t>
              </a:r>
            </a:p>
          </p:txBody>
        </p:sp>
      </p:grpSp>
      <p:grpSp>
        <p:nvGrpSpPr>
          <p:cNvPr id="23569" name="组合 22"/>
          <p:cNvGrpSpPr>
            <a:grpSpLocks/>
          </p:cNvGrpSpPr>
          <p:nvPr/>
        </p:nvGrpSpPr>
        <p:grpSpPr bwMode="auto">
          <a:xfrm>
            <a:off x="6492875" y="2832100"/>
            <a:ext cx="1944688" cy="911225"/>
            <a:chOff x="0" y="0"/>
            <a:chExt cx="1944216" cy="911802"/>
          </a:xfrm>
        </p:grpSpPr>
        <p:sp>
          <p:nvSpPr>
            <p:cNvPr id="23570" name="椭圆 23"/>
            <p:cNvSpPr>
              <a:spLocks/>
            </p:cNvSpPr>
            <p:nvPr/>
          </p:nvSpPr>
          <p:spPr bwMode="auto">
            <a:xfrm>
              <a:off x="0" y="0"/>
              <a:ext cx="1944216" cy="911802"/>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71" name="TextBox 24"/>
            <p:cNvSpPr>
              <a:spLocks noChangeArrowheads="1"/>
            </p:cNvSpPr>
            <p:nvPr/>
          </p:nvSpPr>
          <p:spPr bwMode="auto">
            <a:xfrm>
              <a:off x="309201" y="80805"/>
              <a:ext cx="14401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计算机化系统使用和维护管理程序</a:t>
              </a:r>
            </a:p>
          </p:txBody>
        </p:sp>
      </p:grpSp>
      <p:grpSp>
        <p:nvGrpSpPr>
          <p:cNvPr id="23572" name="组合 25"/>
          <p:cNvGrpSpPr>
            <a:grpSpLocks/>
          </p:cNvGrpSpPr>
          <p:nvPr/>
        </p:nvGrpSpPr>
        <p:grpSpPr bwMode="auto">
          <a:xfrm>
            <a:off x="6516688" y="3736975"/>
            <a:ext cx="1943100" cy="911225"/>
            <a:chOff x="0" y="0"/>
            <a:chExt cx="1944216" cy="911802"/>
          </a:xfrm>
        </p:grpSpPr>
        <p:sp>
          <p:nvSpPr>
            <p:cNvPr id="23573" name="椭圆 26"/>
            <p:cNvSpPr>
              <a:spLocks/>
            </p:cNvSpPr>
            <p:nvPr/>
          </p:nvSpPr>
          <p:spPr bwMode="auto">
            <a:xfrm>
              <a:off x="0" y="0"/>
              <a:ext cx="1944216" cy="911802"/>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74" name="TextBox 27"/>
            <p:cNvSpPr>
              <a:spLocks noChangeArrowheads="1"/>
            </p:cNvSpPr>
            <p:nvPr/>
          </p:nvSpPr>
          <p:spPr bwMode="auto">
            <a:xfrm>
              <a:off x="309201" y="80805"/>
              <a:ext cx="14401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计算机化系统日期和时间管理程序</a:t>
              </a:r>
            </a:p>
          </p:txBody>
        </p:sp>
      </p:grpSp>
      <p:grpSp>
        <p:nvGrpSpPr>
          <p:cNvPr id="23575" name="组合 28"/>
          <p:cNvGrpSpPr>
            <a:grpSpLocks/>
          </p:cNvGrpSpPr>
          <p:nvPr/>
        </p:nvGrpSpPr>
        <p:grpSpPr bwMode="auto">
          <a:xfrm>
            <a:off x="6756400" y="4652963"/>
            <a:ext cx="1943100" cy="912812"/>
            <a:chOff x="0" y="0"/>
            <a:chExt cx="1944216" cy="911802"/>
          </a:xfrm>
        </p:grpSpPr>
        <p:sp>
          <p:nvSpPr>
            <p:cNvPr id="23576" name="椭圆 29"/>
            <p:cNvSpPr>
              <a:spLocks/>
            </p:cNvSpPr>
            <p:nvPr/>
          </p:nvSpPr>
          <p:spPr bwMode="auto">
            <a:xfrm>
              <a:off x="0" y="0"/>
              <a:ext cx="1944216" cy="911802"/>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77" name="TextBox 30"/>
            <p:cNvSpPr>
              <a:spLocks noChangeArrowheads="1"/>
            </p:cNvSpPr>
            <p:nvPr/>
          </p:nvSpPr>
          <p:spPr bwMode="auto">
            <a:xfrm>
              <a:off x="309201" y="80805"/>
              <a:ext cx="14401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计算机化系统数据服务器管理程序</a:t>
              </a:r>
            </a:p>
          </p:txBody>
        </p:sp>
      </p:grpSp>
      <p:grpSp>
        <p:nvGrpSpPr>
          <p:cNvPr id="23578" name="组合 31"/>
          <p:cNvGrpSpPr>
            <a:grpSpLocks/>
          </p:cNvGrpSpPr>
          <p:nvPr/>
        </p:nvGrpSpPr>
        <p:grpSpPr bwMode="auto">
          <a:xfrm>
            <a:off x="6434138" y="5600700"/>
            <a:ext cx="1943100" cy="996950"/>
            <a:chOff x="0" y="0"/>
            <a:chExt cx="1944216" cy="996364"/>
          </a:xfrm>
        </p:grpSpPr>
        <p:sp>
          <p:nvSpPr>
            <p:cNvPr id="23579" name="椭圆 32"/>
            <p:cNvSpPr>
              <a:spLocks/>
            </p:cNvSpPr>
            <p:nvPr/>
          </p:nvSpPr>
          <p:spPr bwMode="auto">
            <a:xfrm>
              <a:off x="0" y="0"/>
              <a:ext cx="1944216" cy="996364"/>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80" name="TextBox 33"/>
            <p:cNvSpPr>
              <a:spLocks noChangeArrowheads="1"/>
            </p:cNvSpPr>
            <p:nvPr/>
          </p:nvSpPr>
          <p:spPr bwMode="auto">
            <a:xfrm>
              <a:off x="309201" y="80805"/>
              <a:ext cx="14401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计算机化系统备份和恢复、数据迁移管理</a:t>
              </a:r>
            </a:p>
          </p:txBody>
        </p:sp>
      </p:grpSp>
      <p:grpSp>
        <p:nvGrpSpPr>
          <p:cNvPr id="23581" name="组合 34"/>
          <p:cNvGrpSpPr>
            <a:grpSpLocks/>
          </p:cNvGrpSpPr>
          <p:nvPr/>
        </p:nvGrpSpPr>
        <p:grpSpPr bwMode="auto">
          <a:xfrm>
            <a:off x="4716463" y="5684838"/>
            <a:ext cx="1836737" cy="912812"/>
            <a:chOff x="0" y="0"/>
            <a:chExt cx="1836713" cy="911802"/>
          </a:xfrm>
        </p:grpSpPr>
        <p:sp>
          <p:nvSpPr>
            <p:cNvPr id="23582" name="椭圆 35"/>
            <p:cNvSpPr>
              <a:spLocks/>
            </p:cNvSpPr>
            <p:nvPr/>
          </p:nvSpPr>
          <p:spPr bwMode="auto">
            <a:xfrm>
              <a:off x="0" y="0"/>
              <a:ext cx="1836713" cy="911802"/>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83" name="TextBox 36"/>
            <p:cNvSpPr>
              <a:spLocks noChangeArrowheads="1"/>
            </p:cNvSpPr>
            <p:nvPr/>
          </p:nvSpPr>
          <p:spPr bwMode="auto">
            <a:xfrm>
              <a:off x="201699" y="80805"/>
              <a:ext cx="14401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各网络版服务器及客户端操作规程</a:t>
              </a:r>
            </a:p>
          </p:txBody>
        </p:sp>
      </p:grpSp>
      <p:grpSp>
        <p:nvGrpSpPr>
          <p:cNvPr id="23584" name="组合 37"/>
          <p:cNvGrpSpPr>
            <a:grpSpLocks/>
          </p:cNvGrpSpPr>
          <p:nvPr/>
        </p:nvGrpSpPr>
        <p:grpSpPr bwMode="auto">
          <a:xfrm>
            <a:off x="3254375" y="5726113"/>
            <a:ext cx="1552575" cy="911225"/>
            <a:chOff x="0" y="0"/>
            <a:chExt cx="1551517" cy="911802"/>
          </a:xfrm>
        </p:grpSpPr>
        <p:sp>
          <p:nvSpPr>
            <p:cNvPr id="23585" name="椭圆 38"/>
            <p:cNvSpPr>
              <a:spLocks/>
            </p:cNvSpPr>
            <p:nvPr/>
          </p:nvSpPr>
          <p:spPr bwMode="auto">
            <a:xfrm>
              <a:off x="0" y="0"/>
              <a:ext cx="1551517" cy="911802"/>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86" name="TextBox 39"/>
            <p:cNvSpPr>
              <a:spLocks noChangeArrowheads="1"/>
            </p:cNvSpPr>
            <p:nvPr/>
          </p:nvSpPr>
          <p:spPr bwMode="auto">
            <a:xfrm>
              <a:off x="78698" y="183181"/>
              <a:ext cx="14401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计算机化系统变更控制程序</a:t>
              </a:r>
            </a:p>
          </p:txBody>
        </p:sp>
      </p:grpSp>
      <p:grpSp>
        <p:nvGrpSpPr>
          <p:cNvPr id="23587" name="组合 40"/>
          <p:cNvGrpSpPr>
            <a:grpSpLocks/>
          </p:cNvGrpSpPr>
          <p:nvPr/>
        </p:nvGrpSpPr>
        <p:grpSpPr bwMode="auto">
          <a:xfrm>
            <a:off x="1403350" y="5754688"/>
            <a:ext cx="1944688" cy="996950"/>
            <a:chOff x="0" y="0"/>
            <a:chExt cx="1944216" cy="996364"/>
          </a:xfrm>
        </p:grpSpPr>
        <p:sp>
          <p:nvSpPr>
            <p:cNvPr id="23588" name="椭圆 41"/>
            <p:cNvSpPr>
              <a:spLocks/>
            </p:cNvSpPr>
            <p:nvPr/>
          </p:nvSpPr>
          <p:spPr bwMode="auto">
            <a:xfrm>
              <a:off x="0" y="0"/>
              <a:ext cx="1944216" cy="996364"/>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89" name="TextBox 42"/>
            <p:cNvSpPr>
              <a:spLocks noChangeArrowheads="1"/>
            </p:cNvSpPr>
            <p:nvPr/>
          </p:nvSpPr>
          <p:spPr bwMode="auto">
            <a:xfrm>
              <a:off x="144016" y="80805"/>
              <a:ext cx="16053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自动过程控制计算机化系统用户权限管理程序</a:t>
              </a:r>
            </a:p>
          </p:txBody>
        </p:sp>
      </p:grpSp>
      <p:grpSp>
        <p:nvGrpSpPr>
          <p:cNvPr id="23590" name="组合 43"/>
          <p:cNvGrpSpPr>
            <a:grpSpLocks/>
          </p:cNvGrpSpPr>
          <p:nvPr/>
        </p:nvGrpSpPr>
        <p:grpSpPr bwMode="auto">
          <a:xfrm>
            <a:off x="452438" y="5013325"/>
            <a:ext cx="1671637" cy="889000"/>
            <a:chOff x="0" y="0"/>
            <a:chExt cx="1671873" cy="889217"/>
          </a:xfrm>
        </p:grpSpPr>
        <p:sp>
          <p:nvSpPr>
            <p:cNvPr id="23591" name="椭圆 44"/>
            <p:cNvSpPr>
              <a:spLocks/>
            </p:cNvSpPr>
            <p:nvPr/>
          </p:nvSpPr>
          <p:spPr bwMode="auto">
            <a:xfrm>
              <a:off x="0" y="0"/>
              <a:ext cx="1671873" cy="889217"/>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92" name="TextBox 45"/>
            <p:cNvSpPr>
              <a:spLocks noChangeArrowheads="1"/>
            </p:cNvSpPr>
            <p:nvPr/>
          </p:nvSpPr>
          <p:spPr bwMode="auto">
            <a:xfrm>
              <a:off x="78698" y="162682"/>
              <a:ext cx="14401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灾难性恢复管理程序</a:t>
              </a:r>
            </a:p>
          </p:txBody>
        </p:sp>
      </p:grpSp>
      <p:grpSp>
        <p:nvGrpSpPr>
          <p:cNvPr id="23593" name="组合 46"/>
          <p:cNvGrpSpPr>
            <a:grpSpLocks/>
          </p:cNvGrpSpPr>
          <p:nvPr/>
        </p:nvGrpSpPr>
        <p:grpSpPr bwMode="auto">
          <a:xfrm>
            <a:off x="252413" y="4005263"/>
            <a:ext cx="1763712" cy="965200"/>
            <a:chOff x="0" y="0"/>
            <a:chExt cx="1626590" cy="741544"/>
          </a:xfrm>
        </p:grpSpPr>
        <p:sp>
          <p:nvSpPr>
            <p:cNvPr id="23594" name="椭圆 47"/>
            <p:cNvSpPr>
              <a:spLocks/>
            </p:cNvSpPr>
            <p:nvPr/>
          </p:nvSpPr>
          <p:spPr bwMode="auto">
            <a:xfrm>
              <a:off x="0" y="0"/>
              <a:ext cx="1626590" cy="741544"/>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95" name="TextBox 48"/>
            <p:cNvSpPr>
              <a:spLocks noChangeArrowheads="1"/>
            </p:cNvSpPr>
            <p:nvPr/>
          </p:nvSpPr>
          <p:spPr bwMode="auto">
            <a:xfrm>
              <a:off x="78698" y="156769"/>
              <a:ext cx="14401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计算机化系统退役管理程序</a:t>
              </a:r>
            </a:p>
          </p:txBody>
        </p:sp>
      </p:grpSp>
      <p:grpSp>
        <p:nvGrpSpPr>
          <p:cNvPr id="23596" name="组合 49"/>
          <p:cNvGrpSpPr>
            <a:grpSpLocks/>
          </p:cNvGrpSpPr>
          <p:nvPr/>
        </p:nvGrpSpPr>
        <p:grpSpPr bwMode="auto">
          <a:xfrm>
            <a:off x="473075" y="3094038"/>
            <a:ext cx="1577975" cy="911225"/>
            <a:chOff x="0" y="0"/>
            <a:chExt cx="1371763" cy="741544"/>
          </a:xfrm>
        </p:grpSpPr>
        <p:sp>
          <p:nvSpPr>
            <p:cNvPr id="23597" name="椭圆 50"/>
            <p:cNvSpPr>
              <a:spLocks/>
            </p:cNvSpPr>
            <p:nvPr/>
          </p:nvSpPr>
          <p:spPr bwMode="auto">
            <a:xfrm>
              <a:off x="0" y="0"/>
              <a:ext cx="1371763" cy="741544"/>
            </a:xfrm>
            <a:prstGeom prst="ellipse">
              <a:avLst/>
            </a:prstGeom>
            <a:solidFill>
              <a:schemeClr val="bg1"/>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3598" name="TextBox 51"/>
            <p:cNvSpPr>
              <a:spLocks noChangeArrowheads="1"/>
            </p:cNvSpPr>
            <p:nvPr/>
          </p:nvSpPr>
          <p:spPr bwMode="auto">
            <a:xfrm>
              <a:off x="92133" y="132947"/>
              <a:ext cx="1033728" cy="475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1600">
                  <a:solidFill>
                    <a:srgbClr val="000000"/>
                  </a:solidFill>
                  <a:sym typeface="Arial" pitchFamily="34" charset="0"/>
                </a:rPr>
                <a:t>应急事件管理程序</a:t>
              </a:r>
            </a:p>
          </p:txBody>
        </p:sp>
      </p:grpSp>
      <p:sp>
        <p:nvSpPr>
          <p:cNvPr id="23599" name="直接箭头连接符 53"/>
          <p:cNvSpPr>
            <a:spLocks noChangeShapeType="1"/>
          </p:cNvSpPr>
          <p:nvPr/>
        </p:nvSpPr>
        <p:spPr bwMode="auto">
          <a:xfrm>
            <a:off x="4427538" y="4122738"/>
            <a:ext cx="2170112" cy="890587"/>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0" name="直接箭头连接符 54"/>
          <p:cNvSpPr>
            <a:spLocks noChangeShapeType="1"/>
          </p:cNvSpPr>
          <p:nvPr/>
        </p:nvSpPr>
        <p:spPr bwMode="auto">
          <a:xfrm>
            <a:off x="4678363" y="4387850"/>
            <a:ext cx="1874837" cy="1177925"/>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1" name="直接箭头连接符 56"/>
          <p:cNvSpPr>
            <a:spLocks noChangeShapeType="1"/>
          </p:cNvSpPr>
          <p:nvPr/>
        </p:nvSpPr>
        <p:spPr bwMode="auto">
          <a:xfrm>
            <a:off x="4203700" y="4418013"/>
            <a:ext cx="1231900" cy="1182687"/>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2" name="直接箭头连接符 58"/>
          <p:cNvSpPr>
            <a:spLocks noChangeShapeType="1"/>
          </p:cNvSpPr>
          <p:nvPr/>
        </p:nvSpPr>
        <p:spPr bwMode="auto">
          <a:xfrm>
            <a:off x="4532313" y="4037013"/>
            <a:ext cx="1825625" cy="171450"/>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3" name="直接箭头连接符 60"/>
          <p:cNvSpPr>
            <a:spLocks noChangeShapeType="1"/>
          </p:cNvSpPr>
          <p:nvPr/>
        </p:nvSpPr>
        <p:spPr bwMode="auto">
          <a:xfrm flipV="1">
            <a:off x="4289425" y="3497263"/>
            <a:ext cx="2119313" cy="327025"/>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4" name="直接箭头连接符 62"/>
          <p:cNvSpPr>
            <a:spLocks noChangeShapeType="1"/>
          </p:cNvSpPr>
          <p:nvPr/>
        </p:nvSpPr>
        <p:spPr bwMode="auto">
          <a:xfrm flipV="1">
            <a:off x="4203700" y="2822575"/>
            <a:ext cx="2024063" cy="914400"/>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5" name="直接箭头连接符 65"/>
          <p:cNvSpPr>
            <a:spLocks noChangeShapeType="1"/>
          </p:cNvSpPr>
          <p:nvPr/>
        </p:nvSpPr>
        <p:spPr bwMode="auto">
          <a:xfrm flipV="1">
            <a:off x="3924300" y="2643188"/>
            <a:ext cx="1292225" cy="1017587"/>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6" name="直接箭头连接符 68"/>
          <p:cNvSpPr>
            <a:spLocks noChangeShapeType="1"/>
          </p:cNvSpPr>
          <p:nvPr/>
        </p:nvSpPr>
        <p:spPr bwMode="auto">
          <a:xfrm flipV="1">
            <a:off x="3630613" y="2770188"/>
            <a:ext cx="414337" cy="973137"/>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7" name="直接箭头连接符 70"/>
          <p:cNvSpPr>
            <a:spLocks noChangeShapeType="1"/>
          </p:cNvSpPr>
          <p:nvPr/>
        </p:nvSpPr>
        <p:spPr bwMode="auto">
          <a:xfrm flipH="1" flipV="1">
            <a:off x="2973388" y="2670175"/>
            <a:ext cx="360362" cy="1073150"/>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8" name="直接箭头连接符 72"/>
          <p:cNvSpPr>
            <a:spLocks noChangeShapeType="1"/>
          </p:cNvSpPr>
          <p:nvPr/>
        </p:nvSpPr>
        <p:spPr bwMode="auto">
          <a:xfrm flipH="1" flipV="1">
            <a:off x="2320925" y="3068638"/>
            <a:ext cx="933450" cy="773112"/>
          </a:xfrm>
          <a:prstGeom prst="straightConnector1">
            <a:avLst/>
          </a:prstGeom>
          <a:noFill/>
          <a:ln w="38100" cap="flat" cmpd="sng">
            <a:solidFill>
              <a:srgbClr val="FF0000"/>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09" name="直接箭头连接符 74"/>
          <p:cNvSpPr>
            <a:spLocks noChangeShapeType="1"/>
          </p:cNvSpPr>
          <p:nvPr/>
        </p:nvSpPr>
        <p:spPr bwMode="auto">
          <a:xfrm flipH="1" flipV="1">
            <a:off x="2152650" y="3573463"/>
            <a:ext cx="1101725" cy="549275"/>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10" name="直接箭头连接符 76"/>
          <p:cNvSpPr>
            <a:spLocks noChangeShapeType="1"/>
          </p:cNvSpPr>
          <p:nvPr/>
        </p:nvSpPr>
        <p:spPr bwMode="auto">
          <a:xfrm flipH="1">
            <a:off x="2166938" y="4387850"/>
            <a:ext cx="1087437" cy="100013"/>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11" name="直接箭头连接符 78"/>
          <p:cNvSpPr>
            <a:spLocks noChangeShapeType="1"/>
          </p:cNvSpPr>
          <p:nvPr/>
        </p:nvSpPr>
        <p:spPr bwMode="auto">
          <a:xfrm flipH="1">
            <a:off x="2117725" y="4568825"/>
            <a:ext cx="1230313" cy="590550"/>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12" name="直接箭头连接符 80"/>
          <p:cNvSpPr>
            <a:spLocks noChangeShapeType="1"/>
          </p:cNvSpPr>
          <p:nvPr/>
        </p:nvSpPr>
        <p:spPr bwMode="auto">
          <a:xfrm flipH="1">
            <a:off x="2538413" y="4652963"/>
            <a:ext cx="1001712" cy="969962"/>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13" name="直接箭头连接符 82"/>
          <p:cNvSpPr>
            <a:spLocks noChangeShapeType="1"/>
          </p:cNvSpPr>
          <p:nvPr/>
        </p:nvSpPr>
        <p:spPr bwMode="auto">
          <a:xfrm>
            <a:off x="3924300" y="4556125"/>
            <a:ext cx="0" cy="1044575"/>
          </a:xfrm>
          <a:prstGeom prst="straightConnector1">
            <a:avLst/>
          </a:prstGeom>
          <a:noFill/>
          <a:ln w="127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14" name="椭圆 84"/>
          <p:cNvSpPr>
            <a:spLocks noChangeArrowheads="1"/>
          </p:cNvSpPr>
          <p:nvPr/>
        </p:nvSpPr>
        <p:spPr bwMode="auto">
          <a:xfrm>
            <a:off x="2800350" y="3360738"/>
            <a:ext cx="2416175" cy="1652587"/>
          </a:xfrm>
          <a:prstGeom prst="ellipse">
            <a:avLst/>
          </a:prstGeom>
          <a:solidFill>
            <a:schemeClr val="bg1"/>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sz="3200">
              <a:solidFill>
                <a:srgbClr val="0070C0"/>
              </a:solidFill>
              <a:sym typeface="Arial" pitchFamily="34" charset="0"/>
            </a:endParaRPr>
          </a:p>
        </p:txBody>
      </p:sp>
      <p:sp>
        <p:nvSpPr>
          <p:cNvPr id="23615" name="矩形 87"/>
          <p:cNvSpPr>
            <a:spLocks noChangeArrowheads="1"/>
          </p:cNvSpPr>
          <p:nvPr/>
        </p:nvSpPr>
        <p:spPr bwMode="auto">
          <a:xfrm>
            <a:off x="3246438" y="3657600"/>
            <a:ext cx="1436687"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algn="ctr"/>
            <a:r>
              <a:rPr lang="zh-CN" altLang="en-US" sz="3200" b="1">
                <a:solidFill>
                  <a:srgbClr val="0070C0"/>
                </a:solidFill>
                <a:latin typeface="楷体" pitchFamily="49" charset="-122"/>
                <a:ea typeface="楷体" pitchFamily="49" charset="-122"/>
                <a:sym typeface="楷体" pitchFamily="49" charset="-122"/>
              </a:rPr>
              <a:t>数据</a:t>
            </a:r>
            <a:endParaRPr lang="en-US" sz="3200" b="1">
              <a:solidFill>
                <a:srgbClr val="0070C0"/>
              </a:solidFill>
              <a:latin typeface="楷体" pitchFamily="49" charset="-122"/>
              <a:ea typeface="楷体" pitchFamily="49" charset="-122"/>
              <a:sym typeface="楷体" pitchFamily="49" charset="-122"/>
            </a:endParaRPr>
          </a:p>
          <a:p>
            <a:pPr algn="ctr"/>
            <a:r>
              <a:rPr lang="zh-CN" altLang="en-US" sz="3200" b="1">
                <a:solidFill>
                  <a:srgbClr val="0070C0"/>
                </a:solidFill>
                <a:latin typeface="楷体" pitchFamily="49" charset="-122"/>
                <a:ea typeface="楷体" pitchFamily="49" charset="-122"/>
                <a:sym typeface="楷体" pitchFamily="49" charset="-122"/>
              </a:rPr>
              <a:t>完整性</a:t>
            </a:r>
          </a:p>
          <a:p>
            <a:pPr algn="ctr"/>
            <a:r>
              <a:rPr lang="zh-CN" altLang="en-US" sz="2400">
                <a:solidFill>
                  <a:srgbClr val="0070C0"/>
                </a:solidFill>
                <a:sym typeface="Arial" pitchFamily="34" charset="0"/>
              </a:rPr>
              <a:t>（</a:t>
            </a:r>
            <a:r>
              <a:rPr lang="en-US" sz="2400">
                <a:solidFill>
                  <a:srgbClr val="0070C0"/>
                </a:solidFill>
                <a:sym typeface="Arial" pitchFamily="34" charset="0"/>
              </a:rPr>
              <a:t>15</a:t>
            </a:r>
            <a:r>
              <a:rPr lang="zh-CN" altLang="en-US" sz="2400">
                <a:solidFill>
                  <a:srgbClr val="0070C0"/>
                </a:solidFill>
                <a:sym typeface="Arial" pitchFamily="34" charset="0"/>
              </a:rPr>
              <a:t>项）</a:t>
            </a:r>
          </a:p>
        </p:txBody>
      </p:sp>
      <p:sp>
        <p:nvSpPr>
          <p:cNvPr id="23616" name="Rectangle 3"/>
          <p:cNvSpPr>
            <a:spLocks noChangeArrowheads="1"/>
          </p:cNvSpPr>
          <p:nvPr/>
        </p:nvSpPr>
        <p:spPr bwMode="auto">
          <a:xfrm>
            <a:off x="2327275" y="15875"/>
            <a:ext cx="686911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3</a:t>
            </a:r>
            <a:r>
              <a:rPr lang="zh-CN" altLang="en-US" sz="2400" b="1">
                <a:solidFill>
                  <a:srgbClr val="FFFF00"/>
                </a:solidFill>
                <a:latin typeface="Calibri" pitchFamily="34" charset="0"/>
                <a:ea typeface="楷体" pitchFamily="49" charset="-122"/>
                <a:sym typeface="Calibri" pitchFamily="34" charset="0"/>
              </a:rPr>
              <a:t>节：数据完整性管控的体系建设要点（程序）</a:t>
            </a:r>
          </a:p>
        </p:txBody>
      </p:sp>
    </p:spTree>
  </p:cSld>
  <p:clrMapOvr>
    <a:masterClrMapping/>
  </p:clrMapOvr>
  <p:transition>
    <p:strips dir="ld"/>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Text Box 4"/>
          <p:cNvSpPr>
            <a:spLocks noChangeArrowheads="1"/>
          </p:cNvSpPr>
          <p:nvPr/>
        </p:nvSpPr>
        <p:spPr bwMode="auto">
          <a:xfrm>
            <a:off x="866775" y="1200150"/>
            <a:ext cx="73009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b="1">
                <a:solidFill>
                  <a:srgbClr val="FF3300"/>
                </a:solidFill>
                <a:latin typeface="楷体" pitchFamily="49" charset="-122"/>
                <a:ea typeface="楷体" pitchFamily="49" charset="-122"/>
                <a:sym typeface="楷体" pitchFamily="49" charset="-122"/>
              </a:rPr>
              <a:t>硬件配置的阶段化考虑或建议（以配置服务器考虑）</a:t>
            </a:r>
            <a:endParaRPr lang="zh-CN" altLang="en-US" sz="1600">
              <a:solidFill>
                <a:srgbClr val="000000"/>
              </a:solidFill>
              <a:sym typeface="Arial" pitchFamily="34" charset="0"/>
            </a:endParaRPr>
          </a:p>
        </p:txBody>
      </p:sp>
      <p:sp>
        <p:nvSpPr>
          <p:cNvPr id="24579" name="Text Box 5"/>
          <p:cNvSpPr>
            <a:spLocks noChangeArrowheads="1"/>
          </p:cNvSpPr>
          <p:nvPr/>
        </p:nvSpPr>
        <p:spPr bwMode="auto">
          <a:xfrm>
            <a:off x="179388" y="1774825"/>
            <a:ext cx="87122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457200" indent="-457200">
              <a:lnSpc>
                <a:spcPct val="150000"/>
              </a:lnSpc>
              <a:buFont typeface="Calibri" pitchFamily="34" charset="0"/>
              <a:buAutoNum type="arabicPeriod"/>
            </a:pPr>
            <a:r>
              <a:rPr lang="zh-CN" altLang="en-US" sz="2000" b="1">
                <a:solidFill>
                  <a:schemeClr val="hlink"/>
                </a:solidFill>
                <a:latin typeface="楷体" pitchFamily="49" charset="-122"/>
                <a:ea typeface="楷体" pitchFamily="49" charset="-122"/>
                <a:sym typeface="楷体" pitchFamily="49" charset="-122"/>
              </a:rPr>
              <a:t>产品检验放行</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pPr>
            <a:r>
              <a:rPr lang="en-US" sz="2000" b="1">
                <a:solidFill>
                  <a:schemeClr val="hlink"/>
                </a:solidFill>
                <a:latin typeface="楷体" pitchFamily="49" charset="-122"/>
                <a:ea typeface="楷体" pitchFamily="49" charset="-122"/>
                <a:sym typeface="楷体" pitchFamily="49" charset="-122"/>
              </a:rPr>
              <a:t>   </a:t>
            </a:r>
            <a:r>
              <a:rPr lang="zh-CN" altLang="en-US" sz="2000" b="1">
                <a:solidFill>
                  <a:schemeClr val="hlink"/>
                </a:solidFill>
                <a:latin typeface="楷体" pitchFamily="49" charset="-122"/>
                <a:ea typeface="楷体" pitchFamily="49" charset="-122"/>
                <a:sym typeface="楷体" pitchFamily="49" charset="-122"/>
              </a:rPr>
              <a:t>第一阶段：</a:t>
            </a:r>
            <a:r>
              <a:rPr lang="en-US" sz="2000" b="1">
                <a:solidFill>
                  <a:schemeClr val="hlink"/>
                </a:solidFill>
                <a:latin typeface="楷体" pitchFamily="49" charset="-122"/>
                <a:ea typeface="楷体" pitchFamily="49" charset="-122"/>
                <a:sym typeface="楷体" pitchFamily="49" charset="-122"/>
              </a:rPr>
              <a:t>HPLC</a:t>
            </a:r>
            <a:r>
              <a:rPr lang="zh-CN" altLang="en-US" sz="2000" b="1">
                <a:solidFill>
                  <a:schemeClr val="hlink"/>
                </a:solidFill>
                <a:latin typeface="楷体" pitchFamily="49" charset="-122"/>
                <a:ea typeface="楷体" pitchFamily="49" charset="-122"/>
                <a:sym typeface="楷体" pitchFamily="49" charset="-122"/>
              </a:rPr>
              <a:t>、</a:t>
            </a:r>
            <a:r>
              <a:rPr lang="en-US" sz="2000" b="1">
                <a:solidFill>
                  <a:schemeClr val="hlink"/>
                </a:solidFill>
                <a:latin typeface="楷体" pitchFamily="49" charset="-122"/>
                <a:ea typeface="楷体" pitchFamily="49" charset="-122"/>
                <a:sym typeface="楷体" pitchFamily="49" charset="-122"/>
              </a:rPr>
              <a:t>GC</a:t>
            </a:r>
            <a:r>
              <a:rPr lang="zh-CN" altLang="en-US" sz="2000" b="1">
                <a:solidFill>
                  <a:schemeClr val="hlink"/>
                </a:solidFill>
                <a:latin typeface="楷体" pitchFamily="49" charset="-122"/>
                <a:ea typeface="楷体" pitchFamily="49" charset="-122"/>
                <a:sym typeface="楷体" pitchFamily="49" charset="-122"/>
              </a:rPr>
              <a:t>首先要上服务器；</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pPr>
            <a:r>
              <a:rPr lang="en-US" sz="2000" b="1">
                <a:solidFill>
                  <a:schemeClr val="hlink"/>
                </a:solidFill>
                <a:latin typeface="楷体" pitchFamily="49" charset="-122"/>
                <a:ea typeface="楷体" pitchFamily="49" charset="-122"/>
                <a:sym typeface="楷体" pitchFamily="49" charset="-122"/>
              </a:rPr>
              <a:t>   </a:t>
            </a:r>
            <a:r>
              <a:rPr lang="zh-CN" altLang="en-US" sz="2000" b="1">
                <a:solidFill>
                  <a:schemeClr val="hlink"/>
                </a:solidFill>
                <a:latin typeface="楷体" pitchFamily="49" charset="-122"/>
                <a:ea typeface="楷体" pitchFamily="49" charset="-122"/>
                <a:sym typeface="楷体" pitchFamily="49" charset="-122"/>
              </a:rPr>
              <a:t>第二阶段：</a:t>
            </a:r>
            <a:r>
              <a:rPr lang="en-US" sz="2000" b="1">
                <a:solidFill>
                  <a:schemeClr val="hlink"/>
                </a:solidFill>
                <a:latin typeface="楷体" pitchFamily="49" charset="-122"/>
                <a:ea typeface="楷体" pitchFamily="49" charset="-122"/>
                <a:sym typeface="楷体" pitchFamily="49" charset="-122"/>
              </a:rPr>
              <a:t>UV</a:t>
            </a:r>
            <a:r>
              <a:rPr lang="zh-CN" altLang="en-US" sz="2000" b="1">
                <a:solidFill>
                  <a:schemeClr val="hlink"/>
                </a:solidFill>
                <a:latin typeface="楷体" pitchFamily="49" charset="-122"/>
                <a:ea typeface="楷体" pitchFamily="49" charset="-122"/>
                <a:sym typeface="楷体" pitchFamily="49" charset="-122"/>
              </a:rPr>
              <a:t>、红外、</a:t>
            </a:r>
            <a:r>
              <a:rPr lang="en-US" sz="2000" b="1">
                <a:solidFill>
                  <a:schemeClr val="hlink"/>
                </a:solidFill>
                <a:latin typeface="楷体" pitchFamily="49" charset="-122"/>
                <a:ea typeface="楷体" pitchFamily="49" charset="-122"/>
                <a:sym typeface="楷体" pitchFamily="49" charset="-122"/>
              </a:rPr>
              <a:t>TOC</a:t>
            </a:r>
            <a:r>
              <a:rPr lang="zh-CN" altLang="en-US" sz="2000" b="1">
                <a:solidFill>
                  <a:schemeClr val="hlink"/>
                </a:solidFill>
                <a:latin typeface="楷体" pitchFamily="49" charset="-122"/>
                <a:ea typeface="楷体" pitchFamily="49" charset="-122"/>
                <a:sym typeface="楷体" pitchFamily="49" charset="-122"/>
              </a:rPr>
              <a:t>、卡氏水分测定上服务器；</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pPr>
            <a:r>
              <a:rPr lang="en-US" sz="2000" b="1">
                <a:solidFill>
                  <a:schemeClr val="hlink"/>
                </a:solidFill>
                <a:latin typeface="楷体" pitchFamily="49" charset="-122"/>
                <a:ea typeface="楷体" pitchFamily="49" charset="-122"/>
                <a:sym typeface="楷体" pitchFamily="49" charset="-122"/>
              </a:rPr>
              <a:t>   </a:t>
            </a:r>
            <a:r>
              <a:rPr lang="zh-CN" altLang="en-US" sz="2000" b="1">
                <a:solidFill>
                  <a:schemeClr val="hlink"/>
                </a:solidFill>
                <a:latin typeface="楷体" pitchFamily="49" charset="-122"/>
                <a:ea typeface="楷体" pitchFamily="49" charset="-122"/>
                <a:sym typeface="楷体" pitchFamily="49" charset="-122"/>
              </a:rPr>
              <a:t>不需要上服务器：不贮存数据</a:t>
            </a:r>
            <a:r>
              <a:rPr lang="en-US" sz="2000" b="1">
                <a:solidFill>
                  <a:schemeClr val="hlink"/>
                </a:solidFill>
                <a:latin typeface="楷体" pitchFamily="49" charset="-122"/>
                <a:ea typeface="楷体" pitchFamily="49" charset="-122"/>
                <a:sym typeface="楷体" pitchFamily="49" charset="-122"/>
              </a:rPr>
              <a:t>/</a:t>
            </a:r>
            <a:r>
              <a:rPr lang="zh-CN" altLang="en-US" sz="2000" b="1">
                <a:solidFill>
                  <a:schemeClr val="hlink"/>
                </a:solidFill>
                <a:latin typeface="楷体" pitchFamily="49" charset="-122"/>
                <a:ea typeface="楷体" pitchFamily="49" charset="-122"/>
                <a:sym typeface="楷体" pitchFamily="49" charset="-122"/>
              </a:rPr>
              <a:t>仅有事件记录</a:t>
            </a:r>
            <a:r>
              <a:rPr lang="en-US" sz="2000" b="1">
                <a:solidFill>
                  <a:schemeClr val="hlink"/>
                </a:solidFill>
                <a:latin typeface="楷体" pitchFamily="49" charset="-122"/>
                <a:ea typeface="楷体" pitchFamily="49" charset="-122"/>
                <a:sym typeface="楷体" pitchFamily="49" charset="-122"/>
              </a:rPr>
              <a:t>/</a:t>
            </a:r>
            <a:r>
              <a:rPr lang="zh-CN" altLang="en-US" sz="2000" b="1">
                <a:solidFill>
                  <a:schemeClr val="hlink"/>
                </a:solidFill>
                <a:latin typeface="楷体" pitchFamily="49" charset="-122"/>
                <a:ea typeface="楷体" pitchFamily="49" charset="-122"/>
                <a:sym typeface="楷体" pitchFamily="49" charset="-122"/>
              </a:rPr>
              <a:t>某些单机版</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pPr>
            <a:r>
              <a:rPr lang="en-US" sz="2000" b="1">
                <a:solidFill>
                  <a:schemeClr val="hlink"/>
                </a:solidFill>
                <a:latin typeface="楷体" pitchFamily="49" charset="-122"/>
                <a:ea typeface="楷体" pitchFamily="49" charset="-122"/>
                <a:sym typeface="楷体" pitchFamily="49" charset="-122"/>
              </a:rPr>
              <a:t>   </a:t>
            </a:r>
            <a:r>
              <a:rPr lang="zh-CN" altLang="en-US" sz="2000" b="1">
                <a:solidFill>
                  <a:schemeClr val="hlink"/>
                </a:solidFill>
                <a:latin typeface="楷体" pitchFamily="49" charset="-122"/>
                <a:ea typeface="楷体" pitchFamily="49" charset="-122"/>
                <a:sym typeface="楷体" pitchFamily="49" charset="-122"/>
              </a:rPr>
              <a:t>（例如：颗粒度、振荡筛、效价测定仪等）</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buFont typeface="Calibri" pitchFamily="34" charset="0"/>
              <a:buAutoNum type="arabicPeriod" startAt="2"/>
            </a:pPr>
            <a:r>
              <a:rPr lang="zh-CN" altLang="en-US" sz="2000" b="1">
                <a:solidFill>
                  <a:schemeClr val="hlink"/>
                </a:solidFill>
                <a:latin typeface="楷体" pitchFamily="49" charset="-122"/>
                <a:ea typeface="楷体" pitchFamily="49" charset="-122"/>
                <a:sym typeface="楷体" pitchFamily="49" charset="-122"/>
              </a:rPr>
              <a:t>研发与中控</a:t>
            </a:r>
            <a:r>
              <a:rPr lang="en-US" sz="2000" b="1">
                <a:solidFill>
                  <a:schemeClr val="hlink"/>
                </a:solidFill>
                <a:latin typeface="楷体" pitchFamily="49" charset="-122"/>
                <a:ea typeface="楷体" pitchFamily="49" charset="-122"/>
                <a:sym typeface="楷体" pitchFamily="49" charset="-122"/>
              </a:rPr>
              <a:t>——</a:t>
            </a:r>
            <a:r>
              <a:rPr lang="zh-CN" altLang="en-US" sz="2000" b="1">
                <a:solidFill>
                  <a:schemeClr val="hlink"/>
                </a:solidFill>
                <a:latin typeface="楷体" pitchFamily="49" charset="-122"/>
                <a:ea typeface="楷体" pitchFamily="49" charset="-122"/>
                <a:sym typeface="楷体" pitchFamily="49" charset="-122"/>
              </a:rPr>
              <a:t>研发、中间体检测（根据公司发展与市场，考虑决定是否上服务器）</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buFont typeface="Calibri" pitchFamily="34" charset="0"/>
              <a:buAutoNum type="arabicPeriod" startAt="2"/>
            </a:pPr>
            <a:r>
              <a:rPr lang="zh-CN" altLang="en-US" sz="2000" b="1">
                <a:solidFill>
                  <a:schemeClr val="hlink"/>
                </a:solidFill>
                <a:latin typeface="楷体" pitchFamily="49" charset="-122"/>
                <a:ea typeface="楷体" pitchFamily="49" charset="-122"/>
                <a:sym typeface="楷体" pitchFamily="49" charset="-122"/>
              </a:rPr>
              <a:t>生产过程控制</a:t>
            </a:r>
            <a:r>
              <a:rPr lang="en-US" sz="2000" b="1">
                <a:solidFill>
                  <a:schemeClr val="hlink"/>
                </a:solidFill>
                <a:latin typeface="楷体" pitchFamily="49" charset="-122"/>
                <a:ea typeface="楷体" pitchFamily="49" charset="-122"/>
                <a:sym typeface="楷体" pitchFamily="49" charset="-122"/>
              </a:rPr>
              <a:t>&gt;</a:t>
            </a:r>
            <a:r>
              <a:rPr lang="zh-CN" altLang="en-US" sz="2000" b="1">
                <a:solidFill>
                  <a:schemeClr val="hlink"/>
                </a:solidFill>
                <a:latin typeface="楷体" pitchFamily="49" charset="-122"/>
                <a:ea typeface="楷体" pitchFamily="49" charset="-122"/>
                <a:sym typeface="楷体" pitchFamily="49" charset="-122"/>
              </a:rPr>
              <a:t>制水系统</a:t>
            </a:r>
            <a:r>
              <a:rPr lang="en-US" sz="2000" b="1">
                <a:solidFill>
                  <a:schemeClr val="hlink"/>
                </a:solidFill>
                <a:latin typeface="楷体" pitchFamily="49" charset="-122"/>
                <a:ea typeface="楷体" pitchFamily="49" charset="-122"/>
                <a:sym typeface="楷体" pitchFamily="49" charset="-122"/>
              </a:rPr>
              <a:t>&gt;</a:t>
            </a:r>
            <a:r>
              <a:rPr lang="zh-CN" altLang="en-US" sz="2000" b="1">
                <a:solidFill>
                  <a:schemeClr val="hlink"/>
                </a:solidFill>
                <a:latin typeface="楷体" pitchFamily="49" charset="-122"/>
                <a:ea typeface="楷体" pitchFamily="49" charset="-122"/>
                <a:sym typeface="楷体" pitchFamily="49" charset="-122"/>
              </a:rPr>
              <a:t>生产环境控制等（通常不需要上服务器）</a:t>
            </a:r>
          </a:p>
        </p:txBody>
      </p:sp>
      <p:sp>
        <p:nvSpPr>
          <p:cNvPr id="24580" name="AutoShape 2"/>
          <p:cNvSpPr>
            <a:spLocks/>
          </p:cNvSpPr>
          <p:nvPr/>
        </p:nvSpPr>
        <p:spPr bwMode="auto">
          <a:xfrm>
            <a:off x="1404938" y="5735638"/>
            <a:ext cx="5399087" cy="504825"/>
          </a:xfrm>
          <a:prstGeom prst="roundRect">
            <a:avLst>
              <a:gd name="adj" fmla="val 16667"/>
            </a:avLst>
          </a:pr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24581" name="Text Box 3"/>
          <p:cNvSpPr>
            <a:spLocks noChangeArrowheads="1"/>
          </p:cNvSpPr>
          <p:nvPr/>
        </p:nvSpPr>
        <p:spPr bwMode="auto">
          <a:xfrm>
            <a:off x="1789113" y="5807075"/>
            <a:ext cx="4724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200" b="1">
                <a:solidFill>
                  <a:srgbClr val="FF0000"/>
                </a:solidFill>
                <a:latin typeface="楷体" pitchFamily="49" charset="-122"/>
                <a:ea typeface="楷体" pitchFamily="49" charset="-122"/>
                <a:sym typeface="楷体" pitchFamily="49" charset="-122"/>
              </a:rPr>
              <a:t>服务器的选型</a:t>
            </a:r>
            <a:r>
              <a:rPr lang="en-US" sz="2200" b="1">
                <a:solidFill>
                  <a:srgbClr val="FF0000"/>
                </a:solidFill>
                <a:latin typeface="楷体" pitchFamily="49" charset="-122"/>
                <a:ea typeface="楷体" pitchFamily="49" charset="-122"/>
                <a:sym typeface="楷体" pitchFamily="49" charset="-122"/>
              </a:rPr>
              <a:t>——</a:t>
            </a:r>
            <a:r>
              <a:rPr lang="zh-CN" altLang="en-US" sz="2200" b="1">
                <a:solidFill>
                  <a:srgbClr val="FF0000"/>
                </a:solidFill>
                <a:latin typeface="楷体" pitchFamily="49" charset="-122"/>
                <a:ea typeface="楷体" pitchFamily="49" charset="-122"/>
                <a:sym typeface="楷体" pitchFamily="49" charset="-122"/>
              </a:rPr>
              <a:t>兼容性、安全性等</a:t>
            </a:r>
          </a:p>
        </p:txBody>
      </p:sp>
      <p:sp>
        <p:nvSpPr>
          <p:cNvPr id="24582" name="Rectangle 3"/>
          <p:cNvSpPr>
            <a:spLocks noChangeArrowheads="1"/>
          </p:cNvSpPr>
          <p:nvPr/>
        </p:nvSpPr>
        <p:spPr bwMode="auto">
          <a:xfrm>
            <a:off x="2487613" y="44450"/>
            <a:ext cx="64039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4</a:t>
            </a:r>
            <a:r>
              <a:rPr lang="zh-CN" altLang="en-US" sz="2400" b="1">
                <a:solidFill>
                  <a:srgbClr val="FFFF00"/>
                </a:solidFill>
                <a:latin typeface="Calibri" pitchFamily="34" charset="0"/>
                <a:ea typeface="楷体" pitchFamily="49" charset="-122"/>
                <a:sym typeface="Calibri" pitchFamily="34" charset="0"/>
              </a:rPr>
              <a:t>节：预防数据完整性问题的硬件配置原则</a:t>
            </a:r>
          </a:p>
        </p:txBody>
      </p:sp>
    </p:spTree>
  </p:cSld>
  <p:clrMapOvr>
    <a:masterClrMapping/>
  </p:clrMapOvr>
  <p:transition>
    <p:strips dir="ld"/>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Text Box 4"/>
          <p:cNvSpPr>
            <a:spLocks noChangeArrowheads="1"/>
          </p:cNvSpPr>
          <p:nvPr/>
        </p:nvSpPr>
        <p:spPr bwMode="auto">
          <a:xfrm>
            <a:off x="4033838" y="1238250"/>
            <a:ext cx="10366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200" b="1">
                <a:solidFill>
                  <a:srgbClr val="FF0000"/>
                </a:solidFill>
                <a:latin typeface="楷体" pitchFamily="49" charset="-122"/>
                <a:ea typeface="楷体" pitchFamily="49" charset="-122"/>
                <a:sym typeface="楷体" pitchFamily="49" charset="-122"/>
              </a:rPr>
              <a:t>单机版</a:t>
            </a:r>
          </a:p>
        </p:txBody>
      </p:sp>
      <p:sp>
        <p:nvSpPr>
          <p:cNvPr id="25603" name="Text Box 5"/>
          <p:cNvSpPr>
            <a:spLocks noChangeArrowheads="1"/>
          </p:cNvSpPr>
          <p:nvPr/>
        </p:nvSpPr>
        <p:spPr bwMode="auto">
          <a:xfrm>
            <a:off x="179388" y="1989138"/>
            <a:ext cx="8712200"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457200" indent="-457200">
              <a:lnSpc>
                <a:spcPct val="150000"/>
              </a:lnSpc>
              <a:buFont typeface="Wingdings" pitchFamily="2" charset="2"/>
              <a:buChar char="Ø"/>
            </a:pPr>
            <a:r>
              <a:rPr lang="zh-CN" altLang="en-US" sz="2000" b="1">
                <a:solidFill>
                  <a:schemeClr val="hlink"/>
                </a:solidFill>
                <a:latin typeface="楷体" pitchFamily="49" charset="-122"/>
                <a:ea typeface="楷体" pitchFamily="49" charset="-122"/>
                <a:sym typeface="楷体" pitchFamily="49" charset="-122"/>
              </a:rPr>
              <a:t>什么是单机版仪器或设备？（是否连服务器或网络版）</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buFont typeface="Wingdings" pitchFamily="2" charset="2"/>
              <a:buChar char="Ø"/>
            </a:pPr>
            <a:r>
              <a:rPr lang="zh-CN" altLang="en-US" sz="2000" b="1">
                <a:solidFill>
                  <a:schemeClr val="hlink"/>
                </a:solidFill>
                <a:latin typeface="楷体" pitchFamily="49" charset="-122"/>
                <a:ea typeface="楷体" pitchFamily="49" charset="-122"/>
                <a:sym typeface="楷体" pitchFamily="49" charset="-122"/>
              </a:rPr>
              <a:t>单机版仪器或设备控制策略</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pPr>
            <a:r>
              <a:rPr lang="zh-CN" altLang="en-US" sz="2000" b="1">
                <a:solidFill>
                  <a:schemeClr val="hlink"/>
                </a:solidFill>
                <a:latin typeface="楷体" pitchFamily="49" charset="-122"/>
                <a:ea typeface="楷体" pitchFamily="49" charset="-122"/>
                <a:sym typeface="楷体" pitchFamily="49" charset="-122"/>
              </a:rPr>
              <a:t>  （</a:t>
            </a:r>
            <a:r>
              <a:rPr lang="en-US" sz="2000" b="1">
                <a:solidFill>
                  <a:schemeClr val="hlink"/>
                </a:solidFill>
                <a:latin typeface="楷体" pitchFamily="49" charset="-122"/>
                <a:ea typeface="楷体" pitchFamily="49" charset="-122"/>
                <a:sym typeface="楷体" pitchFamily="49" charset="-122"/>
              </a:rPr>
              <a:t>1</a:t>
            </a:r>
            <a:r>
              <a:rPr lang="zh-CN" altLang="en-US" sz="2000" b="1">
                <a:solidFill>
                  <a:schemeClr val="hlink"/>
                </a:solidFill>
                <a:latin typeface="楷体" pitchFamily="49" charset="-122"/>
                <a:ea typeface="楷体" pitchFamily="49" charset="-122"/>
                <a:sym typeface="楷体" pitchFamily="49" charset="-122"/>
              </a:rPr>
              <a:t>）安装审计追踪；</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pPr>
            <a:r>
              <a:rPr lang="en-US" sz="2000" b="1">
                <a:solidFill>
                  <a:schemeClr val="hlink"/>
                </a:solidFill>
                <a:latin typeface="楷体" pitchFamily="49" charset="-122"/>
                <a:ea typeface="楷体" pitchFamily="49" charset="-122"/>
                <a:sym typeface="楷体" pitchFamily="49" charset="-122"/>
              </a:rPr>
              <a:t>  </a:t>
            </a:r>
            <a:r>
              <a:rPr lang="zh-CN" altLang="en-US" sz="2000" b="1">
                <a:solidFill>
                  <a:schemeClr val="hlink"/>
                </a:solidFill>
                <a:latin typeface="楷体" pitchFamily="49" charset="-122"/>
                <a:ea typeface="楷体" pitchFamily="49" charset="-122"/>
                <a:sym typeface="楷体" pitchFamily="49" charset="-122"/>
              </a:rPr>
              <a:t>（</a:t>
            </a:r>
            <a:r>
              <a:rPr lang="en-US" sz="2000" b="1">
                <a:solidFill>
                  <a:schemeClr val="hlink"/>
                </a:solidFill>
                <a:latin typeface="楷体" pitchFamily="49" charset="-122"/>
                <a:ea typeface="楷体" pitchFamily="49" charset="-122"/>
                <a:sym typeface="楷体" pitchFamily="49" charset="-122"/>
              </a:rPr>
              <a:t>2</a:t>
            </a:r>
            <a:r>
              <a:rPr lang="zh-CN" altLang="en-US" sz="2000" b="1">
                <a:solidFill>
                  <a:schemeClr val="hlink"/>
                </a:solidFill>
                <a:latin typeface="楷体" pitchFamily="49" charset="-122"/>
                <a:ea typeface="楷体" pitchFamily="49" charset="-122"/>
                <a:sym typeface="楷体" pitchFamily="49" charset="-122"/>
              </a:rPr>
              <a:t>）数据定期备份（光盘或</a:t>
            </a:r>
            <a:r>
              <a:rPr lang="en-US" sz="2000" b="1">
                <a:solidFill>
                  <a:schemeClr val="hlink"/>
                </a:solidFill>
                <a:latin typeface="楷体" pitchFamily="49" charset="-122"/>
                <a:ea typeface="楷体" pitchFamily="49" charset="-122"/>
                <a:sym typeface="楷体" pitchFamily="49" charset="-122"/>
              </a:rPr>
              <a:t>IT</a:t>
            </a:r>
            <a:r>
              <a:rPr lang="zh-CN" altLang="en-US" sz="2000" b="1">
                <a:solidFill>
                  <a:schemeClr val="hlink"/>
                </a:solidFill>
                <a:latin typeface="楷体" pitchFamily="49" charset="-122"/>
                <a:ea typeface="楷体" pitchFamily="49" charset="-122"/>
                <a:sym typeface="楷体" pitchFamily="49" charset="-122"/>
              </a:rPr>
              <a:t>硬盘）；</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pPr>
            <a:r>
              <a:rPr lang="zh-CN" altLang="en-US" sz="2000" b="1">
                <a:solidFill>
                  <a:schemeClr val="hlink"/>
                </a:solidFill>
                <a:latin typeface="楷体" pitchFamily="49" charset="-122"/>
                <a:ea typeface="楷体" pitchFamily="49" charset="-122"/>
                <a:sym typeface="楷体" pitchFamily="49" charset="-122"/>
              </a:rPr>
              <a:t>  （</a:t>
            </a:r>
            <a:r>
              <a:rPr lang="en-US" sz="2000" b="1">
                <a:solidFill>
                  <a:schemeClr val="hlink"/>
                </a:solidFill>
                <a:latin typeface="楷体" pitchFamily="49" charset="-122"/>
                <a:ea typeface="楷体" pitchFamily="49" charset="-122"/>
                <a:sym typeface="楷体" pitchFamily="49" charset="-122"/>
              </a:rPr>
              <a:t>3</a:t>
            </a:r>
            <a:r>
              <a:rPr lang="zh-CN" altLang="en-US" sz="2000" b="1">
                <a:solidFill>
                  <a:schemeClr val="hlink"/>
                </a:solidFill>
                <a:latin typeface="楷体" pitchFamily="49" charset="-122"/>
                <a:ea typeface="楷体" pitchFamily="49" charset="-122"/>
                <a:sym typeface="楷体" pitchFamily="49" charset="-122"/>
              </a:rPr>
              <a:t>）权限控制（原则是利益无关方原则）；</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pPr>
            <a:r>
              <a:rPr lang="zh-CN" altLang="en-US" sz="2000" b="1">
                <a:solidFill>
                  <a:schemeClr val="hlink"/>
                </a:solidFill>
                <a:latin typeface="楷体" pitchFamily="49" charset="-122"/>
                <a:ea typeface="楷体" pitchFamily="49" charset="-122"/>
                <a:sym typeface="楷体" pitchFamily="49" charset="-122"/>
              </a:rPr>
              <a:t>  （</a:t>
            </a:r>
            <a:r>
              <a:rPr lang="en-US" sz="2000" b="1">
                <a:solidFill>
                  <a:schemeClr val="hlink"/>
                </a:solidFill>
                <a:latin typeface="楷体" pitchFamily="49" charset="-122"/>
                <a:ea typeface="楷体" pitchFamily="49" charset="-122"/>
                <a:sym typeface="楷体" pitchFamily="49" charset="-122"/>
              </a:rPr>
              <a:t>4</a:t>
            </a:r>
            <a:r>
              <a:rPr lang="zh-CN" altLang="en-US" sz="2000" b="1">
                <a:solidFill>
                  <a:schemeClr val="hlink"/>
                </a:solidFill>
                <a:latin typeface="楷体" pitchFamily="49" charset="-122"/>
                <a:ea typeface="楷体" pitchFamily="49" charset="-122"/>
                <a:sym typeface="楷体" pitchFamily="49" charset="-122"/>
              </a:rPr>
              <a:t>）防删除或防修改（包括新建文件夹、删除文件夹、重新命名文件夹等）等；</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pPr>
            <a:r>
              <a:rPr lang="zh-CN" altLang="en-US" sz="2000" b="1">
                <a:solidFill>
                  <a:schemeClr val="hlink"/>
                </a:solidFill>
                <a:latin typeface="楷体" pitchFamily="49" charset="-122"/>
                <a:ea typeface="楷体" pitchFamily="49" charset="-122"/>
                <a:sym typeface="楷体" pitchFamily="49" charset="-122"/>
              </a:rPr>
              <a:t>  （</a:t>
            </a:r>
            <a:r>
              <a:rPr lang="en-US" sz="2000" b="1">
                <a:solidFill>
                  <a:schemeClr val="hlink"/>
                </a:solidFill>
                <a:latin typeface="楷体" pitchFamily="49" charset="-122"/>
                <a:ea typeface="楷体" pitchFamily="49" charset="-122"/>
                <a:sym typeface="楷体" pitchFamily="49" charset="-122"/>
              </a:rPr>
              <a:t>5</a:t>
            </a:r>
            <a:r>
              <a:rPr lang="zh-CN" altLang="en-US" sz="2000" b="1">
                <a:solidFill>
                  <a:schemeClr val="hlink"/>
                </a:solidFill>
                <a:latin typeface="楷体" pitchFamily="49" charset="-122"/>
                <a:ea typeface="楷体" pitchFamily="49" charset="-122"/>
                <a:sym typeface="楷体" pitchFamily="49" charset="-122"/>
              </a:rPr>
              <a:t>）系统时间锁定</a:t>
            </a:r>
          </a:p>
        </p:txBody>
      </p:sp>
      <p:sp>
        <p:nvSpPr>
          <p:cNvPr id="25604" name="AutoShape 2"/>
          <p:cNvSpPr>
            <a:spLocks/>
          </p:cNvSpPr>
          <p:nvPr/>
        </p:nvSpPr>
        <p:spPr bwMode="auto">
          <a:xfrm>
            <a:off x="763588" y="5995988"/>
            <a:ext cx="7769225" cy="504825"/>
          </a:xfrm>
          <a:prstGeom prst="roundRect">
            <a:avLst>
              <a:gd name="adj" fmla="val 16667"/>
            </a:avLst>
          </a:pr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25605" name="Text Box 3"/>
          <p:cNvSpPr>
            <a:spLocks noChangeArrowheads="1"/>
          </p:cNvSpPr>
          <p:nvPr/>
        </p:nvSpPr>
        <p:spPr bwMode="auto">
          <a:xfrm>
            <a:off x="763588" y="6022975"/>
            <a:ext cx="8128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200" b="1">
                <a:solidFill>
                  <a:srgbClr val="000000"/>
                </a:solidFill>
                <a:latin typeface="楷体" pitchFamily="49" charset="-122"/>
                <a:ea typeface="楷体" pitchFamily="49" charset="-122"/>
                <a:sym typeface="楷体" pitchFamily="49" charset="-122"/>
              </a:rPr>
              <a:t>目前很多单机版仪器，由于厂家问题不能同时满足上述要求。</a:t>
            </a:r>
          </a:p>
        </p:txBody>
      </p:sp>
      <p:sp>
        <p:nvSpPr>
          <p:cNvPr id="25606" name="Rectangle 3"/>
          <p:cNvSpPr>
            <a:spLocks noChangeArrowheads="1"/>
          </p:cNvSpPr>
          <p:nvPr/>
        </p:nvSpPr>
        <p:spPr bwMode="auto">
          <a:xfrm>
            <a:off x="2487613" y="44450"/>
            <a:ext cx="62547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4</a:t>
            </a:r>
            <a:r>
              <a:rPr lang="zh-CN" altLang="en-US" sz="2400" b="1">
                <a:solidFill>
                  <a:srgbClr val="FFFF00"/>
                </a:solidFill>
                <a:latin typeface="Calibri" pitchFamily="34" charset="0"/>
                <a:ea typeface="楷体" pitchFamily="49" charset="-122"/>
                <a:sym typeface="Calibri" pitchFamily="34" charset="0"/>
              </a:rPr>
              <a:t>节：预防数据完整性问题的硬件配置原则</a:t>
            </a:r>
          </a:p>
        </p:txBody>
      </p:sp>
    </p:spTree>
  </p:cSld>
  <p:clrMapOvr>
    <a:masterClrMapping/>
  </p:clrMapOvr>
  <p:transition>
    <p:strips dir="ld"/>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ext Box 4"/>
          <p:cNvSpPr>
            <a:spLocks noChangeArrowheads="1"/>
          </p:cNvSpPr>
          <p:nvPr/>
        </p:nvSpPr>
        <p:spPr bwMode="auto">
          <a:xfrm>
            <a:off x="1979613" y="981075"/>
            <a:ext cx="47244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200" b="1">
                <a:solidFill>
                  <a:srgbClr val="000000"/>
                </a:solidFill>
                <a:latin typeface="楷体" pitchFamily="49" charset="-122"/>
                <a:ea typeface="楷体" pitchFamily="49" charset="-122"/>
                <a:sym typeface="楷体" pitchFamily="49" charset="-122"/>
              </a:rPr>
              <a:t>单机版、单机网络版和网络版的区别</a:t>
            </a:r>
          </a:p>
        </p:txBody>
      </p:sp>
      <p:sp>
        <p:nvSpPr>
          <p:cNvPr id="26627" name="Text Box 5"/>
          <p:cNvSpPr>
            <a:spLocks noChangeArrowheads="1"/>
          </p:cNvSpPr>
          <p:nvPr/>
        </p:nvSpPr>
        <p:spPr bwMode="auto">
          <a:xfrm>
            <a:off x="179388" y="1411288"/>
            <a:ext cx="8712200"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457200" indent="-457200">
              <a:lnSpc>
                <a:spcPct val="150000"/>
              </a:lnSpc>
              <a:buFont typeface="Calibri" pitchFamily="34" charset="0"/>
              <a:buAutoNum type="arabicPeriod"/>
            </a:pPr>
            <a:r>
              <a:rPr lang="zh-CN" altLang="en-US" sz="2000" b="1">
                <a:solidFill>
                  <a:schemeClr val="hlink"/>
                </a:solidFill>
                <a:latin typeface="楷体" pitchFamily="49" charset="-122"/>
                <a:ea typeface="楷体" pitchFamily="49" charset="-122"/>
                <a:sym typeface="楷体" pitchFamily="49" charset="-122"/>
              </a:rPr>
              <a:t>最大的区别是：</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buFont typeface="Wingdings" pitchFamily="2" charset="2"/>
              <a:buChar char="Ø"/>
            </a:pPr>
            <a:r>
              <a:rPr lang="zh-CN" altLang="en-US" sz="2000" b="1">
                <a:solidFill>
                  <a:schemeClr val="hlink"/>
                </a:solidFill>
                <a:latin typeface="楷体" pitchFamily="49" charset="-122"/>
                <a:ea typeface="楷体" pitchFamily="49" charset="-122"/>
                <a:sym typeface="楷体" pitchFamily="49" charset="-122"/>
              </a:rPr>
              <a:t>单机版</a:t>
            </a:r>
            <a:r>
              <a:rPr lang="en-US" sz="2000" b="1">
                <a:solidFill>
                  <a:schemeClr val="hlink"/>
                </a:solidFill>
                <a:latin typeface="楷体" pitchFamily="49" charset="-122"/>
                <a:ea typeface="楷体" pitchFamily="49" charset="-122"/>
                <a:sym typeface="楷体" pitchFamily="49" charset="-122"/>
              </a:rPr>
              <a:t>——</a:t>
            </a:r>
            <a:r>
              <a:rPr lang="zh-CN" altLang="en-US" sz="2000" b="1">
                <a:solidFill>
                  <a:schemeClr val="hlink"/>
                </a:solidFill>
                <a:latin typeface="楷体" pitchFamily="49" charset="-122"/>
                <a:ea typeface="楷体" pitchFamily="49" charset="-122"/>
                <a:sym typeface="楷体" pitchFamily="49" charset="-122"/>
              </a:rPr>
              <a:t>在本地盘上存贮数据；</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buFont typeface="Wingdings" pitchFamily="2" charset="2"/>
              <a:buChar char="Ø"/>
            </a:pPr>
            <a:r>
              <a:rPr lang="zh-CN" altLang="en-US" sz="2000" b="1">
                <a:solidFill>
                  <a:schemeClr val="hlink"/>
                </a:solidFill>
                <a:latin typeface="楷体" pitchFamily="49" charset="-122"/>
                <a:ea typeface="楷体" pitchFamily="49" charset="-122"/>
                <a:sym typeface="楷体" pitchFamily="49" charset="-122"/>
              </a:rPr>
              <a:t>网络版</a:t>
            </a:r>
            <a:r>
              <a:rPr lang="en-US" sz="2000" b="1">
                <a:solidFill>
                  <a:schemeClr val="hlink"/>
                </a:solidFill>
                <a:latin typeface="楷体" pitchFamily="49" charset="-122"/>
                <a:ea typeface="楷体" pitchFamily="49" charset="-122"/>
                <a:sym typeface="楷体" pitchFamily="49" charset="-122"/>
              </a:rPr>
              <a:t>——</a:t>
            </a:r>
            <a:r>
              <a:rPr lang="zh-CN" altLang="en-US" sz="2000" b="1">
                <a:solidFill>
                  <a:schemeClr val="hlink"/>
                </a:solidFill>
                <a:latin typeface="楷体" pitchFamily="49" charset="-122"/>
                <a:ea typeface="楷体" pitchFamily="49" charset="-122"/>
                <a:sym typeface="楷体" pitchFamily="49" charset="-122"/>
              </a:rPr>
              <a:t>在本地盘上不存贮数据，数据都存在服务器上或</a:t>
            </a:r>
            <a:r>
              <a:rPr lang="en-US" sz="2000" b="1">
                <a:solidFill>
                  <a:schemeClr val="hlink"/>
                </a:solidFill>
                <a:latin typeface="楷体" pitchFamily="49" charset="-122"/>
                <a:ea typeface="楷体" pitchFamily="49" charset="-122"/>
                <a:sym typeface="楷体" pitchFamily="49" charset="-122"/>
              </a:rPr>
              <a:t>AIC</a:t>
            </a:r>
            <a:r>
              <a:rPr lang="zh-CN" altLang="en-US" sz="2000" b="1">
                <a:solidFill>
                  <a:schemeClr val="hlink"/>
                </a:solidFill>
                <a:latin typeface="楷体" pitchFamily="49" charset="-122"/>
                <a:ea typeface="楷体" pitchFamily="49" charset="-122"/>
                <a:sym typeface="楷体" pitchFamily="49" charset="-122"/>
              </a:rPr>
              <a:t>上。</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buFont typeface="Wingdings" pitchFamily="2" charset="2"/>
              <a:buChar char="Ø"/>
            </a:pPr>
            <a:r>
              <a:rPr lang="zh-CN" altLang="en-US" sz="2000" b="1">
                <a:solidFill>
                  <a:schemeClr val="hlink"/>
                </a:solidFill>
                <a:latin typeface="楷体" pitchFamily="49" charset="-122"/>
                <a:ea typeface="楷体" pitchFamily="49" charset="-122"/>
                <a:sym typeface="楷体" pitchFamily="49" charset="-122"/>
              </a:rPr>
              <a:t>单机网络版</a:t>
            </a:r>
            <a:r>
              <a:rPr lang="en-US" sz="2000" b="1">
                <a:solidFill>
                  <a:schemeClr val="hlink"/>
                </a:solidFill>
                <a:latin typeface="楷体" pitchFamily="49" charset="-122"/>
                <a:ea typeface="楷体" pitchFamily="49" charset="-122"/>
                <a:sym typeface="楷体" pitchFamily="49" charset="-122"/>
              </a:rPr>
              <a:t>——</a:t>
            </a:r>
            <a:r>
              <a:rPr lang="zh-CN" altLang="en-US" sz="2000" b="1">
                <a:solidFill>
                  <a:schemeClr val="hlink"/>
                </a:solidFill>
                <a:latin typeface="楷体" pitchFamily="49" charset="-122"/>
                <a:ea typeface="楷体" pitchFamily="49" charset="-122"/>
                <a:sym typeface="楷体" pitchFamily="49" charset="-122"/>
              </a:rPr>
              <a:t>有三个特点：第</a:t>
            </a:r>
            <a:r>
              <a:rPr lang="en-US" sz="2000" b="1">
                <a:solidFill>
                  <a:schemeClr val="hlink"/>
                </a:solidFill>
                <a:latin typeface="楷体" pitchFamily="49" charset="-122"/>
                <a:ea typeface="楷体" pitchFamily="49" charset="-122"/>
                <a:sym typeface="楷体" pitchFamily="49" charset="-122"/>
              </a:rPr>
              <a:t>1</a:t>
            </a:r>
            <a:r>
              <a:rPr lang="zh-CN" altLang="en-US" sz="2000" b="1">
                <a:solidFill>
                  <a:schemeClr val="hlink"/>
                </a:solidFill>
                <a:latin typeface="楷体" pitchFamily="49" charset="-122"/>
                <a:ea typeface="楷体" pitchFamily="49" charset="-122"/>
                <a:sym typeface="楷体" pitchFamily="49" charset="-122"/>
              </a:rPr>
              <a:t>：在本地盘上可临时存贮数据，整个系列完成后自动上传到服务器；第</a:t>
            </a:r>
            <a:r>
              <a:rPr lang="en-US" sz="2000" b="1">
                <a:solidFill>
                  <a:schemeClr val="hlink"/>
                </a:solidFill>
                <a:latin typeface="楷体" pitchFamily="49" charset="-122"/>
                <a:ea typeface="楷体" pitchFamily="49" charset="-122"/>
                <a:sym typeface="楷体" pitchFamily="49" charset="-122"/>
              </a:rPr>
              <a:t>2</a:t>
            </a:r>
            <a:r>
              <a:rPr lang="zh-CN" altLang="en-US" sz="2000" b="1">
                <a:solidFill>
                  <a:schemeClr val="hlink"/>
                </a:solidFill>
                <a:latin typeface="楷体" pitchFamily="49" charset="-122"/>
                <a:ea typeface="楷体" pitchFamily="49" charset="-122"/>
                <a:sym typeface="楷体" pitchFamily="49" charset="-122"/>
              </a:rPr>
              <a:t>：网络可反方向控制本机（例如安捷伦</a:t>
            </a:r>
            <a:r>
              <a:rPr lang="en-US" sz="2000" b="1">
                <a:solidFill>
                  <a:schemeClr val="hlink"/>
                </a:solidFill>
                <a:latin typeface="楷体" pitchFamily="49" charset="-122"/>
                <a:ea typeface="楷体" pitchFamily="49" charset="-122"/>
                <a:sym typeface="楷体" pitchFamily="49" charset="-122"/>
              </a:rPr>
              <a:t>B</a:t>
            </a:r>
            <a:r>
              <a:rPr lang="zh-CN" altLang="en-US" sz="2000" b="1">
                <a:solidFill>
                  <a:schemeClr val="hlink"/>
                </a:solidFill>
                <a:latin typeface="楷体" pitchFamily="49" charset="-122"/>
                <a:ea typeface="楷体" pitchFamily="49" charset="-122"/>
                <a:sym typeface="楷体" pitchFamily="49" charset="-122"/>
              </a:rPr>
              <a:t>版的权限可以由网络控制）；第</a:t>
            </a:r>
            <a:r>
              <a:rPr lang="en-US" sz="2000" b="1">
                <a:solidFill>
                  <a:schemeClr val="hlink"/>
                </a:solidFill>
                <a:latin typeface="楷体" pitchFamily="49" charset="-122"/>
                <a:ea typeface="楷体" pitchFamily="49" charset="-122"/>
                <a:sym typeface="楷体" pitchFamily="49" charset="-122"/>
              </a:rPr>
              <a:t>3</a:t>
            </a:r>
            <a:r>
              <a:rPr lang="zh-CN" altLang="en-US" sz="2000" b="1">
                <a:solidFill>
                  <a:schemeClr val="hlink"/>
                </a:solidFill>
                <a:latin typeface="楷体" pitchFamily="49" charset="-122"/>
                <a:ea typeface="楷体" pitchFamily="49" charset="-122"/>
                <a:sym typeface="楷体" pitchFamily="49" charset="-122"/>
              </a:rPr>
              <a:t>：可单独运行。</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buFont typeface="Calibri" pitchFamily="34" charset="0"/>
              <a:buAutoNum type="arabicPeriod" startAt="2"/>
            </a:pPr>
            <a:r>
              <a:rPr lang="zh-CN" altLang="en-US" sz="2000" b="1">
                <a:solidFill>
                  <a:schemeClr val="hlink"/>
                </a:solidFill>
                <a:latin typeface="楷体" pitchFamily="49" charset="-122"/>
                <a:ea typeface="楷体" pitchFamily="49" charset="-122"/>
                <a:sym typeface="楷体" pitchFamily="49" charset="-122"/>
              </a:rPr>
              <a:t>产生单机网络版的原因：是由于软件或其它原因不能连接到服务器中产生的，是过渡时期的特别情况，多长远发展的角度来看是要消灭的，以后只会有单机版和网络版两种情况。</a:t>
            </a:r>
            <a:endParaRPr lang="en-US" sz="2000" b="1">
              <a:solidFill>
                <a:schemeClr val="hlink"/>
              </a:solidFill>
              <a:latin typeface="楷体" pitchFamily="49" charset="-122"/>
              <a:ea typeface="楷体" pitchFamily="49" charset="-122"/>
              <a:sym typeface="楷体" pitchFamily="49" charset="-122"/>
            </a:endParaRPr>
          </a:p>
          <a:p>
            <a:pPr marL="457200" indent="-457200">
              <a:lnSpc>
                <a:spcPct val="150000"/>
              </a:lnSpc>
              <a:buFont typeface="Calibri" pitchFamily="34" charset="0"/>
              <a:buAutoNum type="arabicPeriod" startAt="2"/>
            </a:pPr>
            <a:r>
              <a:rPr lang="zh-CN" altLang="en-US" sz="2000" b="1">
                <a:solidFill>
                  <a:schemeClr val="hlink"/>
                </a:solidFill>
                <a:latin typeface="楷体" pitchFamily="49" charset="-122"/>
                <a:ea typeface="楷体" pitchFamily="49" charset="-122"/>
                <a:sym typeface="楷体" pitchFamily="49" charset="-122"/>
              </a:rPr>
              <a:t>某些单机版仪器（颗粒度分析仪器等），通过安装一些小软件，通过网线进行自动备份操作，这种情况不能叫做单机网络版，还是单机版。</a:t>
            </a:r>
          </a:p>
        </p:txBody>
      </p:sp>
    </p:spTree>
  </p:cSld>
  <p:clrMapOvr>
    <a:masterClrMapping/>
  </p:clrMapOvr>
  <p:transition>
    <p:strips dir="ld"/>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ext Box 3"/>
          <p:cNvSpPr>
            <a:spLocks noChangeArrowheads="1"/>
          </p:cNvSpPr>
          <p:nvPr/>
        </p:nvSpPr>
        <p:spPr bwMode="auto">
          <a:xfrm>
            <a:off x="2266950" y="1114425"/>
            <a:ext cx="35909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200" b="1">
                <a:solidFill>
                  <a:srgbClr val="FF0000"/>
                </a:solidFill>
                <a:latin typeface="楷体" pitchFamily="49" charset="-122"/>
                <a:ea typeface="楷体" pitchFamily="49" charset="-122"/>
                <a:sym typeface="楷体" pitchFamily="49" charset="-122"/>
              </a:rPr>
              <a:t>某外资药企应用的操作系统</a:t>
            </a:r>
          </a:p>
        </p:txBody>
      </p:sp>
      <p:graphicFrame>
        <p:nvGraphicFramePr>
          <p:cNvPr id="27651" name="表格 2"/>
          <p:cNvGraphicFramePr>
            <a:graphicFrameLocks noGrp="1"/>
          </p:cNvGraphicFramePr>
          <p:nvPr/>
        </p:nvGraphicFramePr>
        <p:xfrm>
          <a:off x="107950" y="1778000"/>
          <a:ext cx="8856663" cy="4557713"/>
        </p:xfrm>
        <a:graphic>
          <a:graphicData uri="http://schemas.openxmlformats.org/drawingml/2006/table">
            <a:tbl>
              <a:tblPr/>
              <a:tblGrid>
                <a:gridCol w="576263"/>
                <a:gridCol w="792162"/>
                <a:gridCol w="790575"/>
                <a:gridCol w="936625"/>
                <a:gridCol w="936625"/>
                <a:gridCol w="863600"/>
                <a:gridCol w="1320800"/>
                <a:gridCol w="768350"/>
                <a:gridCol w="1871663"/>
              </a:tblGrid>
              <a:tr h="10668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系统名称 </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文件管理系统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培训管理系统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QTS</a:t>
                      </a: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工程管理系统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实验室试剂管理系统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SAP</a:t>
                      </a: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EHS</a:t>
                      </a: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跟踪系统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实验室信息管理系统</a:t>
                      </a: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LIMS</a:t>
                      </a:r>
                      <a:endPar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r>
              <a:tr h="5794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软件</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五类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五类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五类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四类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三类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四类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五类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四类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290988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应用范围说明</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B7CCE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SOP</a:t>
                      </a: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、文件传阅签批和管理</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公司培训系统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偏差、变更、</a:t>
                      </a: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CAPA</a:t>
                      </a: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a:t>
                      </a: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OOS</a:t>
                      </a: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和</a:t>
                      </a: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OOT</a:t>
                      </a: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、投诉等管理</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工程管理系统：工程工单、维修品管理，仪器校验管理</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实验室试剂管理</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ERP</a:t>
                      </a: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系统：计划、采购、供应链、生产、质量、销售、自动化仓储、财务管理、成本会计、资金管理等 </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EHS</a:t>
                      </a: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事件整改：例如偏差、变更、审计等</a:t>
                      </a: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1" i="0" u="none" strike="noStrike" cap="none" normalizeH="0" baseline="0" smtClean="0">
                          <a:ln>
                            <a:noFill/>
                          </a:ln>
                          <a:solidFill>
                            <a:schemeClr val="tx1"/>
                          </a:solidFill>
                          <a:effectLst/>
                          <a:latin typeface="Arial" pitchFamily="34" charset="0"/>
                          <a:ea typeface="宋体" pitchFamily="2" charset="-122"/>
                          <a:sym typeface="Arial" pitchFamily="34" charset="0"/>
                        </a:rPr>
                        <a:t>实验室信息管理系统：包含样品与批号管理、稳定性管理、留样管理、剧毒品管理、调查、分析方法、趋势分析、报表管理、仪器管理、仪器连接等</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bl>
          </a:graphicData>
        </a:graphic>
      </p:graphicFrame>
    </p:spTree>
  </p:cSld>
  <p:clrMapOvr>
    <a:masterClrMapping/>
  </p:clrMapOvr>
  <p:transition>
    <p:strips dir="ld"/>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Text Box 3"/>
          <p:cNvSpPr>
            <a:spLocks noChangeArrowheads="1"/>
          </p:cNvSpPr>
          <p:nvPr/>
        </p:nvSpPr>
        <p:spPr bwMode="auto">
          <a:xfrm>
            <a:off x="2955925" y="1009650"/>
            <a:ext cx="33051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200" b="1">
                <a:solidFill>
                  <a:srgbClr val="000000"/>
                </a:solidFill>
                <a:latin typeface="楷体" pitchFamily="49" charset="-122"/>
                <a:ea typeface="楷体" pitchFamily="49" charset="-122"/>
                <a:sym typeface="楷体" pitchFamily="49" charset="-122"/>
              </a:rPr>
              <a:t>计算机化系统的分类原则</a:t>
            </a:r>
          </a:p>
        </p:txBody>
      </p:sp>
      <p:sp>
        <p:nvSpPr>
          <p:cNvPr id="28675" name="直接连接符 9"/>
          <p:cNvSpPr>
            <a:spLocks noChangeShapeType="1"/>
          </p:cNvSpPr>
          <p:nvPr/>
        </p:nvSpPr>
        <p:spPr bwMode="auto">
          <a:xfrm>
            <a:off x="1681163" y="3817938"/>
            <a:ext cx="1587" cy="1771650"/>
          </a:xfrm>
          <a:prstGeom prst="line">
            <a:avLst/>
          </a:prstGeom>
          <a:noFill/>
          <a:ln w="38100" cap="flat" cmpd="sng">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6" name="AutoShape 2"/>
          <p:cNvSpPr>
            <a:spLocks/>
          </p:cNvSpPr>
          <p:nvPr/>
        </p:nvSpPr>
        <p:spPr bwMode="auto">
          <a:xfrm>
            <a:off x="619125" y="2060575"/>
            <a:ext cx="7769225" cy="504825"/>
          </a:xfrm>
          <a:prstGeom prst="roundRect">
            <a:avLst>
              <a:gd name="adj" fmla="val 16667"/>
            </a:avLst>
          </a:pr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28677" name="Text Box 3"/>
          <p:cNvSpPr>
            <a:spLocks noChangeArrowheads="1"/>
          </p:cNvSpPr>
          <p:nvPr/>
        </p:nvSpPr>
        <p:spPr bwMode="auto">
          <a:xfrm>
            <a:off x="619125" y="2070100"/>
            <a:ext cx="75628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200" b="1">
                <a:solidFill>
                  <a:srgbClr val="000000"/>
                </a:solidFill>
                <a:latin typeface="楷体" pitchFamily="49" charset="-122"/>
                <a:ea typeface="楷体" pitchFamily="49" charset="-122"/>
                <a:sym typeface="楷体" pitchFamily="49" charset="-122"/>
              </a:rPr>
              <a:t>计算机化系统可根据“电子记录</a:t>
            </a:r>
            <a:r>
              <a:rPr lang="en-US" sz="2200" b="1">
                <a:solidFill>
                  <a:srgbClr val="000000"/>
                </a:solidFill>
                <a:latin typeface="楷体" pitchFamily="49" charset="-122"/>
                <a:ea typeface="楷体" pitchFamily="49" charset="-122"/>
                <a:sym typeface="楷体" pitchFamily="49" charset="-122"/>
              </a:rPr>
              <a:t>+</a:t>
            </a:r>
            <a:r>
              <a:rPr lang="zh-CN" altLang="en-US" sz="2200" b="1">
                <a:solidFill>
                  <a:srgbClr val="000000"/>
                </a:solidFill>
                <a:latin typeface="楷体" pitchFamily="49" charset="-122"/>
                <a:ea typeface="楷体" pitchFamily="49" charset="-122"/>
                <a:sym typeface="楷体" pitchFamily="49" charset="-122"/>
              </a:rPr>
              <a:t>开发</a:t>
            </a:r>
            <a:r>
              <a:rPr lang="en-US" sz="2200" b="1">
                <a:solidFill>
                  <a:srgbClr val="000000"/>
                </a:solidFill>
                <a:latin typeface="楷体" pitchFamily="49" charset="-122"/>
                <a:ea typeface="楷体" pitchFamily="49" charset="-122"/>
                <a:sym typeface="楷体" pitchFamily="49" charset="-122"/>
              </a:rPr>
              <a:t>+</a:t>
            </a:r>
            <a:r>
              <a:rPr lang="zh-CN" altLang="en-US" sz="2200" b="1">
                <a:solidFill>
                  <a:srgbClr val="000000"/>
                </a:solidFill>
                <a:latin typeface="楷体" pitchFamily="49" charset="-122"/>
                <a:ea typeface="楷体" pitchFamily="49" charset="-122"/>
                <a:sym typeface="楷体" pitchFamily="49" charset="-122"/>
              </a:rPr>
              <a:t>运行”三个因素</a:t>
            </a:r>
            <a:r>
              <a:rPr lang="zh-CN" altLang="en-US" sz="2200" b="1">
                <a:solidFill>
                  <a:srgbClr val="FF0000"/>
                </a:solidFill>
                <a:latin typeface="楷体" pitchFamily="49" charset="-122"/>
                <a:ea typeface="楷体" pitchFamily="49" charset="-122"/>
                <a:sym typeface="楷体" pitchFamily="49" charset="-122"/>
              </a:rPr>
              <a:t>分类</a:t>
            </a:r>
          </a:p>
        </p:txBody>
      </p:sp>
      <p:sp>
        <p:nvSpPr>
          <p:cNvPr id="28678" name="椭圆 28"/>
          <p:cNvSpPr>
            <a:spLocks/>
          </p:cNvSpPr>
          <p:nvPr/>
        </p:nvSpPr>
        <p:spPr bwMode="auto">
          <a:xfrm>
            <a:off x="900113" y="2997200"/>
            <a:ext cx="1547812" cy="719138"/>
          </a:xfrm>
          <a:prstGeom prst="ellipse">
            <a:avLst/>
          </a:prstGeom>
          <a:solidFill>
            <a:srgbClr val="00CCFF"/>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8679" name="矩形 29"/>
          <p:cNvSpPr>
            <a:spLocks noChangeArrowheads="1"/>
          </p:cNvSpPr>
          <p:nvPr/>
        </p:nvSpPr>
        <p:spPr bwMode="auto">
          <a:xfrm>
            <a:off x="1055688" y="3141663"/>
            <a:ext cx="1216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000000"/>
                </a:solidFill>
                <a:sym typeface="Arial" pitchFamily="34" charset="0"/>
              </a:rPr>
              <a:t>电子记录</a:t>
            </a:r>
          </a:p>
        </p:txBody>
      </p:sp>
      <p:sp>
        <p:nvSpPr>
          <p:cNvPr id="28680" name="椭圆 30"/>
          <p:cNvSpPr>
            <a:spLocks/>
          </p:cNvSpPr>
          <p:nvPr/>
        </p:nvSpPr>
        <p:spPr bwMode="auto">
          <a:xfrm>
            <a:off x="3060700" y="2997200"/>
            <a:ext cx="1547813" cy="719138"/>
          </a:xfrm>
          <a:prstGeom prst="ellipse">
            <a:avLst/>
          </a:prstGeom>
          <a:solidFill>
            <a:srgbClr val="00CCFF"/>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8681" name="矩形 31"/>
          <p:cNvSpPr>
            <a:spLocks noChangeArrowheads="1"/>
          </p:cNvSpPr>
          <p:nvPr/>
        </p:nvSpPr>
        <p:spPr bwMode="auto">
          <a:xfrm>
            <a:off x="3216275" y="3141663"/>
            <a:ext cx="12874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000000"/>
                </a:solidFill>
                <a:sym typeface="Arial" pitchFamily="34" charset="0"/>
              </a:rPr>
              <a:t>软件 开发</a:t>
            </a:r>
          </a:p>
        </p:txBody>
      </p:sp>
      <p:sp>
        <p:nvSpPr>
          <p:cNvPr id="28682" name="椭圆 32"/>
          <p:cNvSpPr>
            <a:spLocks/>
          </p:cNvSpPr>
          <p:nvPr/>
        </p:nvSpPr>
        <p:spPr bwMode="auto">
          <a:xfrm>
            <a:off x="5076825" y="2981325"/>
            <a:ext cx="1547813" cy="719138"/>
          </a:xfrm>
          <a:prstGeom prst="ellipse">
            <a:avLst/>
          </a:prstGeom>
          <a:solidFill>
            <a:srgbClr val="00CCFF"/>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8683" name="矩形 33"/>
          <p:cNvSpPr>
            <a:spLocks noChangeArrowheads="1"/>
          </p:cNvSpPr>
          <p:nvPr/>
        </p:nvSpPr>
        <p:spPr bwMode="auto">
          <a:xfrm>
            <a:off x="5232400" y="3125788"/>
            <a:ext cx="1216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000000"/>
                </a:solidFill>
                <a:sym typeface="Arial" pitchFamily="34" charset="0"/>
              </a:rPr>
              <a:t>软件运行</a:t>
            </a:r>
          </a:p>
        </p:txBody>
      </p:sp>
      <p:sp>
        <p:nvSpPr>
          <p:cNvPr id="28684" name="椭圆 34"/>
          <p:cNvSpPr>
            <a:spLocks/>
          </p:cNvSpPr>
          <p:nvPr/>
        </p:nvSpPr>
        <p:spPr bwMode="auto">
          <a:xfrm>
            <a:off x="7056438" y="2981325"/>
            <a:ext cx="1549400" cy="719138"/>
          </a:xfrm>
          <a:prstGeom prst="ellipse">
            <a:avLst/>
          </a:prstGeom>
          <a:solidFill>
            <a:srgbClr val="00CCFF"/>
          </a:solidFill>
          <a:ln w="9525" cap="flat" cmpd="sng">
            <a:solidFill>
              <a:schemeClr val="tx1"/>
            </a:solidFill>
            <a:bevel/>
            <a:headEnd/>
            <a:tailEnd/>
          </a:ln>
        </p:spPr>
        <p:txBody>
          <a:bodyPr/>
          <a:lstStyle/>
          <a:p>
            <a:endParaRPr lang="zh-CN" altLang="zh-CN">
              <a:solidFill>
                <a:srgbClr val="000000"/>
              </a:solidFill>
              <a:sym typeface="Arial" pitchFamily="34" charset="0"/>
            </a:endParaRPr>
          </a:p>
        </p:txBody>
      </p:sp>
      <p:sp>
        <p:nvSpPr>
          <p:cNvPr id="28685" name="矩形 35"/>
          <p:cNvSpPr>
            <a:spLocks noChangeArrowheads="1"/>
          </p:cNvSpPr>
          <p:nvPr/>
        </p:nvSpPr>
        <p:spPr bwMode="auto">
          <a:xfrm>
            <a:off x="7470775" y="3125788"/>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000000"/>
                </a:solidFill>
                <a:sym typeface="Arial" pitchFamily="34" charset="0"/>
              </a:rPr>
              <a:t>几类</a:t>
            </a:r>
          </a:p>
        </p:txBody>
      </p:sp>
      <p:sp>
        <p:nvSpPr>
          <p:cNvPr id="28686" name="直接箭头连接符 37"/>
          <p:cNvSpPr>
            <a:spLocks noChangeShapeType="1"/>
          </p:cNvSpPr>
          <p:nvPr/>
        </p:nvSpPr>
        <p:spPr bwMode="auto">
          <a:xfrm>
            <a:off x="1681163" y="4581525"/>
            <a:ext cx="1274762" cy="0"/>
          </a:xfrm>
          <a:prstGeom prst="straightConnector1">
            <a:avLst/>
          </a:prstGeom>
          <a:noFill/>
          <a:ln w="381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687" name="直接箭头连接符 41"/>
          <p:cNvSpPr>
            <a:spLocks noChangeShapeType="1"/>
          </p:cNvSpPr>
          <p:nvPr/>
        </p:nvSpPr>
        <p:spPr bwMode="auto">
          <a:xfrm>
            <a:off x="1681163" y="5575300"/>
            <a:ext cx="1274762" cy="0"/>
          </a:xfrm>
          <a:prstGeom prst="straightConnector1">
            <a:avLst/>
          </a:prstGeom>
          <a:noFill/>
          <a:ln w="381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688" name="直接连接符 42"/>
          <p:cNvSpPr>
            <a:spLocks noChangeShapeType="1"/>
          </p:cNvSpPr>
          <p:nvPr/>
        </p:nvSpPr>
        <p:spPr bwMode="auto">
          <a:xfrm>
            <a:off x="3833813" y="3819525"/>
            <a:ext cx="26987" cy="1914525"/>
          </a:xfrm>
          <a:prstGeom prst="line">
            <a:avLst/>
          </a:prstGeom>
          <a:noFill/>
          <a:ln w="38100" cap="flat" cmpd="sng">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9" name="直接箭头连接符 43"/>
          <p:cNvSpPr>
            <a:spLocks noChangeShapeType="1"/>
          </p:cNvSpPr>
          <p:nvPr/>
        </p:nvSpPr>
        <p:spPr bwMode="auto">
          <a:xfrm>
            <a:off x="3833813" y="4703763"/>
            <a:ext cx="1274762" cy="1587"/>
          </a:xfrm>
          <a:prstGeom prst="straightConnector1">
            <a:avLst/>
          </a:prstGeom>
          <a:noFill/>
          <a:ln w="381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690" name="直接箭头连接符 44"/>
          <p:cNvSpPr>
            <a:spLocks noChangeShapeType="1"/>
          </p:cNvSpPr>
          <p:nvPr/>
        </p:nvSpPr>
        <p:spPr bwMode="auto">
          <a:xfrm>
            <a:off x="3833813" y="5732463"/>
            <a:ext cx="1274762" cy="1587"/>
          </a:xfrm>
          <a:prstGeom prst="straightConnector1">
            <a:avLst/>
          </a:prstGeom>
          <a:noFill/>
          <a:ln w="381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691" name="直接箭头连接符 45"/>
          <p:cNvSpPr>
            <a:spLocks noChangeShapeType="1"/>
          </p:cNvSpPr>
          <p:nvPr/>
        </p:nvSpPr>
        <p:spPr bwMode="auto">
          <a:xfrm>
            <a:off x="3854450" y="4221163"/>
            <a:ext cx="1273175" cy="1587"/>
          </a:xfrm>
          <a:prstGeom prst="straightConnector1">
            <a:avLst/>
          </a:prstGeom>
          <a:noFill/>
          <a:ln w="381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692" name="直接箭头连接符 46"/>
          <p:cNvSpPr>
            <a:spLocks noChangeShapeType="1"/>
          </p:cNvSpPr>
          <p:nvPr/>
        </p:nvSpPr>
        <p:spPr bwMode="auto">
          <a:xfrm>
            <a:off x="3833813" y="5157788"/>
            <a:ext cx="1274762" cy="1587"/>
          </a:xfrm>
          <a:prstGeom prst="straightConnector1">
            <a:avLst/>
          </a:prstGeom>
          <a:noFill/>
          <a:ln w="381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693" name="直接连接符 47"/>
          <p:cNvSpPr>
            <a:spLocks noChangeShapeType="1"/>
          </p:cNvSpPr>
          <p:nvPr/>
        </p:nvSpPr>
        <p:spPr bwMode="auto">
          <a:xfrm>
            <a:off x="5849938" y="3846513"/>
            <a:ext cx="1587" cy="1771650"/>
          </a:xfrm>
          <a:prstGeom prst="line">
            <a:avLst/>
          </a:prstGeom>
          <a:noFill/>
          <a:ln w="38100" cap="flat" cmpd="sng">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4" name="直接箭头连接符 48"/>
          <p:cNvSpPr>
            <a:spLocks noChangeShapeType="1"/>
          </p:cNvSpPr>
          <p:nvPr/>
        </p:nvSpPr>
        <p:spPr bwMode="auto">
          <a:xfrm>
            <a:off x="5849938" y="4437063"/>
            <a:ext cx="1274762" cy="1587"/>
          </a:xfrm>
          <a:prstGeom prst="straightConnector1">
            <a:avLst/>
          </a:prstGeom>
          <a:noFill/>
          <a:ln w="381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695" name="直接箭头连接符 49"/>
          <p:cNvSpPr>
            <a:spLocks noChangeShapeType="1"/>
          </p:cNvSpPr>
          <p:nvPr/>
        </p:nvSpPr>
        <p:spPr bwMode="auto">
          <a:xfrm>
            <a:off x="5849938" y="5603875"/>
            <a:ext cx="1274762" cy="0"/>
          </a:xfrm>
          <a:prstGeom prst="straightConnector1">
            <a:avLst/>
          </a:prstGeom>
          <a:noFill/>
          <a:ln w="381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696" name="直接箭头连接符 50"/>
          <p:cNvSpPr>
            <a:spLocks noChangeShapeType="1"/>
          </p:cNvSpPr>
          <p:nvPr/>
        </p:nvSpPr>
        <p:spPr bwMode="auto">
          <a:xfrm>
            <a:off x="5840413" y="5013325"/>
            <a:ext cx="1274762" cy="0"/>
          </a:xfrm>
          <a:prstGeom prst="straightConnector1">
            <a:avLst/>
          </a:prstGeom>
          <a:noFill/>
          <a:ln w="38100" cap="flat" cmpd="sng">
            <a:solidFill>
              <a:schemeClr val="tx1"/>
            </a:solidFill>
            <a:bevel/>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697" name="矩形 51"/>
          <p:cNvSpPr>
            <a:spLocks noChangeArrowheads="1"/>
          </p:cNvSpPr>
          <p:nvPr/>
        </p:nvSpPr>
        <p:spPr bwMode="auto">
          <a:xfrm>
            <a:off x="1862138" y="4154488"/>
            <a:ext cx="9128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b="1">
                <a:solidFill>
                  <a:srgbClr val="000000"/>
                </a:solidFill>
                <a:sym typeface="Arial" pitchFamily="34" charset="0"/>
              </a:rPr>
              <a:t>否</a:t>
            </a:r>
            <a:r>
              <a:rPr lang="en-US" b="1">
                <a:solidFill>
                  <a:srgbClr val="000000"/>
                </a:solidFill>
                <a:sym typeface="Arial" pitchFamily="34" charset="0"/>
              </a:rPr>
              <a:t>=3</a:t>
            </a:r>
            <a:r>
              <a:rPr lang="zh-CN" altLang="en-US" b="1">
                <a:solidFill>
                  <a:srgbClr val="000000"/>
                </a:solidFill>
                <a:sym typeface="Arial" pitchFamily="34" charset="0"/>
              </a:rPr>
              <a:t>类</a:t>
            </a:r>
          </a:p>
        </p:txBody>
      </p:sp>
      <p:sp>
        <p:nvSpPr>
          <p:cNvPr id="28698" name="矩形 52"/>
          <p:cNvSpPr>
            <a:spLocks noChangeArrowheads="1"/>
          </p:cNvSpPr>
          <p:nvPr/>
        </p:nvSpPr>
        <p:spPr bwMode="auto">
          <a:xfrm>
            <a:off x="1816100" y="5041900"/>
            <a:ext cx="912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b="1">
                <a:solidFill>
                  <a:srgbClr val="000000"/>
                </a:solidFill>
                <a:sym typeface="Arial" pitchFamily="34" charset="0"/>
              </a:rPr>
              <a:t>是</a:t>
            </a:r>
            <a:r>
              <a:rPr lang="en-US" b="1">
                <a:solidFill>
                  <a:srgbClr val="000000"/>
                </a:solidFill>
                <a:sym typeface="Arial" pitchFamily="34" charset="0"/>
              </a:rPr>
              <a:t>=4</a:t>
            </a:r>
            <a:r>
              <a:rPr lang="zh-CN" altLang="en-US" b="1">
                <a:solidFill>
                  <a:srgbClr val="000000"/>
                </a:solidFill>
                <a:sym typeface="Arial" pitchFamily="34" charset="0"/>
              </a:rPr>
              <a:t>类</a:t>
            </a:r>
          </a:p>
        </p:txBody>
      </p:sp>
      <p:sp>
        <p:nvSpPr>
          <p:cNvPr id="28699" name="矩形 53"/>
          <p:cNvSpPr>
            <a:spLocks noChangeArrowheads="1"/>
          </p:cNvSpPr>
          <p:nvPr/>
        </p:nvSpPr>
        <p:spPr bwMode="auto">
          <a:xfrm>
            <a:off x="3954463" y="3784600"/>
            <a:ext cx="132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b="1">
                <a:solidFill>
                  <a:srgbClr val="000000"/>
                </a:solidFill>
                <a:sym typeface="Arial" pitchFamily="34" charset="0"/>
              </a:rPr>
              <a:t>COTS=3</a:t>
            </a:r>
            <a:r>
              <a:rPr lang="zh-CN" altLang="en-US" b="1">
                <a:solidFill>
                  <a:srgbClr val="000000"/>
                </a:solidFill>
                <a:sym typeface="Arial" pitchFamily="34" charset="0"/>
              </a:rPr>
              <a:t>类</a:t>
            </a:r>
          </a:p>
        </p:txBody>
      </p:sp>
      <p:sp>
        <p:nvSpPr>
          <p:cNvPr id="28700" name="矩形 54"/>
          <p:cNvSpPr>
            <a:spLocks noChangeArrowheads="1"/>
          </p:cNvSpPr>
          <p:nvPr/>
        </p:nvSpPr>
        <p:spPr bwMode="auto">
          <a:xfrm>
            <a:off x="3944938" y="4333875"/>
            <a:ext cx="13763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b="1">
                <a:solidFill>
                  <a:srgbClr val="000000"/>
                </a:solidFill>
                <a:sym typeface="Arial" pitchFamily="34" charset="0"/>
              </a:rPr>
              <a:t>可选配</a:t>
            </a:r>
            <a:r>
              <a:rPr lang="en-US" b="1">
                <a:solidFill>
                  <a:srgbClr val="000000"/>
                </a:solidFill>
                <a:sym typeface="Arial" pitchFamily="34" charset="0"/>
              </a:rPr>
              <a:t>=4</a:t>
            </a:r>
            <a:r>
              <a:rPr lang="zh-CN" altLang="en-US" b="1">
                <a:solidFill>
                  <a:srgbClr val="000000"/>
                </a:solidFill>
                <a:sym typeface="Arial" pitchFamily="34" charset="0"/>
              </a:rPr>
              <a:t>类</a:t>
            </a:r>
          </a:p>
        </p:txBody>
      </p:sp>
      <p:sp>
        <p:nvSpPr>
          <p:cNvPr id="28701" name="矩形 55"/>
          <p:cNvSpPr>
            <a:spLocks noChangeArrowheads="1"/>
          </p:cNvSpPr>
          <p:nvPr/>
        </p:nvSpPr>
        <p:spPr bwMode="auto">
          <a:xfrm>
            <a:off x="3875088" y="4787900"/>
            <a:ext cx="1609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b="1">
                <a:solidFill>
                  <a:srgbClr val="000000"/>
                </a:solidFill>
                <a:sym typeface="Arial" pitchFamily="34" charset="0"/>
              </a:rPr>
              <a:t>二次开发</a:t>
            </a:r>
            <a:r>
              <a:rPr lang="en-US" b="1">
                <a:solidFill>
                  <a:srgbClr val="000000"/>
                </a:solidFill>
                <a:sym typeface="Arial" pitchFamily="34" charset="0"/>
              </a:rPr>
              <a:t>=4</a:t>
            </a:r>
            <a:r>
              <a:rPr lang="zh-CN" altLang="en-US" b="1">
                <a:solidFill>
                  <a:srgbClr val="000000"/>
                </a:solidFill>
                <a:sym typeface="Arial" pitchFamily="34" charset="0"/>
              </a:rPr>
              <a:t>类</a:t>
            </a:r>
          </a:p>
        </p:txBody>
      </p:sp>
      <p:sp>
        <p:nvSpPr>
          <p:cNvPr id="28702" name="矩形 56"/>
          <p:cNvSpPr>
            <a:spLocks noChangeArrowheads="1"/>
          </p:cNvSpPr>
          <p:nvPr/>
        </p:nvSpPr>
        <p:spPr bwMode="auto">
          <a:xfrm>
            <a:off x="3867150" y="5157788"/>
            <a:ext cx="1784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b="1">
                <a:solidFill>
                  <a:srgbClr val="000000"/>
                </a:solidFill>
                <a:sym typeface="Arial" pitchFamily="34" charset="0"/>
              </a:rPr>
              <a:t>定制、编程语言</a:t>
            </a:r>
            <a:r>
              <a:rPr lang="en-US" b="1">
                <a:solidFill>
                  <a:srgbClr val="000000"/>
                </a:solidFill>
                <a:sym typeface="Arial" pitchFamily="34" charset="0"/>
              </a:rPr>
              <a:t>=4</a:t>
            </a:r>
            <a:r>
              <a:rPr lang="zh-CN" altLang="en-US" b="1">
                <a:solidFill>
                  <a:srgbClr val="000000"/>
                </a:solidFill>
                <a:sym typeface="Arial" pitchFamily="34" charset="0"/>
              </a:rPr>
              <a:t>类</a:t>
            </a:r>
          </a:p>
        </p:txBody>
      </p:sp>
      <p:sp>
        <p:nvSpPr>
          <p:cNvPr id="28703" name="矩形 58"/>
          <p:cNvSpPr>
            <a:spLocks noChangeArrowheads="1"/>
          </p:cNvSpPr>
          <p:nvPr/>
        </p:nvSpPr>
        <p:spPr bwMode="auto">
          <a:xfrm>
            <a:off x="5840413" y="4037013"/>
            <a:ext cx="1609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b="1">
                <a:solidFill>
                  <a:srgbClr val="000000"/>
                </a:solidFill>
                <a:sym typeface="Arial" pitchFamily="34" charset="0"/>
              </a:rPr>
              <a:t>不可配置</a:t>
            </a:r>
            <a:r>
              <a:rPr lang="en-US" b="1">
                <a:solidFill>
                  <a:srgbClr val="000000"/>
                </a:solidFill>
                <a:sym typeface="Arial" pitchFamily="34" charset="0"/>
              </a:rPr>
              <a:t>=3</a:t>
            </a:r>
            <a:r>
              <a:rPr lang="zh-CN" altLang="en-US" b="1">
                <a:solidFill>
                  <a:srgbClr val="000000"/>
                </a:solidFill>
                <a:sym typeface="Arial" pitchFamily="34" charset="0"/>
              </a:rPr>
              <a:t>类</a:t>
            </a:r>
          </a:p>
        </p:txBody>
      </p:sp>
      <p:sp>
        <p:nvSpPr>
          <p:cNvPr id="28704" name="矩形 59"/>
          <p:cNvSpPr>
            <a:spLocks noChangeArrowheads="1"/>
          </p:cNvSpPr>
          <p:nvPr/>
        </p:nvSpPr>
        <p:spPr bwMode="auto">
          <a:xfrm>
            <a:off x="5849938" y="4603750"/>
            <a:ext cx="1609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b="1">
                <a:solidFill>
                  <a:srgbClr val="000000"/>
                </a:solidFill>
                <a:sym typeface="Arial" pitchFamily="34" charset="0"/>
              </a:rPr>
              <a:t>默认配置</a:t>
            </a:r>
            <a:r>
              <a:rPr lang="en-US" b="1">
                <a:solidFill>
                  <a:srgbClr val="000000"/>
                </a:solidFill>
                <a:sym typeface="Arial" pitchFamily="34" charset="0"/>
              </a:rPr>
              <a:t>=3</a:t>
            </a:r>
            <a:r>
              <a:rPr lang="zh-CN" altLang="en-US" b="1">
                <a:solidFill>
                  <a:srgbClr val="000000"/>
                </a:solidFill>
                <a:sym typeface="Arial" pitchFamily="34" charset="0"/>
              </a:rPr>
              <a:t>类</a:t>
            </a:r>
          </a:p>
        </p:txBody>
      </p:sp>
      <p:sp>
        <p:nvSpPr>
          <p:cNvPr id="28705" name="矩形 60"/>
          <p:cNvSpPr>
            <a:spLocks noChangeArrowheads="1"/>
          </p:cNvSpPr>
          <p:nvPr/>
        </p:nvSpPr>
        <p:spPr bwMode="auto">
          <a:xfrm>
            <a:off x="5861050" y="5213350"/>
            <a:ext cx="1609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b="1">
                <a:solidFill>
                  <a:srgbClr val="000000"/>
                </a:solidFill>
                <a:sym typeface="Arial" pitchFamily="34" charset="0"/>
              </a:rPr>
              <a:t>自主配置</a:t>
            </a:r>
            <a:r>
              <a:rPr lang="en-US" b="1">
                <a:solidFill>
                  <a:srgbClr val="000000"/>
                </a:solidFill>
                <a:sym typeface="Arial" pitchFamily="34" charset="0"/>
              </a:rPr>
              <a:t>=4</a:t>
            </a:r>
            <a:r>
              <a:rPr lang="zh-CN" altLang="en-US" b="1">
                <a:solidFill>
                  <a:srgbClr val="000000"/>
                </a:solidFill>
                <a:sym typeface="Arial" pitchFamily="34" charset="0"/>
              </a:rPr>
              <a:t>类</a:t>
            </a:r>
          </a:p>
        </p:txBody>
      </p:sp>
      <p:sp>
        <p:nvSpPr>
          <p:cNvPr id="28706" name="矩形 61"/>
          <p:cNvSpPr>
            <a:spLocks noChangeArrowheads="1"/>
          </p:cNvSpPr>
          <p:nvPr/>
        </p:nvSpPr>
        <p:spPr bwMode="auto">
          <a:xfrm>
            <a:off x="2565400" y="3141663"/>
            <a:ext cx="3270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200" b="1">
                <a:solidFill>
                  <a:srgbClr val="000000"/>
                </a:solidFill>
                <a:latin typeface="楷体" pitchFamily="49" charset="-122"/>
                <a:ea typeface="楷体" pitchFamily="49" charset="-122"/>
                <a:sym typeface="楷体" pitchFamily="49" charset="-122"/>
              </a:rPr>
              <a:t>+</a:t>
            </a:r>
            <a:endParaRPr lang="zh-CN" altLang="en-US">
              <a:solidFill>
                <a:srgbClr val="000000"/>
              </a:solidFill>
              <a:sym typeface="Arial" pitchFamily="34" charset="0"/>
            </a:endParaRPr>
          </a:p>
        </p:txBody>
      </p:sp>
      <p:sp>
        <p:nvSpPr>
          <p:cNvPr id="28707" name="矩形 62"/>
          <p:cNvSpPr>
            <a:spLocks noChangeArrowheads="1"/>
          </p:cNvSpPr>
          <p:nvPr/>
        </p:nvSpPr>
        <p:spPr bwMode="auto">
          <a:xfrm>
            <a:off x="4689475" y="3141663"/>
            <a:ext cx="3270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200" b="1">
                <a:solidFill>
                  <a:srgbClr val="000000"/>
                </a:solidFill>
                <a:latin typeface="楷体" pitchFamily="49" charset="-122"/>
                <a:ea typeface="楷体" pitchFamily="49" charset="-122"/>
                <a:sym typeface="楷体" pitchFamily="49" charset="-122"/>
              </a:rPr>
              <a:t>+</a:t>
            </a:r>
            <a:endParaRPr lang="zh-CN" altLang="en-US">
              <a:solidFill>
                <a:srgbClr val="000000"/>
              </a:solidFill>
              <a:sym typeface="Arial" pitchFamily="34" charset="0"/>
            </a:endParaRPr>
          </a:p>
        </p:txBody>
      </p:sp>
      <p:sp>
        <p:nvSpPr>
          <p:cNvPr id="28708" name="矩形 63"/>
          <p:cNvSpPr>
            <a:spLocks noChangeArrowheads="1"/>
          </p:cNvSpPr>
          <p:nvPr/>
        </p:nvSpPr>
        <p:spPr bwMode="auto">
          <a:xfrm>
            <a:off x="6675438" y="3141663"/>
            <a:ext cx="32861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200" b="1">
                <a:solidFill>
                  <a:srgbClr val="000000"/>
                </a:solidFill>
                <a:latin typeface="楷体" pitchFamily="49" charset="-122"/>
                <a:ea typeface="楷体" pitchFamily="49" charset="-122"/>
                <a:sym typeface="楷体" pitchFamily="49" charset="-122"/>
              </a:rPr>
              <a:t>=</a:t>
            </a:r>
            <a:endParaRPr lang="zh-CN" altLang="en-US">
              <a:solidFill>
                <a:srgbClr val="000000"/>
              </a:solidFill>
              <a:sym typeface="Arial" pitchFamily="34" charset="0"/>
            </a:endParaRPr>
          </a:p>
        </p:txBody>
      </p:sp>
      <p:sp>
        <p:nvSpPr>
          <p:cNvPr id="28709" name="Rectangle 3"/>
          <p:cNvSpPr>
            <a:spLocks noChangeArrowheads="1"/>
          </p:cNvSpPr>
          <p:nvPr/>
        </p:nvSpPr>
        <p:spPr bwMode="auto">
          <a:xfrm>
            <a:off x="2487613" y="44450"/>
            <a:ext cx="6118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第5节：引入计算机化管理系统软件的原则</a:t>
            </a:r>
          </a:p>
        </p:txBody>
      </p:sp>
    </p:spTree>
  </p:cSld>
  <p:clrMapOvr>
    <a:masterClrMapping/>
  </p:clrMapOvr>
  <p:transition>
    <p:strips dir="ld"/>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AutoShape 2"/>
          <p:cNvSpPr>
            <a:spLocks/>
          </p:cNvSpPr>
          <p:nvPr/>
        </p:nvSpPr>
        <p:spPr bwMode="auto">
          <a:xfrm>
            <a:off x="619125" y="1198563"/>
            <a:ext cx="7769225" cy="504825"/>
          </a:xfrm>
          <a:prstGeom prst="roundRect">
            <a:avLst>
              <a:gd name="adj" fmla="val 16667"/>
            </a:avLst>
          </a:pr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29699" name="Text Box 3"/>
          <p:cNvSpPr>
            <a:spLocks noChangeArrowheads="1"/>
          </p:cNvSpPr>
          <p:nvPr/>
        </p:nvSpPr>
        <p:spPr bwMode="auto">
          <a:xfrm>
            <a:off x="619125" y="1206500"/>
            <a:ext cx="75628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200" b="1">
                <a:solidFill>
                  <a:srgbClr val="000000"/>
                </a:solidFill>
                <a:latin typeface="楷体" pitchFamily="49" charset="-122"/>
                <a:ea typeface="楷体" pitchFamily="49" charset="-122"/>
                <a:sym typeface="楷体" pitchFamily="49" charset="-122"/>
              </a:rPr>
              <a:t>计算机化系统可根据“电子记录</a:t>
            </a:r>
            <a:r>
              <a:rPr lang="en-US" sz="2200" b="1">
                <a:solidFill>
                  <a:srgbClr val="000000"/>
                </a:solidFill>
                <a:latin typeface="楷体" pitchFamily="49" charset="-122"/>
                <a:ea typeface="楷体" pitchFamily="49" charset="-122"/>
                <a:sym typeface="楷体" pitchFamily="49" charset="-122"/>
              </a:rPr>
              <a:t>+</a:t>
            </a:r>
            <a:r>
              <a:rPr lang="zh-CN" altLang="en-US" sz="2200" b="1">
                <a:solidFill>
                  <a:srgbClr val="000000"/>
                </a:solidFill>
                <a:latin typeface="楷体" pitchFamily="49" charset="-122"/>
                <a:ea typeface="楷体" pitchFamily="49" charset="-122"/>
                <a:sym typeface="楷体" pitchFamily="49" charset="-122"/>
              </a:rPr>
              <a:t>开发</a:t>
            </a:r>
            <a:r>
              <a:rPr lang="en-US" sz="2200" b="1">
                <a:solidFill>
                  <a:srgbClr val="000000"/>
                </a:solidFill>
                <a:latin typeface="楷体" pitchFamily="49" charset="-122"/>
                <a:ea typeface="楷体" pitchFamily="49" charset="-122"/>
                <a:sym typeface="楷体" pitchFamily="49" charset="-122"/>
              </a:rPr>
              <a:t>+</a:t>
            </a:r>
            <a:r>
              <a:rPr lang="zh-CN" altLang="en-US" sz="2200" b="1">
                <a:solidFill>
                  <a:srgbClr val="000000"/>
                </a:solidFill>
                <a:latin typeface="楷体" pitchFamily="49" charset="-122"/>
                <a:ea typeface="楷体" pitchFamily="49" charset="-122"/>
                <a:sym typeface="楷体" pitchFamily="49" charset="-122"/>
              </a:rPr>
              <a:t>运行”三个因素</a:t>
            </a:r>
            <a:r>
              <a:rPr lang="zh-CN" altLang="en-US" sz="2200" b="1">
                <a:solidFill>
                  <a:srgbClr val="FF0000"/>
                </a:solidFill>
                <a:latin typeface="楷体" pitchFamily="49" charset="-122"/>
                <a:ea typeface="楷体" pitchFamily="49" charset="-122"/>
                <a:sym typeface="楷体" pitchFamily="49" charset="-122"/>
              </a:rPr>
              <a:t>分类</a:t>
            </a:r>
          </a:p>
        </p:txBody>
      </p:sp>
      <p:graphicFrame>
        <p:nvGraphicFramePr>
          <p:cNvPr id="29700" name="表格 3"/>
          <p:cNvGraphicFramePr>
            <a:graphicFrameLocks noGrp="1"/>
          </p:cNvGraphicFramePr>
          <p:nvPr/>
        </p:nvGraphicFramePr>
        <p:xfrm>
          <a:off x="482600" y="1995488"/>
          <a:ext cx="8121650" cy="4154487"/>
        </p:xfrm>
        <a:graphic>
          <a:graphicData uri="http://schemas.openxmlformats.org/drawingml/2006/table">
            <a:tbl>
              <a:tblPr/>
              <a:tblGrid>
                <a:gridCol w="1624013"/>
                <a:gridCol w="1385887"/>
                <a:gridCol w="1863725"/>
                <a:gridCol w="1879600"/>
                <a:gridCol w="1368425"/>
              </a:tblGrid>
              <a:tr h="4397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举例</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93B3D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电子记录</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93B3D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开发</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93B3D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运行</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93B3D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评估结果</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93B3D7"/>
                    </a:solidFill>
                  </a:tcPr>
                </a:tc>
              </a:tr>
              <a:tr h="4397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电子天平</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无</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—&gt;3</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COTS—&gt;3</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不可配置</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—&gt;3</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3</a:t>
                      </a: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43815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HPLC</a:t>
                      </a:r>
                      <a:endPar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有</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COTS—&gt;3</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自主配置</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4</a:t>
                      </a: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4397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发酵自控</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有</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二次开发</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&gt;4S</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自主配置</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4S</a:t>
                      </a: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4397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提取自控</a:t>
                      </a: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HMI</a:t>
                      </a:r>
                      <a:endPar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无</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—&gt;3</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二次开发</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&gt;4S</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不可配置</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—&gt;3</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4S</a:t>
                      </a: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仓库冷贮温度记录</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有</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COTS—&gt;3</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不可配置</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—&gt;3</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4</a:t>
                      </a: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4397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冻干机</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有</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选配</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自主配置</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—&gt;4</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4</a:t>
                      </a: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4397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灭菌柜</a:t>
                      </a: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HMI</a:t>
                      </a:r>
                      <a:endPar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无</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—&gt;3</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COTS—&gt;3</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默认配置</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—&gt;3</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3</a:t>
                      </a: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43973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水系统</a:t>
                      </a: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HMI</a:t>
                      </a:r>
                      <a:endPar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无</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—&gt;3</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COTS—&gt;3</a:t>
                      </a:r>
                      <a:endPar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默认配置</a:t>
                      </a:r>
                      <a:r>
                        <a:rPr kumimoji="0" 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rPr>
                        <a:t>—&gt;3</a:t>
                      </a:r>
                      <a:endParaRPr kumimoji="0" lang="zh-CN" altLang="en-US" sz="1800" b="1" i="0" u="none" strike="noStrike" cap="none" normalizeH="0" baseline="0" smtClean="0">
                        <a:ln>
                          <a:noFill/>
                        </a:ln>
                        <a:solidFill>
                          <a:srgbClr val="000000"/>
                        </a:solidFill>
                        <a:effectLst/>
                        <a:latin typeface="Arial" pitchFamily="34" charset="0"/>
                        <a:ea typeface="宋体" pitchFamily="2" charset="-122"/>
                        <a:sym typeface="Arial" pitchFamily="34" charset="0"/>
                      </a:endParaRP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3</a:t>
                      </a:r>
                      <a:r>
                        <a:rPr kumimoji="0" lang="zh-CN" altLang="en-US" sz="1800" b="1" i="0" u="none" strike="noStrike" cap="none" normalizeH="0" baseline="0" smtClean="0">
                          <a:ln>
                            <a:noFill/>
                          </a:ln>
                          <a:solidFill>
                            <a:schemeClr val="tx1"/>
                          </a:solidFill>
                          <a:effectLst/>
                          <a:latin typeface="Arial" pitchFamily="34" charset="0"/>
                          <a:ea typeface="宋体" pitchFamily="2" charset="-122"/>
                          <a:sym typeface="Arial" pitchFamily="34" charset="0"/>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bl>
          </a:graphicData>
        </a:graphic>
      </p:graphicFrame>
      <p:sp>
        <p:nvSpPr>
          <p:cNvPr id="29762" name="Rectangle 3"/>
          <p:cNvSpPr>
            <a:spLocks noChangeArrowheads="1"/>
          </p:cNvSpPr>
          <p:nvPr/>
        </p:nvSpPr>
        <p:spPr bwMode="auto">
          <a:xfrm>
            <a:off x="2487613" y="44450"/>
            <a:ext cx="6118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第5节：引入计算机化管理系统软件的原则</a:t>
            </a:r>
          </a:p>
        </p:txBody>
      </p:sp>
    </p:spTree>
  </p:cSld>
  <p:clrMapOvr>
    <a:masterClrMapping/>
  </p:clrMapOvr>
  <p:transition>
    <p:strips dir="ld"/>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ext Box 3"/>
          <p:cNvSpPr>
            <a:spLocks noChangeArrowheads="1"/>
          </p:cNvSpPr>
          <p:nvPr/>
        </p:nvSpPr>
        <p:spPr bwMode="auto">
          <a:xfrm>
            <a:off x="273050" y="1344613"/>
            <a:ext cx="8186738"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457200" indent="-457200">
              <a:buFont typeface="Calibri" pitchFamily="34" charset="0"/>
              <a:buAutoNum type="arabicPeriod"/>
            </a:pPr>
            <a:r>
              <a:rPr lang="zh-CN" altLang="en-US" sz="2200" b="1">
                <a:solidFill>
                  <a:srgbClr val="000000"/>
                </a:solidFill>
                <a:latin typeface="楷体" pitchFamily="49" charset="-122"/>
                <a:ea typeface="楷体" pitchFamily="49" charset="-122"/>
                <a:sym typeface="楷体" pitchFamily="49" charset="-122"/>
              </a:rPr>
              <a:t>软件类别越高管理越复杂，能保证数据完整性要求为前提。</a:t>
            </a:r>
            <a:endParaRPr lang="en-US" sz="2200" b="1">
              <a:solidFill>
                <a:srgbClr val="000000"/>
              </a:solidFill>
              <a:latin typeface="楷体" pitchFamily="49" charset="-122"/>
              <a:ea typeface="楷体" pitchFamily="49" charset="-122"/>
              <a:sym typeface="楷体" pitchFamily="49" charset="-122"/>
            </a:endParaRPr>
          </a:p>
          <a:p>
            <a:pPr marL="457200" indent="-457200">
              <a:buFont typeface="Calibri" pitchFamily="34" charset="0"/>
              <a:buAutoNum type="arabicPeriod"/>
            </a:pPr>
            <a:r>
              <a:rPr lang="zh-CN" altLang="en-US" sz="2200" b="1">
                <a:solidFill>
                  <a:srgbClr val="000000"/>
                </a:solidFill>
                <a:latin typeface="楷体" pitchFamily="49" charset="-122"/>
                <a:ea typeface="楷体" pitchFamily="49" charset="-122"/>
                <a:sym typeface="楷体" pitchFamily="49" charset="-122"/>
              </a:rPr>
              <a:t>建议不要上纯五类软件，可在四类软件上扩展</a:t>
            </a:r>
            <a:r>
              <a:rPr lang="en-US" sz="2200" b="1">
                <a:solidFill>
                  <a:srgbClr val="000000"/>
                </a:solidFill>
                <a:latin typeface="楷体" pitchFamily="49" charset="-122"/>
                <a:ea typeface="楷体" pitchFamily="49" charset="-122"/>
                <a:sym typeface="楷体" pitchFamily="49" charset="-122"/>
              </a:rPr>
              <a:t>5</a:t>
            </a:r>
            <a:r>
              <a:rPr lang="zh-CN" altLang="en-US" sz="2200" b="1">
                <a:solidFill>
                  <a:srgbClr val="000000"/>
                </a:solidFill>
                <a:latin typeface="楷体" pitchFamily="49" charset="-122"/>
                <a:ea typeface="楷体" pitchFamily="49" charset="-122"/>
                <a:sym typeface="楷体" pitchFamily="49" charset="-122"/>
              </a:rPr>
              <a:t>类软件的操作。</a:t>
            </a:r>
            <a:r>
              <a:rPr lang="zh-CN" altLang="en-US" sz="2200" b="1">
                <a:solidFill>
                  <a:srgbClr val="0070C0"/>
                </a:solidFill>
                <a:latin typeface="楷体" pitchFamily="49" charset="-122"/>
                <a:ea typeface="楷体" pitchFamily="49" charset="-122"/>
                <a:sym typeface="楷体" pitchFamily="49" charset="-122"/>
              </a:rPr>
              <a:t>理由是企业没有足够多的</a:t>
            </a:r>
            <a:r>
              <a:rPr lang="en-US" sz="2200" b="1">
                <a:solidFill>
                  <a:srgbClr val="0070C0"/>
                </a:solidFill>
                <a:latin typeface="楷体" pitchFamily="49" charset="-122"/>
                <a:ea typeface="楷体" pitchFamily="49" charset="-122"/>
                <a:sym typeface="楷体" pitchFamily="49" charset="-122"/>
              </a:rPr>
              <a:t>IT</a:t>
            </a:r>
            <a:r>
              <a:rPr lang="zh-CN" altLang="en-US" sz="2200" b="1">
                <a:solidFill>
                  <a:srgbClr val="0070C0"/>
                </a:solidFill>
                <a:latin typeface="楷体" pitchFamily="49" charset="-122"/>
                <a:ea typeface="楷体" pitchFamily="49" charset="-122"/>
                <a:sym typeface="楷体" pitchFamily="49" charset="-122"/>
              </a:rPr>
              <a:t>专家对其安全性进行评估。</a:t>
            </a:r>
            <a:endParaRPr lang="en-US" sz="2200" b="1">
              <a:solidFill>
                <a:srgbClr val="0070C0"/>
              </a:solidFill>
              <a:latin typeface="楷体" pitchFamily="49" charset="-122"/>
              <a:ea typeface="楷体" pitchFamily="49" charset="-122"/>
              <a:sym typeface="楷体" pitchFamily="49" charset="-122"/>
            </a:endParaRPr>
          </a:p>
          <a:p>
            <a:pPr marL="457200" indent="-457200">
              <a:buFont typeface="Calibri" pitchFamily="34" charset="0"/>
              <a:buAutoNum type="arabicPeriod"/>
            </a:pPr>
            <a:r>
              <a:rPr lang="zh-CN" altLang="en-US" sz="2200" b="1">
                <a:solidFill>
                  <a:srgbClr val="000000"/>
                </a:solidFill>
                <a:latin typeface="楷体" pitchFamily="49" charset="-122"/>
                <a:ea typeface="楷体" pitchFamily="49" charset="-122"/>
                <a:sym typeface="楷体" pitchFamily="49" charset="-122"/>
              </a:rPr>
              <a:t>必要时可将三类软件配置后变成四类。</a:t>
            </a:r>
            <a:r>
              <a:rPr lang="zh-CN" altLang="en-US" sz="2200" b="1">
                <a:solidFill>
                  <a:srgbClr val="0070C0"/>
                </a:solidFill>
                <a:latin typeface="楷体" pitchFamily="49" charset="-122"/>
                <a:ea typeface="楷体" pitchFamily="49" charset="-122"/>
                <a:sym typeface="楷体" pitchFamily="49" charset="-122"/>
              </a:rPr>
              <a:t>例如</a:t>
            </a:r>
            <a:r>
              <a:rPr lang="en-US" sz="2200" b="1">
                <a:solidFill>
                  <a:srgbClr val="0070C0"/>
                </a:solidFill>
                <a:latin typeface="楷体" pitchFamily="49" charset="-122"/>
                <a:ea typeface="楷体" pitchFamily="49" charset="-122"/>
                <a:sym typeface="楷体" pitchFamily="49" charset="-122"/>
              </a:rPr>
              <a:t>TOC</a:t>
            </a:r>
            <a:r>
              <a:rPr lang="zh-CN" altLang="en-US" sz="2200" b="1">
                <a:solidFill>
                  <a:srgbClr val="0070C0"/>
                </a:solidFill>
                <a:latin typeface="楷体" pitchFamily="49" charset="-122"/>
                <a:ea typeface="楷体" pitchFamily="49" charset="-122"/>
                <a:sym typeface="楷体" pitchFamily="49" charset="-122"/>
              </a:rPr>
              <a:t>、水分测定仪配置计算机变成四类（加入服务器）。</a:t>
            </a:r>
            <a:endParaRPr lang="en-US" sz="2200" b="1">
              <a:solidFill>
                <a:srgbClr val="0070C0"/>
              </a:solidFill>
              <a:latin typeface="楷体" pitchFamily="49" charset="-122"/>
              <a:ea typeface="楷体" pitchFamily="49" charset="-122"/>
              <a:sym typeface="楷体" pitchFamily="49" charset="-122"/>
            </a:endParaRPr>
          </a:p>
          <a:p>
            <a:pPr marL="457200" indent="-457200">
              <a:buFont typeface="Calibri" pitchFamily="34" charset="0"/>
              <a:buAutoNum type="arabicPeriod"/>
            </a:pPr>
            <a:r>
              <a:rPr lang="zh-CN" altLang="en-US" sz="2200" b="1">
                <a:solidFill>
                  <a:srgbClr val="000000"/>
                </a:solidFill>
                <a:latin typeface="楷体" pitchFamily="49" charset="-122"/>
                <a:ea typeface="楷体" pitchFamily="49" charset="-122"/>
                <a:sym typeface="楷体" pitchFamily="49" charset="-122"/>
              </a:rPr>
              <a:t>法规强制要求。</a:t>
            </a:r>
            <a:r>
              <a:rPr lang="en-US" sz="2200" b="1">
                <a:solidFill>
                  <a:srgbClr val="0070C0"/>
                </a:solidFill>
                <a:latin typeface="楷体" pitchFamily="49" charset="-122"/>
                <a:ea typeface="楷体" pitchFamily="49" charset="-122"/>
                <a:sym typeface="楷体" pitchFamily="49" charset="-122"/>
              </a:rPr>
              <a:t>CFDA</a:t>
            </a:r>
            <a:r>
              <a:rPr lang="zh-CN" altLang="en-US" sz="2200" b="1">
                <a:solidFill>
                  <a:srgbClr val="0070C0"/>
                </a:solidFill>
                <a:latin typeface="楷体" pitchFamily="49" charset="-122"/>
                <a:ea typeface="楷体" pitchFamily="49" charset="-122"/>
                <a:sym typeface="楷体" pitchFamily="49" charset="-122"/>
              </a:rPr>
              <a:t>要求制药企业需建立质量跟踪系统，可能会导致企业需要</a:t>
            </a:r>
            <a:r>
              <a:rPr lang="en-US" sz="2200" b="1">
                <a:solidFill>
                  <a:srgbClr val="0070C0"/>
                </a:solidFill>
                <a:latin typeface="楷体" pitchFamily="49" charset="-122"/>
                <a:ea typeface="楷体" pitchFamily="49" charset="-122"/>
                <a:sym typeface="楷体" pitchFamily="49" charset="-122"/>
              </a:rPr>
              <a:t>ERP</a:t>
            </a:r>
            <a:r>
              <a:rPr lang="zh-CN" altLang="en-US" sz="2200" b="1">
                <a:solidFill>
                  <a:srgbClr val="0070C0"/>
                </a:solidFill>
                <a:latin typeface="楷体" pitchFamily="49" charset="-122"/>
                <a:ea typeface="楷体" pitchFamily="49" charset="-122"/>
                <a:sym typeface="楷体" pitchFamily="49" charset="-122"/>
              </a:rPr>
              <a:t>系统、</a:t>
            </a:r>
            <a:r>
              <a:rPr lang="en-US" sz="2200" b="1">
                <a:solidFill>
                  <a:srgbClr val="0070C0"/>
                </a:solidFill>
                <a:latin typeface="楷体" pitchFamily="49" charset="-122"/>
                <a:ea typeface="楷体" pitchFamily="49" charset="-122"/>
                <a:sym typeface="楷体" pitchFamily="49" charset="-122"/>
              </a:rPr>
              <a:t>SAP</a:t>
            </a:r>
            <a:r>
              <a:rPr lang="zh-CN" altLang="en-US" sz="2200" b="1">
                <a:solidFill>
                  <a:srgbClr val="0070C0"/>
                </a:solidFill>
                <a:latin typeface="楷体" pitchFamily="49" charset="-122"/>
                <a:ea typeface="楷体" pitchFamily="49" charset="-122"/>
                <a:sym typeface="楷体" pitchFamily="49" charset="-122"/>
              </a:rPr>
              <a:t>系统（征求意见稿）。</a:t>
            </a:r>
            <a:endParaRPr lang="en-US" sz="2200" b="1">
              <a:solidFill>
                <a:srgbClr val="0070C0"/>
              </a:solidFill>
              <a:latin typeface="楷体" pitchFamily="49" charset="-122"/>
              <a:ea typeface="楷体" pitchFamily="49" charset="-122"/>
              <a:sym typeface="楷体" pitchFamily="49" charset="-122"/>
            </a:endParaRPr>
          </a:p>
          <a:p>
            <a:pPr marL="457200" indent="-457200">
              <a:buFont typeface="Calibri" pitchFamily="34" charset="0"/>
              <a:buAutoNum type="arabicPeriod"/>
            </a:pPr>
            <a:r>
              <a:rPr lang="zh-CN" altLang="en-US" sz="2200" b="1">
                <a:solidFill>
                  <a:srgbClr val="000000"/>
                </a:solidFill>
                <a:latin typeface="楷体" pitchFamily="49" charset="-122"/>
                <a:ea typeface="楷体" pitchFamily="49" charset="-122"/>
                <a:sym typeface="楷体" pitchFamily="49" charset="-122"/>
              </a:rPr>
              <a:t>生产与检验用仪器，设备厂商已自配软件的选择把握。</a:t>
            </a:r>
            <a:endParaRPr lang="en-US" sz="2200" b="1">
              <a:solidFill>
                <a:srgbClr val="000000"/>
              </a:solidFill>
              <a:latin typeface="楷体" pitchFamily="49" charset="-122"/>
              <a:ea typeface="楷体" pitchFamily="49" charset="-122"/>
              <a:sym typeface="楷体" pitchFamily="49" charset="-122"/>
            </a:endParaRPr>
          </a:p>
          <a:p>
            <a:pPr marL="457200" indent="-457200"/>
            <a:endParaRPr lang="zh-CN" altLang="en-US" sz="2200" b="1">
              <a:solidFill>
                <a:srgbClr val="000000"/>
              </a:solidFill>
              <a:latin typeface="楷体" pitchFamily="49" charset="-122"/>
              <a:ea typeface="楷体" pitchFamily="49" charset="-122"/>
              <a:sym typeface="楷体" pitchFamily="49" charset="-122"/>
            </a:endParaRPr>
          </a:p>
          <a:p>
            <a:pPr marL="457200" indent="-457200"/>
            <a:endParaRPr lang="zh-CN" altLang="en-US" sz="2200" b="1">
              <a:solidFill>
                <a:srgbClr val="000000"/>
              </a:solidFill>
              <a:latin typeface="楷体" pitchFamily="49" charset="-122"/>
              <a:ea typeface="楷体" pitchFamily="49" charset="-122"/>
              <a:sym typeface="楷体" pitchFamily="49" charset="-122"/>
            </a:endParaRPr>
          </a:p>
          <a:p>
            <a:pPr marL="457200" indent="-457200"/>
            <a:r>
              <a:rPr lang="zh-CN" altLang="en-US" sz="2200" b="1">
                <a:solidFill>
                  <a:srgbClr val="000000"/>
                </a:solidFill>
                <a:latin typeface="楷体" pitchFamily="49" charset="-122"/>
                <a:ea typeface="楷体" pitchFamily="49" charset="-122"/>
                <a:sym typeface="楷体" pitchFamily="49" charset="-122"/>
              </a:rPr>
              <a:t>问题讨论：灭菌设备灭菌图谱打印后，有保存电子图谱的功能好，还是没有的好。</a:t>
            </a:r>
          </a:p>
        </p:txBody>
      </p:sp>
      <p:sp>
        <p:nvSpPr>
          <p:cNvPr id="30723" name="AutoShape 2"/>
          <p:cNvSpPr>
            <a:spLocks/>
          </p:cNvSpPr>
          <p:nvPr/>
        </p:nvSpPr>
        <p:spPr bwMode="auto">
          <a:xfrm>
            <a:off x="230188" y="4702175"/>
            <a:ext cx="8229600" cy="863600"/>
          </a:xfrm>
          <a:prstGeom prst="roundRect">
            <a:avLst>
              <a:gd name="adj" fmla="val 16667"/>
            </a:avLst>
          </a:prstGeom>
          <a:noFill/>
          <a:ln w="28575" cap="flat" cmpd="sng">
            <a:solidFill>
              <a:srgbClr val="0070C0"/>
            </a:solidFill>
            <a:bevel/>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30724" name="Rectangle 3"/>
          <p:cNvSpPr>
            <a:spLocks noChangeArrowheads="1"/>
          </p:cNvSpPr>
          <p:nvPr/>
        </p:nvSpPr>
        <p:spPr bwMode="auto">
          <a:xfrm>
            <a:off x="2846388" y="44450"/>
            <a:ext cx="57594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第5节：引入计算机化管理系统软件（例如SAP系统）的原则</a:t>
            </a:r>
          </a:p>
        </p:txBody>
      </p:sp>
    </p:spTree>
  </p:cSld>
  <p:clrMapOvr>
    <a:masterClrMapping/>
  </p:clrMapOvr>
  <p:transition>
    <p:strips dir="ld"/>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椭圆 3"/>
          <p:cNvSpPr>
            <a:spLocks noChangeArrowheads="1"/>
          </p:cNvSpPr>
          <p:nvPr/>
        </p:nvSpPr>
        <p:spPr bwMode="auto">
          <a:xfrm>
            <a:off x="539750" y="1198563"/>
            <a:ext cx="2016125" cy="936625"/>
          </a:xfrm>
          <a:prstGeom prst="ellipse">
            <a:avLst/>
          </a:prstGeom>
          <a:solidFill>
            <a:srgbClr val="00CCFF"/>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a:solidFill>
                <a:srgbClr val="000000"/>
              </a:solidFill>
              <a:sym typeface="Arial" pitchFamily="34" charset="0"/>
            </a:endParaRPr>
          </a:p>
        </p:txBody>
      </p:sp>
      <p:sp>
        <p:nvSpPr>
          <p:cNvPr id="31747" name="椭圆 4"/>
          <p:cNvSpPr>
            <a:spLocks noChangeArrowheads="1"/>
          </p:cNvSpPr>
          <p:nvPr/>
        </p:nvSpPr>
        <p:spPr bwMode="auto">
          <a:xfrm>
            <a:off x="5867400" y="1198563"/>
            <a:ext cx="2016125" cy="936625"/>
          </a:xfrm>
          <a:prstGeom prst="ellipse">
            <a:avLst/>
          </a:prstGeom>
          <a:solidFill>
            <a:srgbClr val="00CCFF"/>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a:solidFill>
                <a:srgbClr val="000000"/>
              </a:solidFill>
              <a:sym typeface="Arial" pitchFamily="34" charset="0"/>
            </a:endParaRPr>
          </a:p>
        </p:txBody>
      </p:sp>
      <p:graphicFrame>
        <p:nvGraphicFramePr>
          <p:cNvPr id="31748" name="表格 5"/>
          <p:cNvGraphicFramePr>
            <a:graphicFrameLocks noGrp="1"/>
          </p:cNvGraphicFramePr>
          <p:nvPr/>
        </p:nvGraphicFramePr>
        <p:xfrm>
          <a:off x="1008063" y="2566988"/>
          <a:ext cx="6888162" cy="2216150"/>
        </p:xfrm>
        <a:graphic>
          <a:graphicData uri="http://schemas.openxmlformats.org/drawingml/2006/table">
            <a:tbl>
              <a:tblPr/>
              <a:tblGrid>
                <a:gridCol w="1343025"/>
                <a:gridCol w="4192587"/>
                <a:gridCol w="1352550"/>
              </a:tblGrid>
              <a:tr h="4683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设备类型</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65E2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举例</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65E2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软件类别</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65E2FF"/>
                    </a:solidFill>
                  </a:tcPr>
                </a:tc>
              </a:tr>
              <a:tr h="4683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检测设备</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液相、色谱、紫外、红外、服务器</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4</a:t>
                      </a: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生产设备</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冻干机、发酵控制、超低温设备、制剂生产环境控制系统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4</a:t>
                      </a: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63976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管理软件</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SAP</a:t>
                      </a: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系统、</a:t>
                      </a: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LIMS</a:t>
                      </a: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系统、数据采集监控系统（</a:t>
                      </a: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SCADA</a:t>
                      </a: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）、计算机用</a:t>
                      </a: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Excel</a:t>
                      </a: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表格等</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4</a:t>
                      </a:r>
                      <a:r>
                        <a:rPr kumimoji="0" lang="zh-CN" altLang="en-US" sz="1800" b="1" i="0" u="none" strike="noStrike" cap="none" normalizeH="0" baseline="0" smtClean="0">
                          <a:ln>
                            <a:noFill/>
                          </a:ln>
                          <a:solidFill>
                            <a:srgbClr val="0070C0"/>
                          </a:solidFill>
                          <a:effectLst/>
                          <a:latin typeface="楷体" pitchFamily="49" charset="-122"/>
                          <a:ea typeface="楷体" pitchFamily="49" charset="-122"/>
                          <a:sym typeface="楷体" pitchFamily="49" charset="-122"/>
                        </a:rPr>
                        <a:t>类</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bl>
          </a:graphicData>
        </a:graphic>
      </p:graphicFrame>
      <p:sp>
        <p:nvSpPr>
          <p:cNvPr id="31770" name="矩形 6"/>
          <p:cNvSpPr>
            <a:spLocks noChangeArrowheads="1"/>
          </p:cNvSpPr>
          <p:nvPr/>
        </p:nvSpPr>
        <p:spPr bwMode="auto">
          <a:xfrm>
            <a:off x="760413" y="1282700"/>
            <a:ext cx="16573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en-US" sz="2200" b="1">
                <a:solidFill>
                  <a:schemeClr val="bg1"/>
                </a:solidFill>
                <a:latin typeface="楷体" pitchFamily="49" charset="-122"/>
                <a:ea typeface="楷体" pitchFamily="49" charset="-122"/>
                <a:sym typeface="楷体" pitchFamily="49" charset="-122"/>
              </a:rPr>
              <a:t>GMP</a:t>
            </a:r>
            <a:r>
              <a:rPr lang="zh-CN" altLang="en-US" sz="2200" b="1">
                <a:solidFill>
                  <a:schemeClr val="bg1"/>
                </a:solidFill>
                <a:latin typeface="楷体" pitchFamily="49" charset="-122"/>
                <a:ea typeface="楷体" pitchFamily="49" charset="-122"/>
                <a:sym typeface="楷体" pitchFamily="49" charset="-122"/>
              </a:rPr>
              <a:t>相关设备或系统</a:t>
            </a:r>
            <a:endParaRPr lang="zh-CN" altLang="en-US">
              <a:solidFill>
                <a:schemeClr val="bg1"/>
              </a:solidFill>
              <a:sym typeface="Arial" pitchFamily="34" charset="0"/>
            </a:endParaRPr>
          </a:p>
        </p:txBody>
      </p:sp>
      <p:sp>
        <p:nvSpPr>
          <p:cNvPr id="31771" name="矩形 7"/>
          <p:cNvSpPr>
            <a:spLocks noChangeArrowheads="1"/>
          </p:cNvSpPr>
          <p:nvPr/>
        </p:nvSpPr>
        <p:spPr bwMode="auto">
          <a:xfrm>
            <a:off x="6048375" y="1289050"/>
            <a:ext cx="16557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2200" b="1">
                <a:solidFill>
                  <a:schemeClr val="bg1"/>
                </a:solidFill>
                <a:latin typeface="楷体" pitchFamily="49" charset="-122"/>
                <a:ea typeface="楷体" pitchFamily="49" charset="-122"/>
                <a:sym typeface="楷体" pitchFamily="49" charset="-122"/>
              </a:rPr>
              <a:t>属于</a:t>
            </a:r>
            <a:r>
              <a:rPr lang="en-US" sz="2200" b="1">
                <a:solidFill>
                  <a:schemeClr val="bg1"/>
                </a:solidFill>
                <a:latin typeface="楷体" pitchFamily="49" charset="-122"/>
                <a:ea typeface="楷体" pitchFamily="49" charset="-122"/>
                <a:sym typeface="楷体" pitchFamily="49" charset="-122"/>
              </a:rPr>
              <a:t>4</a:t>
            </a:r>
            <a:r>
              <a:rPr lang="zh-CN" altLang="en-US" sz="2200" b="1">
                <a:solidFill>
                  <a:schemeClr val="bg1"/>
                </a:solidFill>
                <a:latin typeface="楷体" pitchFamily="49" charset="-122"/>
                <a:ea typeface="楷体" pitchFamily="49" charset="-122"/>
                <a:sym typeface="楷体" pitchFamily="49" charset="-122"/>
              </a:rPr>
              <a:t>类或</a:t>
            </a:r>
            <a:endParaRPr lang="en-US" sz="2200" b="1">
              <a:solidFill>
                <a:schemeClr val="bg1"/>
              </a:solidFill>
              <a:latin typeface="楷体" pitchFamily="49" charset="-122"/>
              <a:ea typeface="楷体" pitchFamily="49" charset="-122"/>
              <a:sym typeface="楷体" pitchFamily="49" charset="-122"/>
            </a:endParaRPr>
          </a:p>
          <a:p>
            <a:pPr algn="ctr"/>
            <a:r>
              <a:rPr lang="en-US" sz="2200" b="1">
                <a:solidFill>
                  <a:schemeClr val="bg1"/>
                </a:solidFill>
                <a:latin typeface="楷体" pitchFamily="49" charset="-122"/>
                <a:ea typeface="楷体" pitchFamily="49" charset="-122"/>
                <a:sym typeface="楷体" pitchFamily="49" charset="-122"/>
              </a:rPr>
              <a:t>5</a:t>
            </a:r>
            <a:r>
              <a:rPr lang="zh-CN" altLang="en-US" sz="2200" b="1">
                <a:solidFill>
                  <a:schemeClr val="bg1"/>
                </a:solidFill>
                <a:latin typeface="楷体" pitchFamily="49" charset="-122"/>
                <a:ea typeface="楷体" pitchFamily="49" charset="-122"/>
                <a:sym typeface="楷体" pitchFamily="49" charset="-122"/>
              </a:rPr>
              <a:t>类软件</a:t>
            </a:r>
          </a:p>
        </p:txBody>
      </p:sp>
      <p:sp>
        <p:nvSpPr>
          <p:cNvPr id="31772" name="AutoShape 2"/>
          <p:cNvSpPr>
            <a:spLocks noChangeArrowheads="1"/>
          </p:cNvSpPr>
          <p:nvPr/>
        </p:nvSpPr>
        <p:spPr bwMode="auto">
          <a:xfrm>
            <a:off x="3289300" y="5116513"/>
            <a:ext cx="1727200" cy="360362"/>
          </a:xfrm>
          <a:prstGeom prst="roundRect">
            <a:avLst>
              <a:gd name="adj" fmla="val 16667"/>
            </a:avLst>
          </a:prstGeom>
          <a:solidFill>
            <a:srgbClr val="65E2FF"/>
          </a:solidFill>
          <a:ln>
            <a:noFill/>
          </a:ln>
          <a:extLst>
            <a:ext uri="{91240B29-F687-4F45-9708-019B960494DF}">
              <a14:hiddenLine xmlns:a14="http://schemas.microsoft.com/office/drawing/2010/main" w="9525" cmpd="sng">
                <a:solidFill>
                  <a:srgbClr val="000000"/>
                </a:solidFill>
                <a:bevel/>
                <a:headEnd/>
                <a:tailEnd/>
              </a14:hiddenLine>
            </a:ext>
          </a:extLst>
        </p:spPr>
        <p:txBody>
          <a:bodyPr anchor="ctr"/>
          <a:lstStyle/>
          <a:p>
            <a:endParaRPr lang="zh-CN" altLang="zh-CN">
              <a:solidFill>
                <a:srgbClr val="000000"/>
              </a:solidFill>
              <a:sym typeface="Arial" pitchFamily="34" charset="0"/>
            </a:endParaRPr>
          </a:p>
        </p:txBody>
      </p:sp>
      <p:sp>
        <p:nvSpPr>
          <p:cNvPr id="31773" name="Text Box 3"/>
          <p:cNvSpPr>
            <a:spLocks noChangeArrowheads="1"/>
          </p:cNvSpPr>
          <p:nvPr/>
        </p:nvSpPr>
        <p:spPr bwMode="auto">
          <a:xfrm>
            <a:off x="3506788" y="5076825"/>
            <a:ext cx="13192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200" b="1">
                <a:solidFill>
                  <a:srgbClr val="FF0000"/>
                </a:solidFill>
                <a:latin typeface="楷体" pitchFamily="49" charset="-122"/>
                <a:ea typeface="楷体" pitchFamily="49" charset="-122"/>
                <a:sym typeface="楷体" pitchFamily="49" charset="-122"/>
              </a:rPr>
              <a:t>要点控制</a:t>
            </a:r>
          </a:p>
        </p:txBody>
      </p:sp>
      <p:sp>
        <p:nvSpPr>
          <p:cNvPr id="31774" name="AutoShape 2"/>
          <p:cNvSpPr>
            <a:spLocks/>
          </p:cNvSpPr>
          <p:nvPr/>
        </p:nvSpPr>
        <p:spPr bwMode="auto">
          <a:xfrm>
            <a:off x="265113" y="5692775"/>
            <a:ext cx="8229600" cy="520700"/>
          </a:xfrm>
          <a:prstGeom prst="roundRect">
            <a:avLst>
              <a:gd name="adj" fmla="val 16667"/>
            </a:avLst>
          </a:prstGeom>
          <a:noFill/>
          <a:ln w="28575" cap="flat" cmpd="sng">
            <a:solidFill>
              <a:srgbClr val="0070C0"/>
            </a:solidFill>
            <a:bevel/>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31775" name="Text Box 3"/>
          <p:cNvSpPr>
            <a:spLocks noChangeArrowheads="1"/>
          </p:cNvSpPr>
          <p:nvPr/>
        </p:nvSpPr>
        <p:spPr bwMode="auto">
          <a:xfrm>
            <a:off x="539750" y="5756275"/>
            <a:ext cx="7991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2000" b="1">
                <a:solidFill>
                  <a:srgbClr val="0070C0"/>
                </a:solidFill>
                <a:latin typeface="楷体" pitchFamily="49" charset="-122"/>
                <a:ea typeface="楷体" pitchFamily="49" charset="-122"/>
                <a:sym typeface="楷体" pitchFamily="49" charset="-122"/>
              </a:rPr>
              <a:t>1</a:t>
            </a:r>
            <a:r>
              <a:rPr lang="zh-CN" altLang="en-US" sz="2000" b="1">
                <a:solidFill>
                  <a:srgbClr val="0070C0"/>
                </a:solidFill>
                <a:latin typeface="楷体" pitchFamily="49" charset="-122"/>
                <a:ea typeface="楷体" pitchFamily="49" charset="-122"/>
                <a:sym typeface="楷体" pitchFamily="49" charset="-122"/>
              </a:rPr>
              <a:t>）权限控制；</a:t>
            </a:r>
            <a:r>
              <a:rPr lang="en-US" sz="2000" b="1">
                <a:solidFill>
                  <a:srgbClr val="0070C0"/>
                </a:solidFill>
                <a:latin typeface="楷体" pitchFamily="49" charset="-122"/>
                <a:ea typeface="楷体" pitchFamily="49" charset="-122"/>
                <a:sym typeface="楷体" pitchFamily="49" charset="-122"/>
              </a:rPr>
              <a:t>2</a:t>
            </a:r>
            <a:r>
              <a:rPr lang="zh-CN" altLang="en-US" sz="2000" b="1">
                <a:solidFill>
                  <a:srgbClr val="0070C0"/>
                </a:solidFill>
                <a:latin typeface="楷体" pitchFamily="49" charset="-122"/>
                <a:ea typeface="楷体" pitchFamily="49" charset="-122"/>
                <a:sym typeface="楷体" pitchFamily="49" charset="-122"/>
              </a:rPr>
              <a:t>）备份管理；</a:t>
            </a:r>
            <a:r>
              <a:rPr lang="en-US" sz="2000" b="1">
                <a:solidFill>
                  <a:srgbClr val="0070C0"/>
                </a:solidFill>
                <a:latin typeface="楷体" pitchFamily="49" charset="-122"/>
                <a:ea typeface="楷体" pitchFamily="49" charset="-122"/>
                <a:sym typeface="楷体" pitchFamily="49" charset="-122"/>
              </a:rPr>
              <a:t>3</a:t>
            </a:r>
            <a:r>
              <a:rPr lang="zh-CN" altLang="en-US" sz="2000" b="1">
                <a:solidFill>
                  <a:srgbClr val="0070C0"/>
                </a:solidFill>
                <a:latin typeface="楷体" pitchFamily="49" charset="-122"/>
                <a:ea typeface="楷体" pitchFamily="49" charset="-122"/>
                <a:sym typeface="楷体" pitchFamily="49" charset="-122"/>
              </a:rPr>
              <a:t>）审计跟踪；</a:t>
            </a:r>
            <a:r>
              <a:rPr lang="en-US" sz="2000" b="1">
                <a:solidFill>
                  <a:srgbClr val="0070C0"/>
                </a:solidFill>
                <a:latin typeface="楷体" pitchFamily="49" charset="-122"/>
                <a:ea typeface="楷体" pitchFamily="49" charset="-122"/>
                <a:sym typeface="楷体" pitchFamily="49" charset="-122"/>
              </a:rPr>
              <a:t>4</a:t>
            </a:r>
            <a:r>
              <a:rPr lang="zh-CN" altLang="en-US" sz="2000" b="1">
                <a:solidFill>
                  <a:srgbClr val="0070C0"/>
                </a:solidFill>
                <a:latin typeface="楷体" pitchFamily="49" charset="-122"/>
                <a:ea typeface="楷体" pitchFamily="49" charset="-122"/>
                <a:sym typeface="楷体" pitchFamily="49" charset="-122"/>
              </a:rPr>
              <a:t>）计算机系统验证</a:t>
            </a:r>
            <a:r>
              <a:rPr lang="zh-CN" altLang="en-US" sz="2000" b="1">
                <a:solidFill>
                  <a:srgbClr val="FF0000"/>
                </a:solidFill>
                <a:latin typeface="楷体" pitchFamily="49" charset="-122"/>
                <a:ea typeface="楷体" pitchFamily="49" charset="-122"/>
                <a:sym typeface="楷体" pitchFamily="49" charset="-122"/>
              </a:rPr>
              <a:t>等</a:t>
            </a:r>
          </a:p>
        </p:txBody>
      </p:sp>
      <p:sp>
        <p:nvSpPr>
          <p:cNvPr id="31776" name="左右箭头 12"/>
          <p:cNvSpPr>
            <a:spLocks/>
          </p:cNvSpPr>
          <p:nvPr/>
        </p:nvSpPr>
        <p:spPr bwMode="auto">
          <a:xfrm>
            <a:off x="2698750" y="1289050"/>
            <a:ext cx="3024188" cy="846138"/>
          </a:xfrm>
          <a:prstGeom prst="leftRightArrow">
            <a:avLst>
              <a:gd name="adj1" fmla="val 69157"/>
              <a:gd name="adj2" fmla="val 48499"/>
            </a:avLst>
          </a:prstGeom>
          <a:noFill/>
          <a:ln w="28575" cap="flat" cmpd="sng">
            <a:solidFill>
              <a:schemeClr val="tx1"/>
            </a:solidFill>
            <a:bevel/>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Arial" pitchFamily="34" charset="0"/>
            </a:endParaRPr>
          </a:p>
        </p:txBody>
      </p:sp>
      <p:sp>
        <p:nvSpPr>
          <p:cNvPr id="31777" name="Text Box 3"/>
          <p:cNvSpPr>
            <a:spLocks noChangeArrowheads="1"/>
          </p:cNvSpPr>
          <p:nvPr/>
        </p:nvSpPr>
        <p:spPr bwMode="auto">
          <a:xfrm>
            <a:off x="2843213" y="1497013"/>
            <a:ext cx="2884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000" b="1">
                <a:solidFill>
                  <a:srgbClr val="FF0000"/>
                </a:solidFill>
                <a:latin typeface="楷体" pitchFamily="49" charset="-122"/>
                <a:ea typeface="楷体" pitchFamily="49" charset="-122"/>
                <a:sym typeface="楷体" pitchFamily="49" charset="-122"/>
              </a:rPr>
              <a:t>同时满足左右两个条件</a:t>
            </a:r>
          </a:p>
        </p:txBody>
      </p:sp>
      <p:sp>
        <p:nvSpPr>
          <p:cNvPr id="31778" name="Rectangle 3"/>
          <p:cNvSpPr>
            <a:spLocks noChangeArrowheads="1"/>
          </p:cNvSpPr>
          <p:nvPr/>
        </p:nvSpPr>
        <p:spPr bwMode="auto">
          <a:xfrm>
            <a:off x="2344738" y="44450"/>
            <a:ext cx="68849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6</a:t>
            </a:r>
            <a:r>
              <a:rPr lang="zh-CN" altLang="en-US" sz="2400" b="1">
                <a:solidFill>
                  <a:srgbClr val="FFFF00"/>
                </a:solidFill>
                <a:latin typeface="Calibri" pitchFamily="34" charset="0"/>
                <a:ea typeface="楷体" pitchFamily="49" charset="-122"/>
                <a:sym typeface="Calibri" pitchFamily="34" charset="0"/>
              </a:rPr>
              <a:t>节：编制计算机化系统管理清单的原则与策略</a:t>
            </a:r>
          </a:p>
        </p:txBody>
      </p:sp>
    </p:spTree>
  </p:cSld>
  <p:clrMapOvr>
    <a:masterClrMapping/>
  </p:clrMapOvr>
  <p:transition>
    <p:strips dir="ld"/>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AutoShape 2"/>
          <p:cNvSpPr>
            <a:spLocks/>
          </p:cNvSpPr>
          <p:nvPr/>
        </p:nvSpPr>
        <p:spPr bwMode="auto">
          <a:xfrm>
            <a:off x="582613" y="2262188"/>
            <a:ext cx="2981325" cy="433387"/>
          </a:xfrm>
          <a:prstGeom prst="roundRect">
            <a:avLst>
              <a:gd name="adj" fmla="val 16667"/>
            </a:avLst>
          </a:prstGeom>
          <a:noFill/>
          <a:ln w="28575" cap="flat" cmpd="sng">
            <a:solidFill>
              <a:srgbClr val="0070C0"/>
            </a:solidFill>
            <a:bevel/>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32771" name="Text Box 3"/>
          <p:cNvSpPr>
            <a:spLocks noChangeArrowheads="1"/>
          </p:cNvSpPr>
          <p:nvPr/>
        </p:nvSpPr>
        <p:spPr bwMode="auto">
          <a:xfrm>
            <a:off x="1116013" y="2278063"/>
            <a:ext cx="2087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2000" b="1">
                <a:solidFill>
                  <a:srgbClr val="FF0000"/>
                </a:solidFill>
                <a:latin typeface="楷体" pitchFamily="49" charset="-122"/>
                <a:ea typeface="楷体" pitchFamily="49" charset="-122"/>
                <a:sym typeface="楷体" pitchFamily="49" charset="-122"/>
              </a:rPr>
              <a:t>1.</a:t>
            </a:r>
            <a:r>
              <a:rPr lang="zh-CN" altLang="en-US" sz="2000" b="1">
                <a:solidFill>
                  <a:srgbClr val="FF0000"/>
                </a:solidFill>
                <a:latin typeface="楷体" pitchFamily="49" charset="-122"/>
                <a:ea typeface="楷体" pitchFamily="49" charset="-122"/>
                <a:sym typeface="楷体" pitchFamily="49" charset="-122"/>
              </a:rPr>
              <a:t>设备举例</a:t>
            </a:r>
          </a:p>
        </p:txBody>
      </p:sp>
      <p:sp>
        <p:nvSpPr>
          <p:cNvPr id="32772" name="Text Box 3"/>
          <p:cNvSpPr>
            <a:spLocks noChangeArrowheads="1"/>
          </p:cNvSpPr>
          <p:nvPr/>
        </p:nvSpPr>
        <p:spPr bwMode="auto">
          <a:xfrm>
            <a:off x="1284288" y="1127125"/>
            <a:ext cx="6962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FF0000"/>
                </a:solidFill>
                <a:latin typeface="楷体" pitchFamily="49" charset="-122"/>
                <a:ea typeface="楷体" pitchFamily="49" charset="-122"/>
                <a:sym typeface="楷体" pitchFamily="49" charset="-122"/>
              </a:rPr>
              <a:t>属于三类软件的暂不列入计算机化系统管理清单</a:t>
            </a:r>
          </a:p>
        </p:txBody>
      </p:sp>
      <p:sp>
        <p:nvSpPr>
          <p:cNvPr id="32773" name="AutoShape 2"/>
          <p:cNvSpPr>
            <a:spLocks/>
          </p:cNvSpPr>
          <p:nvPr/>
        </p:nvSpPr>
        <p:spPr bwMode="auto">
          <a:xfrm>
            <a:off x="5551488" y="2246313"/>
            <a:ext cx="2981325" cy="431800"/>
          </a:xfrm>
          <a:prstGeom prst="roundRect">
            <a:avLst>
              <a:gd name="adj" fmla="val 16667"/>
            </a:avLst>
          </a:prstGeom>
          <a:noFill/>
          <a:ln w="28575" cap="flat" cmpd="sng">
            <a:solidFill>
              <a:srgbClr val="0070C0"/>
            </a:solidFill>
            <a:bevel/>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32774" name="Text Box 3"/>
          <p:cNvSpPr>
            <a:spLocks noChangeArrowheads="1"/>
          </p:cNvSpPr>
          <p:nvPr/>
        </p:nvSpPr>
        <p:spPr bwMode="auto">
          <a:xfrm>
            <a:off x="6516688" y="2262188"/>
            <a:ext cx="2087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2000" b="1">
                <a:solidFill>
                  <a:srgbClr val="FF0000"/>
                </a:solidFill>
                <a:latin typeface="楷体" pitchFamily="49" charset="-122"/>
                <a:ea typeface="楷体" pitchFamily="49" charset="-122"/>
                <a:sym typeface="楷体" pitchFamily="49" charset="-122"/>
              </a:rPr>
              <a:t>2.</a:t>
            </a:r>
            <a:r>
              <a:rPr lang="zh-CN" altLang="en-US" sz="2000" b="1">
                <a:solidFill>
                  <a:srgbClr val="FF0000"/>
                </a:solidFill>
                <a:latin typeface="楷体" pitchFamily="49" charset="-122"/>
                <a:ea typeface="楷体" pitchFamily="49" charset="-122"/>
                <a:sym typeface="楷体" pitchFamily="49" charset="-122"/>
              </a:rPr>
              <a:t>理由</a:t>
            </a:r>
          </a:p>
        </p:txBody>
      </p:sp>
      <p:sp>
        <p:nvSpPr>
          <p:cNvPr id="32775" name="AutoShape 2"/>
          <p:cNvSpPr>
            <a:spLocks/>
          </p:cNvSpPr>
          <p:nvPr/>
        </p:nvSpPr>
        <p:spPr bwMode="auto">
          <a:xfrm>
            <a:off x="5695950" y="5214938"/>
            <a:ext cx="2979738" cy="431800"/>
          </a:xfrm>
          <a:prstGeom prst="roundRect">
            <a:avLst>
              <a:gd name="adj" fmla="val 16667"/>
            </a:avLst>
          </a:prstGeom>
          <a:noFill/>
          <a:ln w="28575" cap="flat" cmpd="sng">
            <a:solidFill>
              <a:srgbClr val="0070C0"/>
            </a:solidFill>
            <a:bevel/>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32776" name="Text Box 3"/>
          <p:cNvSpPr>
            <a:spLocks noChangeArrowheads="1"/>
          </p:cNvSpPr>
          <p:nvPr/>
        </p:nvSpPr>
        <p:spPr bwMode="auto">
          <a:xfrm>
            <a:off x="6084888" y="5222875"/>
            <a:ext cx="2366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2000" b="1">
                <a:solidFill>
                  <a:srgbClr val="FF0000"/>
                </a:solidFill>
                <a:latin typeface="楷体" pitchFamily="49" charset="-122"/>
                <a:ea typeface="楷体" pitchFamily="49" charset="-122"/>
                <a:sym typeface="楷体" pitchFamily="49" charset="-122"/>
              </a:rPr>
              <a:t>3.</a:t>
            </a:r>
            <a:r>
              <a:rPr lang="zh-CN" altLang="en-US" sz="2000" b="1">
                <a:solidFill>
                  <a:srgbClr val="FF0000"/>
                </a:solidFill>
                <a:latin typeface="楷体" pitchFamily="49" charset="-122"/>
                <a:ea typeface="楷体" pitchFamily="49" charset="-122"/>
                <a:sym typeface="楷体" pitchFamily="49" charset="-122"/>
              </a:rPr>
              <a:t>后续升级后列入</a:t>
            </a:r>
          </a:p>
        </p:txBody>
      </p:sp>
      <p:sp>
        <p:nvSpPr>
          <p:cNvPr id="32777" name="AutoShape 2"/>
          <p:cNvSpPr>
            <a:spLocks/>
          </p:cNvSpPr>
          <p:nvPr/>
        </p:nvSpPr>
        <p:spPr bwMode="auto">
          <a:xfrm>
            <a:off x="582613" y="5197475"/>
            <a:ext cx="2981325" cy="431800"/>
          </a:xfrm>
          <a:prstGeom prst="roundRect">
            <a:avLst>
              <a:gd name="adj" fmla="val 16667"/>
            </a:avLst>
          </a:prstGeom>
          <a:noFill/>
          <a:ln w="28575" cap="flat" cmpd="sng">
            <a:solidFill>
              <a:srgbClr val="0070C0"/>
            </a:solidFill>
            <a:bevel/>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zh-CN">
              <a:solidFill>
                <a:srgbClr val="000000"/>
              </a:solidFill>
              <a:sym typeface="Arial" pitchFamily="34" charset="0"/>
            </a:endParaRPr>
          </a:p>
        </p:txBody>
      </p:sp>
      <p:sp>
        <p:nvSpPr>
          <p:cNvPr id="32778" name="Text Box 3"/>
          <p:cNvSpPr>
            <a:spLocks noChangeArrowheads="1"/>
          </p:cNvSpPr>
          <p:nvPr/>
        </p:nvSpPr>
        <p:spPr bwMode="auto">
          <a:xfrm>
            <a:off x="755650" y="5213350"/>
            <a:ext cx="2808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2000" b="1">
                <a:solidFill>
                  <a:srgbClr val="FF0000"/>
                </a:solidFill>
                <a:latin typeface="楷体" pitchFamily="49" charset="-122"/>
                <a:ea typeface="楷体" pitchFamily="49" charset="-122"/>
                <a:sym typeface="楷体" pitchFamily="49" charset="-122"/>
              </a:rPr>
              <a:t>4.</a:t>
            </a:r>
            <a:r>
              <a:rPr lang="zh-CN" altLang="en-US" sz="2000" b="1">
                <a:solidFill>
                  <a:srgbClr val="FF0000"/>
                </a:solidFill>
                <a:latin typeface="楷体" pitchFamily="49" charset="-122"/>
                <a:ea typeface="楷体" pitchFamily="49" charset="-122"/>
                <a:sym typeface="楷体" pitchFamily="49" charset="-122"/>
              </a:rPr>
              <a:t>特定情况下不再列入</a:t>
            </a:r>
          </a:p>
        </p:txBody>
      </p:sp>
      <p:sp>
        <p:nvSpPr>
          <p:cNvPr id="32779" name="Text Box 3"/>
          <p:cNvSpPr>
            <a:spLocks noChangeArrowheads="1"/>
          </p:cNvSpPr>
          <p:nvPr/>
        </p:nvSpPr>
        <p:spPr bwMode="auto">
          <a:xfrm>
            <a:off x="395288" y="2711450"/>
            <a:ext cx="3313112"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b="1">
                <a:solidFill>
                  <a:srgbClr val="0070C0"/>
                </a:solidFill>
                <a:latin typeface="楷体" pitchFamily="49" charset="-122"/>
                <a:ea typeface="楷体" pitchFamily="49" charset="-122"/>
                <a:sym typeface="楷体" pitchFamily="49" charset="-122"/>
              </a:rPr>
              <a:t>例如：分析天平、</a:t>
            </a:r>
            <a:r>
              <a:rPr lang="en-US" b="1">
                <a:solidFill>
                  <a:srgbClr val="0070C0"/>
                </a:solidFill>
                <a:latin typeface="楷体" pitchFamily="49" charset="-122"/>
                <a:ea typeface="楷体" pitchFamily="49" charset="-122"/>
                <a:sym typeface="楷体" pitchFamily="49" charset="-122"/>
              </a:rPr>
              <a:t>PH</a:t>
            </a:r>
            <a:r>
              <a:rPr lang="zh-CN" altLang="en-US" b="1">
                <a:solidFill>
                  <a:srgbClr val="0070C0"/>
                </a:solidFill>
                <a:latin typeface="楷体" pitchFamily="49" charset="-122"/>
                <a:ea typeface="楷体" pitchFamily="49" charset="-122"/>
                <a:sym typeface="楷体" pitchFamily="49" charset="-122"/>
              </a:rPr>
              <a:t>计、灭菌柜、马尔文颗粒度、效价测定仪、仓库温度记录</a:t>
            </a:r>
          </a:p>
        </p:txBody>
      </p:sp>
      <p:sp>
        <p:nvSpPr>
          <p:cNvPr id="32780" name="Text Box 3"/>
          <p:cNvSpPr>
            <a:spLocks noChangeArrowheads="1"/>
          </p:cNvSpPr>
          <p:nvPr/>
        </p:nvSpPr>
        <p:spPr bwMode="auto">
          <a:xfrm>
            <a:off x="395288" y="4440238"/>
            <a:ext cx="33131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b="1">
                <a:solidFill>
                  <a:srgbClr val="0070C0"/>
                </a:solidFill>
                <a:latin typeface="楷体" pitchFamily="49" charset="-122"/>
                <a:ea typeface="楷体" pitchFamily="49" charset="-122"/>
                <a:sym typeface="楷体" pitchFamily="49" charset="-122"/>
              </a:rPr>
              <a:t>法规明确规定，不能满足要求或不足项整改时，再列入清单</a:t>
            </a:r>
          </a:p>
        </p:txBody>
      </p:sp>
      <p:sp>
        <p:nvSpPr>
          <p:cNvPr id="32781" name="Text Box 3"/>
          <p:cNvSpPr>
            <a:spLocks noChangeArrowheads="1"/>
          </p:cNvSpPr>
          <p:nvPr/>
        </p:nvSpPr>
        <p:spPr bwMode="auto">
          <a:xfrm>
            <a:off x="5435600" y="2695575"/>
            <a:ext cx="331311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b="1">
                <a:solidFill>
                  <a:srgbClr val="0070C0"/>
                </a:solidFill>
                <a:latin typeface="楷体" pitchFamily="49" charset="-122"/>
                <a:ea typeface="楷体" pitchFamily="49" charset="-122"/>
                <a:sym typeface="楷体" pitchFamily="49" charset="-122"/>
              </a:rPr>
              <a:t>功能不支持（权限不能分级设置、防删除设置后影响设备正常使用、没有审计跟踪等）</a:t>
            </a:r>
          </a:p>
        </p:txBody>
      </p:sp>
      <p:sp>
        <p:nvSpPr>
          <p:cNvPr id="32782" name="Text Box 3"/>
          <p:cNvSpPr>
            <a:spLocks noChangeArrowheads="1"/>
          </p:cNvSpPr>
          <p:nvPr/>
        </p:nvSpPr>
        <p:spPr bwMode="auto">
          <a:xfrm>
            <a:off x="5508625" y="4584700"/>
            <a:ext cx="34337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b="1">
                <a:solidFill>
                  <a:srgbClr val="0070C0"/>
                </a:solidFill>
                <a:latin typeface="楷体" pitchFamily="49" charset="-122"/>
                <a:ea typeface="楷体" pitchFamily="49" charset="-122"/>
                <a:sym typeface="楷体" pitchFamily="49" charset="-122"/>
              </a:rPr>
              <a:t>根据风险与仪器功能的更新分步列入（例如：</a:t>
            </a:r>
            <a:r>
              <a:rPr lang="en-US" b="1">
                <a:solidFill>
                  <a:srgbClr val="0070C0"/>
                </a:solidFill>
                <a:latin typeface="楷体" pitchFamily="49" charset="-122"/>
                <a:ea typeface="楷体" pitchFamily="49" charset="-122"/>
                <a:sym typeface="楷体" pitchFamily="49" charset="-122"/>
              </a:rPr>
              <a:t>TOC</a:t>
            </a:r>
            <a:r>
              <a:rPr lang="zh-CN" altLang="en-US" b="1">
                <a:solidFill>
                  <a:srgbClr val="0070C0"/>
                </a:solidFill>
                <a:latin typeface="楷体" pitchFamily="49" charset="-122"/>
                <a:ea typeface="楷体" pitchFamily="49" charset="-122"/>
                <a:sym typeface="楷体" pitchFamily="49" charset="-122"/>
              </a:rPr>
              <a:t>、水分测定仪）</a:t>
            </a:r>
          </a:p>
        </p:txBody>
      </p:sp>
      <p:sp>
        <p:nvSpPr>
          <p:cNvPr id="32783" name="同心圆 24"/>
          <p:cNvSpPr>
            <a:spLocks/>
          </p:cNvSpPr>
          <p:nvPr/>
        </p:nvSpPr>
        <p:spPr bwMode="auto">
          <a:xfrm>
            <a:off x="3706813" y="3106738"/>
            <a:ext cx="1584325" cy="1477962"/>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00B0F0"/>
          </a:solidFill>
          <a:ln>
            <a:noFill/>
          </a:ln>
          <a:extLst>
            <a:ext uri="{91240B29-F687-4F45-9708-019B960494DF}">
              <a14:hiddenLine xmlns:a14="http://schemas.microsoft.com/office/drawing/2010/main" w="9525" cap="flat" cmpd="sng">
                <a:solidFill>
                  <a:srgbClr val="000000"/>
                </a:solidFill>
                <a:bevel/>
                <a:headEnd/>
                <a:tailEnd/>
              </a14:hiddenLine>
            </a:ext>
          </a:extLst>
        </p:spPr>
        <p:txBody>
          <a:bodyPr/>
          <a:lstStyle/>
          <a:p>
            <a:endParaRPr lang="zh-CN" altLang="zh-CN" b="1" i="1">
              <a:sym typeface="Arial" pitchFamily="34" charset="0"/>
            </a:endParaRPr>
          </a:p>
        </p:txBody>
      </p:sp>
      <p:sp>
        <p:nvSpPr>
          <p:cNvPr id="32784" name="直接连接符 26"/>
          <p:cNvSpPr>
            <a:spLocks noChangeShapeType="1"/>
          </p:cNvSpPr>
          <p:nvPr/>
        </p:nvSpPr>
        <p:spPr bwMode="auto">
          <a:xfrm>
            <a:off x="3657600" y="2752725"/>
            <a:ext cx="409575" cy="419100"/>
          </a:xfrm>
          <a:prstGeom prst="line">
            <a:avLst/>
          </a:prstGeom>
          <a:noFill/>
          <a:ln w="28575" cap="flat" cmpd="sng">
            <a:solidFill>
              <a:srgbClr val="FF0000"/>
            </a:solidFill>
            <a:prstDash val="sysDash"/>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5" name="直接连接符 28"/>
          <p:cNvSpPr>
            <a:spLocks noChangeShapeType="1"/>
          </p:cNvSpPr>
          <p:nvPr/>
        </p:nvSpPr>
        <p:spPr bwMode="auto">
          <a:xfrm>
            <a:off x="5059363" y="4513263"/>
            <a:ext cx="411162" cy="419100"/>
          </a:xfrm>
          <a:prstGeom prst="line">
            <a:avLst/>
          </a:prstGeom>
          <a:noFill/>
          <a:ln w="28575" cap="flat" cmpd="sng">
            <a:solidFill>
              <a:srgbClr val="FF0000"/>
            </a:solidFill>
            <a:prstDash val="sysDash"/>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6" name="直接连接符 29"/>
          <p:cNvSpPr>
            <a:spLocks noChangeShapeType="1"/>
          </p:cNvSpPr>
          <p:nvPr/>
        </p:nvSpPr>
        <p:spPr bwMode="auto">
          <a:xfrm flipH="1">
            <a:off x="5019675" y="2662238"/>
            <a:ext cx="415925" cy="487362"/>
          </a:xfrm>
          <a:prstGeom prst="line">
            <a:avLst/>
          </a:prstGeom>
          <a:noFill/>
          <a:ln w="28575" cap="flat" cmpd="sng">
            <a:solidFill>
              <a:srgbClr val="FF0000"/>
            </a:solidFill>
            <a:prstDash val="sysDash"/>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7" name="直接连接符 31"/>
          <p:cNvSpPr>
            <a:spLocks noChangeShapeType="1"/>
          </p:cNvSpPr>
          <p:nvPr/>
        </p:nvSpPr>
        <p:spPr bwMode="auto">
          <a:xfrm flipH="1">
            <a:off x="3573463" y="4584700"/>
            <a:ext cx="417512" cy="487363"/>
          </a:xfrm>
          <a:prstGeom prst="line">
            <a:avLst/>
          </a:prstGeom>
          <a:noFill/>
          <a:ln w="28575" cap="flat" cmpd="sng">
            <a:solidFill>
              <a:srgbClr val="FF0000"/>
            </a:solidFill>
            <a:prstDash val="sysDash"/>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8" name="Rectangle 3"/>
          <p:cNvSpPr>
            <a:spLocks noChangeArrowheads="1"/>
          </p:cNvSpPr>
          <p:nvPr/>
        </p:nvSpPr>
        <p:spPr bwMode="auto">
          <a:xfrm>
            <a:off x="2273300" y="44450"/>
            <a:ext cx="69405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6</a:t>
            </a:r>
            <a:r>
              <a:rPr lang="zh-CN" altLang="en-US" sz="2400" b="1">
                <a:solidFill>
                  <a:srgbClr val="FFFF00"/>
                </a:solidFill>
                <a:latin typeface="Calibri" pitchFamily="34" charset="0"/>
                <a:ea typeface="楷体" pitchFamily="49" charset="-122"/>
                <a:sym typeface="Calibri" pitchFamily="34" charset="0"/>
              </a:rPr>
              <a:t>节：编制计算机化系统管理清单的原则与策略</a:t>
            </a:r>
          </a:p>
        </p:txBody>
      </p:sp>
    </p:spTree>
  </p:cSld>
  <p:clrMapOvr>
    <a:masterClrMapping/>
  </p:clrMapOvr>
  <p:transition>
    <p:strips dir="ld"/>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3"/>
          <p:cNvSpPr>
            <a:spLocks noGrp="1" noChangeArrowheads="1"/>
          </p:cNvSpPr>
          <p:nvPr>
            <p:ph idx="4294967295"/>
          </p:nvPr>
        </p:nvSpPr>
        <p:spPr bwMode="auto">
          <a:xfrm>
            <a:off x="457200" y="1341438"/>
            <a:ext cx="8229600"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lstStyle/>
          <a:p>
            <a:pPr>
              <a:buFont typeface="Arial" pitchFamily="34" charset="0"/>
              <a:buNone/>
            </a:pPr>
            <a:r>
              <a:rPr lang="zh-CN" altLang="en-US" sz="2400" b="1">
                <a:solidFill>
                  <a:srgbClr val="FF0000"/>
                </a:solidFill>
              </a:rPr>
              <a:t>1.生产过程的设备如何进行</a:t>
            </a:r>
            <a:r>
              <a:rPr lang="en-US" sz="2400" b="1">
                <a:solidFill>
                  <a:srgbClr val="FF0000"/>
                </a:solidFill>
              </a:rPr>
              <a:t>DI</a:t>
            </a:r>
            <a:r>
              <a:rPr lang="zh-CN" altLang="en-US" sz="2400" b="1">
                <a:solidFill>
                  <a:srgbClr val="FF0000"/>
                </a:solidFill>
              </a:rPr>
              <a:t>控制？</a:t>
            </a:r>
            <a:endParaRPr lang="en-US" sz="2400" b="1">
              <a:solidFill>
                <a:srgbClr val="FF0000"/>
              </a:solidFill>
            </a:endParaRPr>
          </a:p>
          <a:p>
            <a:pPr>
              <a:buFont typeface="Wingdings" pitchFamily="2" charset="2"/>
              <a:buChar char="Ø"/>
            </a:pPr>
            <a:r>
              <a:rPr lang="zh-CN" altLang="en-US" sz="2800" b="1"/>
              <a:t>属于</a:t>
            </a:r>
            <a:r>
              <a:rPr lang="en-US" sz="2800" b="1"/>
              <a:t>GAMP5</a:t>
            </a:r>
            <a:r>
              <a:rPr lang="zh-CN" altLang="en-US" sz="2800" b="1"/>
              <a:t>三类：例如灭菌设备、</a:t>
            </a:r>
            <a:r>
              <a:rPr lang="en-US" sz="2800" b="1"/>
              <a:t>HVAC</a:t>
            </a:r>
            <a:r>
              <a:rPr lang="zh-CN" altLang="en-US" sz="2800" b="1"/>
              <a:t>、制水系统、某些</a:t>
            </a:r>
            <a:r>
              <a:rPr lang="en-US" sz="2800" b="1"/>
              <a:t>PLC</a:t>
            </a:r>
            <a:r>
              <a:rPr lang="zh-CN" altLang="en-US" sz="2800" b="1"/>
              <a:t>等</a:t>
            </a:r>
            <a:r>
              <a:rPr lang="zh-CN" altLang="en-US" sz="2400"/>
              <a:t>应设置权限控制（如建方法与使用分开）、防删除、防修改、审计跟踪、备份管理等（最佳）</a:t>
            </a:r>
            <a:endParaRPr lang="en-US" sz="2400"/>
          </a:p>
          <a:p>
            <a:pPr>
              <a:buFont typeface="Wingdings" pitchFamily="2" charset="2"/>
              <a:buChar char="Ø"/>
            </a:pPr>
            <a:r>
              <a:rPr lang="zh-CN" altLang="en-US" sz="2800" b="1"/>
              <a:t>属于四类以上：</a:t>
            </a:r>
            <a:r>
              <a:rPr lang="zh-CN" altLang="en-US" sz="2400"/>
              <a:t>要列入计算机化设备清单</a:t>
            </a:r>
            <a:endParaRPr lang="en-US" sz="2400"/>
          </a:p>
          <a:p>
            <a:pPr>
              <a:buFont typeface="Arial" pitchFamily="34" charset="0"/>
              <a:buNone/>
            </a:pPr>
            <a:r>
              <a:rPr lang="en-US" sz="2800" b="1"/>
              <a:t>2.</a:t>
            </a:r>
            <a:r>
              <a:rPr lang="zh-CN" altLang="en-US" sz="2800" b="1"/>
              <a:t>哪些生产设备具有审计功能？包括验证检测、环境检测、能性检测？</a:t>
            </a:r>
            <a:r>
              <a:rPr lang="en-US" sz="2400"/>
              <a:t>-----</a:t>
            </a:r>
            <a:r>
              <a:rPr lang="zh-CN" altLang="en-US" sz="2400"/>
              <a:t>必要时按单机版控制（安装审计追踪、权限、备份、防删除防修改和时间锁定）</a:t>
            </a:r>
          </a:p>
        </p:txBody>
      </p:sp>
      <p:pic>
        <p:nvPicPr>
          <p:cNvPr id="3379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688" y="5084763"/>
            <a:ext cx="152241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sp>
        <p:nvSpPr>
          <p:cNvPr id="33796" name="TextBox 7"/>
          <p:cNvSpPr>
            <a:spLocks noChangeArrowheads="1"/>
          </p:cNvSpPr>
          <p:nvPr/>
        </p:nvSpPr>
        <p:spPr bwMode="auto">
          <a:xfrm>
            <a:off x="5076825" y="5878513"/>
            <a:ext cx="40671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a:solidFill>
                  <a:srgbClr val="000000"/>
                </a:solidFill>
                <a:sym typeface="Arial" pitchFamily="34" charset="0"/>
              </a:rPr>
              <a:t>如何将</a:t>
            </a:r>
            <a:r>
              <a:rPr lang="zh-CN" altLang="en-US" b="1">
                <a:solidFill>
                  <a:srgbClr val="000000"/>
                </a:solidFill>
                <a:sym typeface="Arial" pitchFamily="34" charset="0"/>
              </a:rPr>
              <a:t>不能设置</a:t>
            </a:r>
            <a:endParaRPr lang="en-US" b="1">
              <a:solidFill>
                <a:srgbClr val="000000"/>
              </a:solidFill>
              <a:sym typeface="Arial" pitchFamily="34" charset="0"/>
            </a:endParaRPr>
          </a:p>
          <a:p>
            <a:pPr algn="ctr"/>
            <a:r>
              <a:rPr lang="zh-CN" altLang="en-US">
                <a:solidFill>
                  <a:srgbClr val="000000"/>
                </a:solidFill>
                <a:sym typeface="Arial" pitchFamily="34" charset="0"/>
              </a:rPr>
              <a:t>权限的生产设备</a:t>
            </a:r>
            <a:r>
              <a:rPr lang="zh-CN" altLang="en-US" b="1">
                <a:solidFill>
                  <a:srgbClr val="000000"/>
                </a:solidFill>
                <a:sym typeface="Arial" pitchFamily="34" charset="0"/>
              </a:rPr>
              <a:t>改造成可设置</a:t>
            </a:r>
          </a:p>
        </p:txBody>
      </p:sp>
      <p:sp>
        <p:nvSpPr>
          <p:cNvPr id="33797" name="Rectangle 3"/>
          <p:cNvSpPr>
            <a:spLocks noChangeArrowheads="1"/>
          </p:cNvSpPr>
          <p:nvPr/>
        </p:nvSpPr>
        <p:spPr bwMode="auto">
          <a:xfrm>
            <a:off x="2416175" y="44450"/>
            <a:ext cx="62960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7</a:t>
            </a:r>
            <a:r>
              <a:rPr lang="zh-CN" altLang="en-US" sz="2400" b="1">
                <a:solidFill>
                  <a:srgbClr val="FFFF00"/>
                </a:solidFill>
                <a:latin typeface="Calibri" pitchFamily="34" charset="0"/>
                <a:ea typeface="楷体" pitchFamily="49" charset="-122"/>
                <a:sym typeface="Calibri" pitchFamily="34" charset="0"/>
              </a:rPr>
              <a:t>节：生产部门数据完整性管控策略与要点</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bwMode="auto">
          <a:xfrm>
            <a:off x="250825" y="908050"/>
            <a:ext cx="8569325" cy="1143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nchor="ctr"/>
          <a:lstStyle/>
          <a:p>
            <a:r>
              <a:rPr lang="zh-CN" altLang="en-US" sz="2800" b="1">
                <a:solidFill>
                  <a:srgbClr val="FF0000"/>
                </a:solidFill>
              </a:rPr>
              <a:t>如何将不能设置权限的生产设备改造成可设置权限</a:t>
            </a:r>
          </a:p>
        </p:txBody>
      </p:sp>
      <p:sp>
        <p:nvSpPr>
          <p:cNvPr id="34819" name="Rectangle 3"/>
          <p:cNvSpPr>
            <a:spLocks noGrp="1" noChangeArrowheads="1"/>
          </p:cNvSpPr>
          <p:nvPr>
            <p:ph idx="4294967295"/>
          </p:nvPr>
        </p:nvSpPr>
        <p:spPr bwMode="auto">
          <a:xfrm>
            <a:off x="250825" y="2276475"/>
            <a:ext cx="8713788" cy="30146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lstStyle/>
          <a:p>
            <a:pPr>
              <a:buFont typeface="Wingdings" pitchFamily="2" charset="2"/>
              <a:buChar char="n"/>
            </a:pPr>
            <a:r>
              <a:rPr lang="zh-CN" altLang="en-US" b="1">
                <a:solidFill>
                  <a:schemeClr val="accent1"/>
                </a:solidFill>
                <a:latin typeface="华文楷体" pitchFamily="2" charset="-122"/>
                <a:ea typeface="华文楷体" pitchFamily="2" charset="-122"/>
                <a:sym typeface="华文楷体" pitchFamily="2" charset="-122"/>
              </a:rPr>
              <a:t>通过给设备或仪器外接一个计算机，通过计算机登陆，即可控制该设备或仪器的权限登陆。</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3"/>
          <p:cNvSpPr>
            <a:spLocks noGrp="1" noChangeArrowheads="1"/>
          </p:cNvSpPr>
          <p:nvPr>
            <p:ph idx="4294967295"/>
          </p:nvPr>
        </p:nvSpPr>
        <p:spPr bwMode="auto">
          <a:xfrm>
            <a:off x="457200" y="1198563"/>
            <a:ext cx="8493125" cy="4525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lstStyle/>
          <a:p>
            <a:pPr>
              <a:buFont typeface="Arial" pitchFamily="34" charset="0"/>
              <a:buNone/>
            </a:pPr>
            <a:r>
              <a:rPr lang="zh-CN" altLang="en-US" sz="2800" b="1">
                <a:solidFill>
                  <a:srgbClr val="FF0000"/>
                </a:solidFill>
              </a:rPr>
              <a:t>      生产中的计算机化系统设备清单与功能配置考虑</a:t>
            </a:r>
            <a:endParaRPr lang="en-US" sz="2800" b="1">
              <a:solidFill>
                <a:srgbClr val="FF0000"/>
              </a:solidFill>
            </a:endParaRPr>
          </a:p>
          <a:p>
            <a:pPr>
              <a:buFont typeface="Wingdings" pitchFamily="2" charset="2"/>
              <a:buChar char="n"/>
            </a:pPr>
            <a:r>
              <a:rPr lang="zh-CN" altLang="en-US" sz="2800" b="1"/>
              <a:t>范围：</a:t>
            </a:r>
            <a:r>
              <a:rPr lang="zh-CN" altLang="en-US" b="1">
                <a:solidFill>
                  <a:schemeClr val="accent1"/>
                </a:solidFill>
                <a:latin typeface="华文楷体" pitchFamily="2" charset="-122"/>
                <a:ea typeface="华文楷体" pitchFamily="2" charset="-122"/>
                <a:sym typeface="华文楷体" pitchFamily="2" charset="-122"/>
              </a:rPr>
              <a:t>药品生产工艺设备自动化控制（原料合成、发酵、冻干机、包装生产线等）；中控</a:t>
            </a:r>
            <a:r>
              <a:rPr lang="en-US" b="1">
                <a:solidFill>
                  <a:schemeClr val="accent1"/>
                </a:solidFill>
                <a:latin typeface="华文楷体" pitchFamily="2" charset="-122"/>
                <a:ea typeface="华文楷体" pitchFamily="2" charset="-122"/>
                <a:sym typeface="华文楷体" pitchFamily="2" charset="-122"/>
              </a:rPr>
              <a:t>HPLC</a:t>
            </a:r>
            <a:r>
              <a:rPr lang="zh-CN" altLang="en-US" b="1">
                <a:solidFill>
                  <a:schemeClr val="accent1"/>
                </a:solidFill>
                <a:latin typeface="华文楷体" pitchFamily="2" charset="-122"/>
                <a:ea typeface="华文楷体" pitchFamily="2" charset="-122"/>
                <a:sym typeface="华文楷体" pitchFamily="2" charset="-122"/>
              </a:rPr>
              <a:t>检测等。</a:t>
            </a:r>
            <a:endParaRPr lang="en-US" b="1">
              <a:solidFill>
                <a:schemeClr val="accent1"/>
              </a:solidFill>
              <a:latin typeface="华文楷体" pitchFamily="2" charset="-122"/>
              <a:ea typeface="华文楷体" pitchFamily="2" charset="-122"/>
              <a:sym typeface="华文楷体" pitchFamily="2" charset="-122"/>
            </a:endParaRPr>
          </a:p>
          <a:p>
            <a:pPr>
              <a:buFont typeface="Wingdings" pitchFamily="2" charset="2"/>
              <a:buChar char="n"/>
            </a:pPr>
            <a:r>
              <a:rPr lang="zh-CN" altLang="en-US" sz="2800" b="1"/>
              <a:t>生产设备的功能配置与数据完整性考虑点：</a:t>
            </a:r>
            <a:endParaRPr lang="en-US" sz="2800" b="1"/>
          </a:p>
          <a:p>
            <a:pPr lvl="1">
              <a:buFont typeface="Wingdings" pitchFamily="2" charset="2"/>
              <a:buChar char="p"/>
            </a:pPr>
            <a:r>
              <a:rPr lang="zh-CN" altLang="en-US" b="1">
                <a:solidFill>
                  <a:schemeClr val="accent1"/>
                </a:solidFill>
                <a:latin typeface="华文楷体" pitchFamily="2" charset="-122"/>
                <a:ea typeface="华文楷体" pitchFamily="2" charset="-122"/>
                <a:sym typeface="华文楷体" pitchFamily="2" charset="-122"/>
              </a:rPr>
              <a:t>很多设备（例如：灭菌设备、平台）要根据风险评估决定是否配置具有电子数据贮存功能。</a:t>
            </a:r>
            <a:endParaRPr lang="en-US" b="1">
              <a:solidFill>
                <a:schemeClr val="accent1"/>
              </a:solidFill>
              <a:latin typeface="华文楷体" pitchFamily="2" charset="-122"/>
              <a:ea typeface="华文楷体" pitchFamily="2" charset="-122"/>
              <a:sym typeface="华文楷体" pitchFamily="2" charset="-122"/>
            </a:endParaRPr>
          </a:p>
          <a:p>
            <a:pPr lvl="1">
              <a:buFont typeface="Wingdings" pitchFamily="2" charset="2"/>
              <a:buChar char="p"/>
            </a:pPr>
            <a:r>
              <a:rPr lang="zh-CN" altLang="en-US" b="1">
                <a:solidFill>
                  <a:schemeClr val="accent1"/>
                </a:solidFill>
                <a:latin typeface="华文楷体" pitchFamily="2" charset="-122"/>
                <a:ea typeface="华文楷体" pitchFamily="2" charset="-122"/>
                <a:sym typeface="华文楷体" pitchFamily="2" charset="-122"/>
              </a:rPr>
              <a:t>对产品质量与用药安全没有直接因果关系的电子数据</a:t>
            </a:r>
            <a:r>
              <a:rPr lang="en-US" b="1">
                <a:solidFill>
                  <a:schemeClr val="accent1"/>
                </a:solidFill>
                <a:latin typeface="华文楷体" pitchFamily="2" charset="-122"/>
                <a:ea typeface="华文楷体" pitchFamily="2" charset="-122"/>
                <a:sym typeface="华文楷体" pitchFamily="2" charset="-122"/>
              </a:rPr>
              <a:t>    ------</a:t>
            </a:r>
            <a:r>
              <a:rPr lang="zh-CN" altLang="en-US" b="1">
                <a:solidFill>
                  <a:schemeClr val="accent1"/>
                </a:solidFill>
                <a:latin typeface="华文楷体" pitchFamily="2" charset="-122"/>
                <a:ea typeface="华文楷体" pitchFamily="2" charset="-122"/>
                <a:sym typeface="华文楷体" pitchFamily="2" charset="-122"/>
              </a:rPr>
              <a:t>要分级管理。</a:t>
            </a:r>
            <a:endParaRPr lang="en-US" b="1">
              <a:solidFill>
                <a:schemeClr val="accent1"/>
              </a:solidFill>
              <a:latin typeface="华文楷体" pitchFamily="2" charset="-122"/>
              <a:ea typeface="华文楷体" pitchFamily="2" charset="-122"/>
              <a:sym typeface="华文楷体" pitchFamily="2" charset="-122"/>
            </a:endParaRPr>
          </a:p>
        </p:txBody>
      </p:sp>
      <p:pic>
        <p:nvPicPr>
          <p:cNvPr id="3584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9313" y="5805488"/>
            <a:ext cx="3148012"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sp>
        <p:nvSpPr>
          <p:cNvPr id="35844" name="Rectangle 3"/>
          <p:cNvSpPr>
            <a:spLocks noChangeArrowheads="1"/>
          </p:cNvSpPr>
          <p:nvPr/>
        </p:nvSpPr>
        <p:spPr bwMode="auto">
          <a:xfrm>
            <a:off x="2416175" y="44450"/>
            <a:ext cx="62960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7</a:t>
            </a:r>
            <a:r>
              <a:rPr lang="zh-CN" altLang="en-US" sz="2400" b="1">
                <a:solidFill>
                  <a:srgbClr val="FFFF00"/>
                </a:solidFill>
                <a:latin typeface="Calibri" pitchFamily="34" charset="0"/>
                <a:ea typeface="楷体" pitchFamily="49" charset="-122"/>
                <a:sym typeface="Calibri" pitchFamily="34" charset="0"/>
              </a:rPr>
              <a:t>节：生产部门数据完整性管控策略与要点</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bwMode="auto">
          <a:xfrm>
            <a:off x="457200" y="692150"/>
            <a:ext cx="8229600" cy="79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nchor="ctr"/>
          <a:lstStyle/>
          <a:p>
            <a:r>
              <a:rPr lang="zh-CN" altLang="en-US" sz="2800" b="1">
                <a:solidFill>
                  <a:srgbClr val="FF0000"/>
                </a:solidFill>
              </a:rPr>
              <a:t>自动过程控制计算机化系统用户权限管理程序</a:t>
            </a:r>
          </a:p>
        </p:txBody>
      </p:sp>
      <p:sp>
        <p:nvSpPr>
          <p:cNvPr id="36867" name="Rectangle 3"/>
          <p:cNvSpPr>
            <a:spLocks noGrp="1" noChangeArrowheads="1"/>
          </p:cNvSpPr>
          <p:nvPr>
            <p:ph idx="4294967295"/>
          </p:nvPr>
        </p:nvSpPr>
        <p:spPr bwMode="auto">
          <a:xfrm>
            <a:off x="250825" y="1350963"/>
            <a:ext cx="8893175" cy="57943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lstStyle/>
          <a:p>
            <a:pPr>
              <a:buFont typeface="Arial" pitchFamily="34" charset="0"/>
              <a:buNone/>
            </a:pPr>
            <a:r>
              <a:rPr lang="en-US" sz="2000" b="1">
                <a:latin typeface="华文楷体" pitchFamily="2" charset="-122"/>
                <a:ea typeface="华文楷体" pitchFamily="2" charset="-122"/>
                <a:sym typeface="华文楷体" pitchFamily="2" charset="-122"/>
              </a:rPr>
              <a:t>1.</a:t>
            </a:r>
            <a:r>
              <a:rPr lang="zh-CN" altLang="en-US" sz="2000" b="1">
                <a:latin typeface="华文楷体" pitchFamily="2" charset="-122"/>
                <a:ea typeface="华文楷体" pitchFamily="2" charset="-122"/>
                <a:sym typeface="华文楷体" pitchFamily="2" charset="-122"/>
              </a:rPr>
              <a:t>计算机操作操作系统权限管理</a:t>
            </a:r>
            <a:endParaRPr lang="en-US" sz="2000" b="1">
              <a:latin typeface="华文楷体" pitchFamily="2" charset="-122"/>
              <a:ea typeface="华文楷体" pitchFamily="2" charset="-122"/>
              <a:sym typeface="华文楷体" pitchFamily="2" charset="-122"/>
            </a:endParaRPr>
          </a:p>
          <a:p>
            <a:pPr>
              <a:buFont typeface="Arial" pitchFamily="34" charset="0"/>
              <a:buNone/>
            </a:pPr>
            <a:r>
              <a:rPr lang="en-US" sz="1600" b="1">
                <a:solidFill>
                  <a:schemeClr val="accent1"/>
                </a:solidFill>
                <a:latin typeface="华文楷体" pitchFamily="2" charset="-122"/>
                <a:ea typeface="华文楷体" pitchFamily="2" charset="-122"/>
                <a:sym typeface="华文楷体" pitchFamily="2" charset="-122"/>
              </a:rPr>
              <a:t>    1.1</a:t>
            </a:r>
            <a:r>
              <a:rPr lang="zh-CN" altLang="en-US" sz="1600" b="1">
                <a:solidFill>
                  <a:schemeClr val="accent1"/>
                </a:solidFill>
                <a:latin typeface="华文楷体" pitchFamily="2" charset="-122"/>
                <a:ea typeface="华文楷体" pitchFamily="2" charset="-122"/>
                <a:sym typeface="华文楷体" pitchFamily="2" charset="-122"/>
              </a:rPr>
              <a:t>未加入域的计算机化系统</a:t>
            </a:r>
            <a:r>
              <a:rPr lang="en-US" sz="1600" b="1">
                <a:solidFill>
                  <a:schemeClr val="accent1"/>
                </a:solidFill>
                <a:latin typeface="华文楷体" pitchFamily="2" charset="-122"/>
                <a:ea typeface="华文楷体" pitchFamily="2" charset="-122"/>
                <a:sym typeface="华文楷体" pitchFamily="2" charset="-122"/>
              </a:rPr>
              <a:t>-------IT</a:t>
            </a:r>
            <a:r>
              <a:rPr lang="zh-CN" altLang="en-US" sz="1600" b="1">
                <a:solidFill>
                  <a:schemeClr val="accent1"/>
                </a:solidFill>
                <a:latin typeface="华文楷体" pitchFamily="2" charset="-122"/>
                <a:ea typeface="华文楷体" pitchFamily="2" charset="-122"/>
                <a:sym typeface="华文楷体" pitchFamily="2" charset="-122"/>
              </a:rPr>
              <a:t>人员为计算机管理员，其他人员均为受限用户（标准用户）。</a:t>
            </a:r>
            <a:endParaRPr lang="en-US" sz="1600" b="1">
              <a:solidFill>
                <a:schemeClr val="accent1"/>
              </a:solidFill>
              <a:latin typeface="华文楷体" pitchFamily="2" charset="-122"/>
              <a:ea typeface="华文楷体" pitchFamily="2" charset="-122"/>
              <a:sym typeface="华文楷体" pitchFamily="2" charset="-122"/>
            </a:endParaRPr>
          </a:p>
          <a:p>
            <a:pPr>
              <a:buFont typeface="Arial" pitchFamily="34" charset="0"/>
              <a:buNone/>
            </a:pPr>
            <a:r>
              <a:rPr lang="en-US" sz="1600" b="1">
                <a:solidFill>
                  <a:schemeClr val="accent1"/>
                </a:solidFill>
                <a:latin typeface="华文楷体" pitchFamily="2" charset="-122"/>
                <a:ea typeface="华文楷体" pitchFamily="2" charset="-122"/>
                <a:sym typeface="华文楷体" pitchFamily="2" charset="-122"/>
              </a:rPr>
              <a:t>    1.2</a:t>
            </a:r>
            <a:r>
              <a:rPr lang="zh-CN" altLang="en-US" sz="1600" b="1">
                <a:solidFill>
                  <a:schemeClr val="accent1"/>
                </a:solidFill>
                <a:latin typeface="华文楷体" pitchFamily="2" charset="-122"/>
                <a:ea typeface="华文楷体" pitchFamily="2" charset="-122"/>
                <a:sym typeface="华文楷体" pitchFamily="2" charset="-122"/>
              </a:rPr>
              <a:t>加入域的计算机化系统</a:t>
            </a:r>
            <a:r>
              <a:rPr lang="en-US" sz="1600" b="1">
                <a:solidFill>
                  <a:schemeClr val="accent1"/>
                </a:solidFill>
                <a:latin typeface="华文楷体" pitchFamily="2" charset="-122"/>
                <a:ea typeface="华文楷体" pitchFamily="2" charset="-122"/>
                <a:sym typeface="华文楷体" pitchFamily="2" charset="-122"/>
              </a:rPr>
              <a:t>---------</a:t>
            </a:r>
            <a:r>
              <a:rPr lang="zh-CN" altLang="en-US" sz="1600" b="1">
                <a:solidFill>
                  <a:schemeClr val="accent1"/>
                </a:solidFill>
                <a:latin typeface="华文楷体" pitchFamily="2" charset="-122"/>
                <a:ea typeface="华文楷体" pitchFamily="2" charset="-122"/>
                <a:sym typeface="华文楷体" pitchFamily="2" charset="-122"/>
              </a:rPr>
              <a:t>计算机系统加入到域。</a:t>
            </a:r>
            <a:r>
              <a:rPr lang="en-US" sz="1600" b="1">
                <a:solidFill>
                  <a:schemeClr val="accent1"/>
                </a:solidFill>
                <a:latin typeface="华文楷体" pitchFamily="2" charset="-122"/>
                <a:ea typeface="华文楷体" pitchFamily="2" charset="-122"/>
                <a:sym typeface="华文楷体" pitchFamily="2" charset="-122"/>
              </a:rPr>
              <a:t>IT</a:t>
            </a:r>
            <a:r>
              <a:rPr lang="zh-CN" altLang="en-US" sz="1600" b="1">
                <a:solidFill>
                  <a:schemeClr val="accent1"/>
                </a:solidFill>
                <a:latin typeface="华文楷体" pitchFamily="2" charset="-122"/>
                <a:ea typeface="华文楷体" pitchFamily="2" charset="-122"/>
                <a:sym typeface="华文楷体" pitchFamily="2" charset="-122"/>
              </a:rPr>
              <a:t>人员为计算机管理员（域管理员），通用的防病毒、</a:t>
            </a:r>
            <a:r>
              <a:rPr lang="en-US" sz="1600" b="1">
                <a:solidFill>
                  <a:schemeClr val="accent1"/>
                </a:solidFill>
                <a:latin typeface="华文楷体" pitchFamily="2" charset="-122"/>
                <a:ea typeface="华文楷体" pitchFamily="2" charset="-122"/>
                <a:sym typeface="华文楷体" pitchFamily="2" charset="-122"/>
              </a:rPr>
              <a:t>CMD</a:t>
            </a:r>
            <a:r>
              <a:rPr lang="zh-CN" altLang="en-US" sz="1600" b="1">
                <a:solidFill>
                  <a:schemeClr val="accent1"/>
                </a:solidFill>
                <a:latin typeface="华文楷体" pitchFamily="2" charset="-122"/>
                <a:ea typeface="华文楷体" pitchFamily="2" charset="-122"/>
                <a:sym typeface="华文楷体" pitchFamily="2" charset="-122"/>
              </a:rPr>
              <a:t>命令等统一由域策略设定。其他人员均为受限用户（域用户）。</a:t>
            </a:r>
            <a:endParaRPr lang="en-US" sz="1600" b="1">
              <a:solidFill>
                <a:schemeClr val="accent1"/>
              </a:solidFill>
              <a:latin typeface="华文楷体" pitchFamily="2" charset="-122"/>
              <a:ea typeface="华文楷体" pitchFamily="2" charset="-122"/>
              <a:sym typeface="华文楷体" pitchFamily="2" charset="-122"/>
            </a:endParaRPr>
          </a:p>
          <a:p>
            <a:pPr>
              <a:buFont typeface="Arial" pitchFamily="34" charset="0"/>
              <a:buNone/>
            </a:pPr>
            <a:r>
              <a:rPr lang="en-US" sz="2000" b="1">
                <a:latin typeface="华文楷体" pitchFamily="2" charset="-122"/>
                <a:ea typeface="华文楷体" pitchFamily="2" charset="-122"/>
                <a:sym typeface="华文楷体" pitchFamily="2" charset="-122"/>
              </a:rPr>
              <a:t>2.</a:t>
            </a:r>
            <a:r>
              <a:rPr lang="zh-CN" altLang="en-US" sz="2000" b="1">
                <a:latin typeface="华文楷体" pitchFamily="2" charset="-122"/>
                <a:ea typeface="华文楷体" pitchFamily="2" charset="-122"/>
                <a:sym typeface="华文楷体" pitchFamily="2" charset="-122"/>
              </a:rPr>
              <a:t>软件系统用户权限管理</a:t>
            </a:r>
            <a:endParaRPr lang="en-US" sz="2000" b="1">
              <a:latin typeface="华文楷体" pitchFamily="2" charset="-122"/>
              <a:ea typeface="华文楷体" pitchFamily="2" charset="-122"/>
              <a:sym typeface="华文楷体" pitchFamily="2" charset="-122"/>
            </a:endParaRPr>
          </a:p>
          <a:p>
            <a:pPr>
              <a:buFont typeface="Arial" pitchFamily="34" charset="0"/>
              <a:buNone/>
            </a:pPr>
            <a:r>
              <a:rPr lang="en-US" sz="1800" b="1">
                <a:solidFill>
                  <a:schemeClr val="accent1"/>
                </a:solidFill>
                <a:latin typeface="华文楷体" pitchFamily="2" charset="-122"/>
                <a:ea typeface="华文楷体" pitchFamily="2" charset="-122"/>
                <a:sym typeface="华文楷体" pitchFamily="2" charset="-122"/>
              </a:rPr>
              <a:t>  2.1</a:t>
            </a:r>
            <a:r>
              <a:rPr lang="zh-CN" altLang="en-US" sz="1800" b="1">
                <a:solidFill>
                  <a:schemeClr val="accent1"/>
                </a:solidFill>
                <a:latin typeface="华文楷体" pitchFamily="2" charset="-122"/>
                <a:ea typeface="华文楷体" pitchFamily="2" charset="-122"/>
                <a:sym typeface="华文楷体" pitchFamily="2" charset="-122"/>
              </a:rPr>
              <a:t>可配置的软件系统（</a:t>
            </a:r>
            <a:r>
              <a:rPr lang="en-US" sz="1800" b="1">
                <a:solidFill>
                  <a:schemeClr val="accent1"/>
                </a:solidFill>
                <a:latin typeface="华文楷体" pitchFamily="2" charset="-122"/>
                <a:ea typeface="华文楷体" pitchFamily="2" charset="-122"/>
                <a:sym typeface="华文楷体" pitchFamily="2" charset="-122"/>
              </a:rPr>
              <a:t>GAMP</a:t>
            </a:r>
            <a:r>
              <a:rPr lang="zh-CN" altLang="en-US" sz="1800" b="1">
                <a:solidFill>
                  <a:schemeClr val="accent1"/>
                </a:solidFill>
                <a:latin typeface="华文楷体" pitchFamily="2" charset="-122"/>
                <a:ea typeface="华文楷体" pitchFamily="2" charset="-122"/>
                <a:sym typeface="华文楷体" pitchFamily="2" charset="-122"/>
              </a:rPr>
              <a:t>类别</a:t>
            </a:r>
            <a:r>
              <a:rPr lang="en-US" sz="1800" b="1">
                <a:solidFill>
                  <a:schemeClr val="accent1"/>
                </a:solidFill>
                <a:latin typeface="华文楷体" pitchFamily="2" charset="-122"/>
                <a:ea typeface="华文楷体" pitchFamily="2" charset="-122"/>
                <a:sym typeface="华文楷体" pitchFamily="2" charset="-122"/>
              </a:rPr>
              <a:t>4</a:t>
            </a:r>
            <a:r>
              <a:rPr lang="zh-CN" altLang="en-US" sz="1800" b="1">
                <a:solidFill>
                  <a:schemeClr val="accent1"/>
                </a:solidFill>
                <a:latin typeface="华文楷体" pitchFamily="2" charset="-122"/>
                <a:ea typeface="华文楷体" pitchFamily="2" charset="-122"/>
                <a:sym typeface="华文楷体" pitchFamily="2" charset="-122"/>
              </a:rPr>
              <a:t>）：分为两类：</a:t>
            </a:r>
            <a:endParaRPr lang="en-US" sz="1800" b="1">
              <a:solidFill>
                <a:schemeClr val="accent1"/>
              </a:solidFill>
              <a:latin typeface="华文楷体" pitchFamily="2" charset="-122"/>
              <a:ea typeface="华文楷体" pitchFamily="2" charset="-122"/>
              <a:sym typeface="华文楷体" pitchFamily="2" charset="-122"/>
            </a:endParaRPr>
          </a:p>
          <a:p>
            <a:pPr lvl="1" algn="just">
              <a:buFont typeface="Calibri" pitchFamily="34" charset="0"/>
              <a:buAutoNum type="arabicParenR"/>
            </a:pPr>
            <a:r>
              <a:rPr lang="zh-CN" altLang="en-US" sz="1600">
                <a:latin typeface="华文楷体" pitchFamily="2" charset="-122"/>
                <a:ea typeface="华文楷体" pitchFamily="2" charset="-122"/>
                <a:sym typeface="华文楷体" pitchFamily="2" charset="-122"/>
              </a:rPr>
              <a:t>可配置软件的用户组和用户权限设置。</a:t>
            </a:r>
          </a:p>
          <a:p>
            <a:pPr lvl="1" algn="just">
              <a:buFont typeface="Calibri" pitchFamily="34" charset="0"/>
              <a:buAutoNum type="arabicParenR"/>
            </a:pPr>
            <a:r>
              <a:rPr lang="zh-CN" altLang="en-US" sz="1600">
                <a:latin typeface="华文楷体" pitchFamily="2" charset="-122"/>
                <a:ea typeface="华文楷体" pitchFamily="2" charset="-122"/>
                <a:sym typeface="华文楷体" pitchFamily="2" charset="-122"/>
              </a:rPr>
              <a:t>可配置用户权限。用户组按默认，如三洋超低温冰箱的温度监控软件。</a:t>
            </a:r>
            <a:endParaRPr lang="en-US" sz="1600">
              <a:latin typeface="华文楷体" pitchFamily="2" charset="-122"/>
              <a:ea typeface="华文楷体" pitchFamily="2" charset="-122"/>
              <a:sym typeface="华文楷体" pitchFamily="2" charset="-122"/>
            </a:endParaRPr>
          </a:p>
          <a:p>
            <a:pPr>
              <a:buFont typeface="Arial" pitchFamily="34" charset="0"/>
              <a:buNone/>
            </a:pPr>
            <a:r>
              <a:rPr lang="en-US" sz="1800" b="1">
                <a:solidFill>
                  <a:schemeClr val="accent1"/>
                </a:solidFill>
                <a:latin typeface="华文楷体" pitchFamily="2" charset="-122"/>
                <a:ea typeface="华文楷体" pitchFamily="2" charset="-122"/>
                <a:sym typeface="华文楷体" pitchFamily="2" charset="-122"/>
              </a:rPr>
              <a:t> 2.2</a:t>
            </a:r>
            <a:r>
              <a:rPr lang="zh-CN" altLang="en-US" sz="1800" b="1">
                <a:solidFill>
                  <a:schemeClr val="accent1"/>
                </a:solidFill>
                <a:latin typeface="华文楷体" pitchFamily="2" charset="-122"/>
                <a:ea typeface="华文楷体" pitchFamily="2" charset="-122"/>
                <a:sym typeface="华文楷体" pitchFamily="2" charset="-122"/>
              </a:rPr>
              <a:t>不可配置的软件系统（</a:t>
            </a:r>
            <a:r>
              <a:rPr lang="en-US" sz="1800" b="1">
                <a:solidFill>
                  <a:schemeClr val="accent1"/>
                </a:solidFill>
                <a:latin typeface="华文楷体" pitchFamily="2" charset="-122"/>
                <a:ea typeface="华文楷体" pitchFamily="2" charset="-122"/>
                <a:sym typeface="华文楷体" pitchFamily="2" charset="-122"/>
              </a:rPr>
              <a:t>GAMP</a:t>
            </a:r>
            <a:r>
              <a:rPr lang="zh-CN" altLang="en-US" sz="1800" b="1">
                <a:solidFill>
                  <a:schemeClr val="accent1"/>
                </a:solidFill>
                <a:latin typeface="华文楷体" pitchFamily="2" charset="-122"/>
                <a:ea typeface="华文楷体" pitchFamily="2" charset="-122"/>
                <a:sym typeface="华文楷体" pitchFamily="2" charset="-122"/>
              </a:rPr>
              <a:t>类别</a:t>
            </a:r>
            <a:r>
              <a:rPr lang="en-US" sz="1800" b="1">
                <a:solidFill>
                  <a:schemeClr val="accent1"/>
                </a:solidFill>
                <a:latin typeface="华文楷体" pitchFamily="2" charset="-122"/>
                <a:ea typeface="华文楷体" pitchFamily="2" charset="-122"/>
                <a:sym typeface="华文楷体" pitchFamily="2" charset="-122"/>
              </a:rPr>
              <a:t>3</a:t>
            </a:r>
            <a:r>
              <a:rPr lang="zh-CN" altLang="en-US" sz="1800" b="1">
                <a:solidFill>
                  <a:schemeClr val="accent1"/>
                </a:solidFill>
                <a:latin typeface="华文楷体" pitchFamily="2" charset="-122"/>
                <a:ea typeface="华文楷体" pitchFamily="2" charset="-122"/>
                <a:sym typeface="华文楷体" pitchFamily="2" charset="-122"/>
              </a:rPr>
              <a:t>）：</a:t>
            </a:r>
            <a:endParaRPr lang="en-US" sz="1800" b="1">
              <a:solidFill>
                <a:schemeClr val="accent1"/>
              </a:solidFill>
              <a:latin typeface="华文楷体" pitchFamily="2" charset="-122"/>
              <a:ea typeface="华文楷体" pitchFamily="2" charset="-122"/>
              <a:sym typeface="华文楷体" pitchFamily="2" charset="-122"/>
            </a:endParaRPr>
          </a:p>
          <a:p>
            <a:pPr algn="just">
              <a:buFont typeface="Arial" pitchFamily="34" charset="0"/>
              <a:buNone/>
            </a:pPr>
            <a:r>
              <a:rPr lang="en-US" sz="1600" b="1">
                <a:solidFill>
                  <a:schemeClr val="accent1"/>
                </a:solidFill>
                <a:latin typeface="华文楷体" pitchFamily="2" charset="-122"/>
                <a:ea typeface="华文楷体" pitchFamily="2" charset="-122"/>
                <a:sym typeface="华文楷体" pitchFamily="2" charset="-122"/>
              </a:rPr>
              <a:t>       </a:t>
            </a:r>
            <a:r>
              <a:rPr lang="zh-CN" altLang="en-US" sz="1600" b="1">
                <a:solidFill>
                  <a:schemeClr val="accent1"/>
                </a:solidFill>
                <a:latin typeface="华文楷体" pitchFamily="2" charset="-122"/>
                <a:ea typeface="华文楷体" pitchFamily="2" charset="-122"/>
                <a:sym typeface="华文楷体" pitchFamily="2" charset="-122"/>
              </a:rPr>
              <a:t>不需要经过配置就能够支持业务流程或使用默认配置的产品。用户组和用户权限都默认。如仓库冷库系统、灭菌柜系统。</a:t>
            </a:r>
            <a:endParaRPr lang="en-US" sz="1600" b="1">
              <a:solidFill>
                <a:schemeClr val="accent1"/>
              </a:solidFill>
              <a:latin typeface="华文楷体" pitchFamily="2" charset="-122"/>
              <a:ea typeface="华文楷体" pitchFamily="2" charset="-122"/>
              <a:sym typeface="华文楷体" pitchFamily="2" charset="-122"/>
            </a:endParaRPr>
          </a:p>
          <a:p>
            <a:pPr>
              <a:buFont typeface="Arial" pitchFamily="34" charset="0"/>
              <a:buNone/>
            </a:pPr>
            <a:r>
              <a:rPr lang="en-US" sz="1800" b="1">
                <a:solidFill>
                  <a:schemeClr val="accent1"/>
                </a:solidFill>
                <a:latin typeface="华文楷体" pitchFamily="2" charset="-122"/>
                <a:ea typeface="华文楷体" pitchFamily="2" charset="-122"/>
                <a:sym typeface="华文楷体" pitchFamily="2" charset="-122"/>
              </a:rPr>
              <a:t> 2.3</a:t>
            </a:r>
            <a:r>
              <a:rPr lang="zh-CN" altLang="en-US" sz="1800" b="1">
                <a:solidFill>
                  <a:schemeClr val="accent1"/>
                </a:solidFill>
                <a:latin typeface="华文楷体" pitchFamily="2" charset="-122"/>
                <a:ea typeface="华文楷体" pitchFamily="2" charset="-122"/>
                <a:sym typeface="华文楷体" pitchFamily="2" charset="-122"/>
              </a:rPr>
              <a:t>不支持用户权限分级的软件系统</a:t>
            </a:r>
            <a:endParaRPr lang="en-US" sz="1800" b="1">
              <a:solidFill>
                <a:schemeClr val="accent1"/>
              </a:solidFill>
              <a:latin typeface="华文楷体" pitchFamily="2" charset="-122"/>
              <a:ea typeface="华文楷体" pitchFamily="2" charset="-122"/>
              <a:sym typeface="华文楷体" pitchFamily="2" charset="-122"/>
            </a:endParaRPr>
          </a:p>
          <a:p>
            <a:pPr algn="just">
              <a:buFont typeface="Arial" pitchFamily="34" charset="0"/>
              <a:buNone/>
            </a:pPr>
            <a:r>
              <a:rPr lang="zh-CN" altLang="en-US" sz="1600" b="1">
                <a:solidFill>
                  <a:schemeClr val="accent1"/>
                </a:solidFill>
                <a:latin typeface="华文楷体" pitchFamily="2" charset="-122"/>
                <a:ea typeface="华文楷体" pitchFamily="2" charset="-122"/>
                <a:sym typeface="华文楷体" pitchFamily="2" charset="-122"/>
              </a:rPr>
              <a:t>       建议对该类系统进行升级。若短时间内无法升级的，应有使用部门的主管授权某个特定群体具有使用权限（即使用共用用户），并需要对其进行人工管控，最基本要求如下：</a:t>
            </a:r>
            <a:endParaRPr lang="en-US" sz="1600" b="1">
              <a:solidFill>
                <a:schemeClr val="accent1"/>
              </a:solidFill>
              <a:latin typeface="华文楷体" pitchFamily="2" charset="-122"/>
              <a:ea typeface="华文楷体" pitchFamily="2" charset="-122"/>
              <a:sym typeface="华文楷体" pitchFamily="2" charset="-122"/>
            </a:endParaRPr>
          </a:p>
          <a:p>
            <a:pPr lvl="1" algn="just">
              <a:buFont typeface="Calibri" pitchFamily="34" charset="0"/>
              <a:buChar char="•"/>
            </a:pPr>
            <a:r>
              <a:rPr lang="en-US" sz="1600">
                <a:latin typeface="华文楷体" pitchFamily="2" charset="-122"/>
                <a:ea typeface="华文楷体" pitchFamily="2" charset="-122"/>
                <a:sym typeface="华文楷体" pitchFamily="2" charset="-122"/>
              </a:rPr>
              <a:t>Windows</a:t>
            </a:r>
            <a:r>
              <a:rPr lang="zh-CN" altLang="en-US" sz="1600">
                <a:latin typeface="华文楷体" pitchFamily="2" charset="-122"/>
                <a:ea typeface="华文楷体" pitchFamily="2" charset="-122"/>
                <a:sym typeface="华文楷体" pitchFamily="2" charset="-122"/>
              </a:rPr>
              <a:t>用户不能更改日期时间和时区。</a:t>
            </a:r>
            <a:endParaRPr lang="en-US" sz="1600">
              <a:latin typeface="华文楷体" pitchFamily="2" charset="-122"/>
              <a:ea typeface="华文楷体" pitchFamily="2" charset="-122"/>
              <a:sym typeface="华文楷体" pitchFamily="2" charset="-122"/>
            </a:endParaRPr>
          </a:p>
          <a:p>
            <a:pPr lvl="1" algn="just">
              <a:buFont typeface="Calibri" pitchFamily="34" charset="0"/>
              <a:buChar char="•"/>
            </a:pPr>
            <a:r>
              <a:rPr lang="zh-CN" altLang="en-US" sz="1600">
                <a:latin typeface="华文楷体" pitchFamily="2" charset="-122"/>
                <a:ea typeface="华文楷体" pitchFamily="2" charset="-122"/>
                <a:sym typeface="华文楷体" pitchFamily="2" charset="-122"/>
              </a:rPr>
              <a:t>对原始数据进行保护（如防删除设置）。</a:t>
            </a:r>
            <a:endParaRPr lang="en-US" sz="1600">
              <a:latin typeface="华文楷体" pitchFamily="2" charset="-122"/>
              <a:ea typeface="华文楷体" pitchFamily="2" charset="-122"/>
              <a:sym typeface="华文楷体" pitchFamily="2" charset="-122"/>
            </a:endParaRPr>
          </a:p>
          <a:p>
            <a:pPr lvl="1" algn="just">
              <a:buFont typeface="Calibri" pitchFamily="34" charset="0"/>
              <a:buChar char="•"/>
            </a:pPr>
            <a:r>
              <a:rPr lang="zh-CN" altLang="en-US" sz="1600">
                <a:latin typeface="华文楷体" pitchFamily="2" charset="-122"/>
                <a:ea typeface="华文楷体" pitchFamily="2" charset="-122"/>
                <a:sym typeface="华文楷体" pitchFamily="2" charset="-122"/>
              </a:rPr>
              <a:t>对原始数据进行定期备份。</a:t>
            </a:r>
          </a:p>
          <a:p>
            <a:pPr lvl="2">
              <a:buFont typeface="Arial" pitchFamily="34" charset="0"/>
              <a:buNone/>
            </a:pPr>
            <a:endParaRPr lang="zh-CN" altLang="en-US" sz="1600" b="1">
              <a:solidFill>
                <a:schemeClr val="accent1"/>
              </a:solidFill>
              <a:latin typeface="华文楷体" pitchFamily="2" charset="-122"/>
              <a:ea typeface="华文楷体" pitchFamily="2" charset="-122"/>
              <a:sym typeface="华文楷体"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bwMode="auto">
          <a:xfrm>
            <a:off x="468313" y="476250"/>
            <a:ext cx="8229600" cy="6492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nchor="ctr"/>
          <a:lstStyle/>
          <a:p>
            <a:r>
              <a:rPr lang="zh-CN" altLang="en-US" sz="2800" b="1">
                <a:solidFill>
                  <a:srgbClr val="FF0000"/>
                </a:solidFill>
              </a:rPr>
              <a:t/>
            </a:r>
            <a:br>
              <a:rPr lang="zh-CN" altLang="en-US" sz="2800" b="1">
                <a:solidFill>
                  <a:srgbClr val="FF0000"/>
                </a:solidFill>
              </a:rPr>
            </a:br>
            <a:r>
              <a:rPr lang="zh-CN" altLang="en-US" sz="2800" b="1">
                <a:solidFill>
                  <a:srgbClr val="FF0000"/>
                </a:solidFill>
              </a:rPr>
              <a:t>某制药企业实施数据完整性管控细节</a:t>
            </a:r>
          </a:p>
        </p:txBody>
      </p:sp>
      <p:sp>
        <p:nvSpPr>
          <p:cNvPr id="37891" name="Rectangle 3"/>
          <p:cNvSpPr>
            <a:spLocks noGrp="1" noChangeArrowheads="1"/>
          </p:cNvSpPr>
          <p:nvPr>
            <p:ph idx="4294967295"/>
          </p:nvPr>
        </p:nvSpPr>
        <p:spPr bwMode="auto">
          <a:xfrm>
            <a:off x="684213" y="1268413"/>
            <a:ext cx="7848600" cy="558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lstStyle/>
          <a:p>
            <a:pPr>
              <a:buFont typeface="Arial" pitchFamily="34" charset="0"/>
              <a:buNone/>
            </a:pPr>
            <a:r>
              <a:rPr lang="en-US" sz="2800" b="1">
                <a:solidFill>
                  <a:srgbClr val="FF0000"/>
                </a:solidFill>
                <a:latin typeface="Times New Roman" pitchFamily="18" charset="0"/>
                <a:ea typeface="华文楷体" pitchFamily="2" charset="-122"/>
                <a:sym typeface="Times New Roman" pitchFamily="18" charset="0"/>
              </a:rPr>
              <a:t>1.</a:t>
            </a:r>
            <a:r>
              <a:rPr lang="zh-CN" altLang="en-US" sz="2800" b="1">
                <a:solidFill>
                  <a:srgbClr val="FF0000"/>
                </a:solidFill>
                <a:latin typeface="Times New Roman" pitchFamily="18" charset="0"/>
                <a:ea typeface="华文楷体" pitchFamily="2" charset="-122"/>
                <a:sym typeface="Times New Roman" pitchFamily="18" charset="0"/>
              </a:rPr>
              <a:t>密码要求</a:t>
            </a:r>
            <a:endParaRPr lang="en-US" sz="2800" b="1">
              <a:solidFill>
                <a:srgbClr val="FF0000"/>
              </a:solidFill>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密码长度最小值（要求</a:t>
            </a:r>
            <a:r>
              <a:rPr lang="en-US" sz="2000" b="1">
                <a:latin typeface="Times New Roman" pitchFamily="18" charset="0"/>
                <a:ea typeface="华文楷体" pitchFamily="2" charset="-122"/>
                <a:sym typeface="Times New Roman" pitchFamily="18" charset="0"/>
              </a:rPr>
              <a:t>6</a:t>
            </a:r>
            <a:r>
              <a:rPr lang="zh-CN" altLang="en-US" sz="2000" b="1">
                <a:latin typeface="Times New Roman" pitchFamily="18" charset="0"/>
                <a:ea typeface="华文楷体" pitchFamily="2" charset="-122"/>
                <a:sym typeface="Times New Roman" pitchFamily="18" charset="0"/>
              </a:rPr>
              <a:t>位数）</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密码最长使用期限（建议</a:t>
            </a:r>
            <a:r>
              <a:rPr lang="en-US" sz="2000" b="1">
                <a:latin typeface="Times New Roman" pitchFamily="18" charset="0"/>
                <a:ea typeface="华文楷体" pitchFamily="2" charset="-122"/>
                <a:sym typeface="Times New Roman" pitchFamily="18" charset="0"/>
              </a:rPr>
              <a:t>6</a:t>
            </a:r>
            <a:r>
              <a:rPr lang="zh-CN" altLang="en-US" sz="2000" b="1">
                <a:latin typeface="Times New Roman" pitchFamily="18" charset="0"/>
                <a:ea typeface="华文楷体" pitchFamily="2" charset="-122"/>
                <a:sym typeface="Times New Roman" pitchFamily="18" charset="0"/>
              </a:rPr>
              <a:t>个月）</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密码必须符合复杂性要求（包含数字，大小写字母）</a:t>
            </a:r>
            <a:endParaRPr lang="en-US" sz="2000" b="1">
              <a:latin typeface="Times New Roman" pitchFamily="18" charset="0"/>
              <a:ea typeface="华文楷体" pitchFamily="2" charset="-122"/>
              <a:sym typeface="Times New Roman" pitchFamily="18" charset="0"/>
            </a:endParaRPr>
          </a:p>
          <a:p>
            <a:pPr>
              <a:buFont typeface="Arial" pitchFamily="34" charset="0"/>
              <a:buNone/>
            </a:pPr>
            <a:r>
              <a:rPr lang="en-US" sz="2800" b="1">
                <a:solidFill>
                  <a:srgbClr val="FF0000"/>
                </a:solidFill>
                <a:latin typeface="Times New Roman" pitchFamily="18" charset="0"/>
                <a:ea typeface="华文楷体" pitchFamily="2" charset="-122"/>
                <a:sym typeface="Times New Roman" pitchFamily="18" charset="0"/>
              </a:rPr>
              <a:t>2.</a:t>
            </a:r>
            <a:r>
              <a:rPr lang="zh-CN" altLang="en-US" sz="2800" b="1">
                <a:solidFill>
                  <a:srgbClr val="FF0000"/>
                </a:solidFill>
                <a:latin typeface="Times New Roman" pitchFamily="18" charset="0"/>
                <a:ea typeface="华文楷体" pitchFamily="2" charset="-122"/>
                <a:sym typeface="Times New Roman" pitchFamily="18" charset="0"/>
              </a:rPr>
              <a:t>账户要求</a:t>
            </a:r>
            <a:endParaRPr lang="en-US" sz="2800" b="1">
              <a:solidFill>
                <a:srgbClr val="FF0000"/>
              </a:solidFill>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一人一帐户</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每月检查已经不用的账户、测试账户并注销</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每个帐号均需归纳为已设定好的用户组</a:t>
            </a:r>
            <a:endParaRPr lang="en-US" sz="2000" b="1">
              <a:latin typeface="Times New Roman" pitchFamily="18" charset="0"/>
              <a:ea typeface="华文楷体" pitchFamily="2" charset="-122"/>
              <a:sym typeface="Times New Roman" pitchFamily="18" charset="0"/>
            </a:endParaRPr>
          </a:p>
          <a:p>
            <a:pPr>
              <a:buFont typeface="Arial" pitchFamily="34" charset="0"/>
              <a:buNone/>
            </a:pPr>
            <a:r>
              <a:rPr lang="en-US" sz="2800" b="1">
                <a:solidFill>
                  <a:srgbClr val="FF0000"/>
                </a:solidFill>
                <a:latin typeface="Times New Roman" pitchFamily="18" charset="0"/>
                <a:ea typeface="华文楷体" pitchFamily="2" charset="-122"/>
                <a:sym typeface="Times New Roman" pitchFamily="18" charset="0"/>
              </a:rPr>
              <a:t>3.</a:t>
            </a:r>
            <a:r>
              <a:rPr lang="zh-CN" altLang="en-US" sz="2800" b="1">
                <a:solidFill>
                  <a:srgbClr val="FF0000"/>
                </a:solidFill>
                <a:latin typeface="Times New Roman" pitchFamily="18" charset="0"/>
                <a:ea typeface="华文楷体" pitchFamily="2" charset="-122"/>
                <a:sym typeface="Times New Roman" pitchFamily="18" charset="0"/>
              </a:rPr>
              <a:t>用户组要求</a:t>
            </a:r>
            <a:endParaRPr lang="en-US" sz="2800" b="1">
              <a:solidFill>
                <a:srgbClr val="FF0000"/>
              </a:solidFill>
              <a:latin typeface="Times New Roman" pitchFamily="18" charset="0"/>
              <a:ea typeface="华文楷体" pitchFamily="2" charset="-122"/>
              <a:sym typeface="Times New Roman" pitchFamily="18" charset="0"/>
            </a:endParaRPr>
          </a:p>
          <a:p>
            <a:pPr>
              <a:buFont typeface="Calibri" pitchFamily="34" charset="0"/>
              <a:buChar char="•"/>
            </a:pPr>
            <a:r>
              <a:rPr lang="en-US" sz="2000" b="1">
                <a:latin typeface="Times New Roman" pitchFamily="18" charset="0"/>
                <a:ea typeface="华文楷体" pitchFamily="2" charset="-122"/>
                <a:sym typeface="Times New Roman" pitchFamily="18" charset="0"/>
              </a:rPr>
              <a:t>IT</a:t>
            </a:r>
            <a:r>
              <a:rPr lang="zh-CN" altLang="en-US" sz="2000" b="1">
                <a:latin typeface="Times New Roman" pitchFamily="18" charset="0"/>
                <a:ea typeface="华文楷体" pitchFamily="2" charset="-122"/>
                <a:sym typeface="Times New Roman" pitchFamily="18" charset="0"/>
              </a:rPr>
              <a:t>人员用户组</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访问组（内审、复核、抽查）</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部门主管</a:t>
            </a:r>
            <a:r>
              <a:rPr lang="en-US" sz="2000" b="1">
                <a:latin typeface="Times New Roman" pitchFamily="18" charset="0"/>
                <a:ea typeface="华文楷体" pitchFamily="2" charset="-122"/>
                <a:sym typeface="Times New Roman" pitchFamily="18" charset="0"/>
              </a:rPr>
              <a:t>/</a:t>
            </a:r>
            <a:r>
              <a:rPr lang="zh-CN" altLang="en-US" sz="2000" b="1">
                <a:latin typeface="Times New Roman" pitchFamily="18" charset="0"/>
                <a:ea typeface="华文楷体" pitchFamily="2" charset="-122"/>
                <a:sym typeface="Times New Roman" pitchFamily="18" charset="0"/>
              </a:rPr>
              <a:t>经理用户组</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班组长用户组</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操作人员用户组</a:t>
            </a:r>
            <a:endParaRPr lang="en-US" sz="2000" b="1">
              <a:latin typeface="Times New Roman" pitchFamily="18" charset="0"/>
              <a:ea typeface="华文楷体" pitchFamily="2" charset="-122"/>
              <a:sym typeface="Times New Roman" pitchFamily="18" charset="0"/>
            </a:endParaRPr>
          </a:p>
          <a:p>
            <a:pPr>
              <a:buFont typeface="Arial" pitchFamily="34" charset="0"/>
              <a:buNone/>
            </a:pPr>
            <a:endParaRPr lang="zh-CN" altLang="en-US" sz="2000" b="1">
              <a:latin typeface="Times New Roman" pitchFamily="18" charset="0"/>
              <a:ea typeface="华文楷体" pitchFamily="2" charset="-122"/>
              <a:sym typeface="Times New Roman" pitchFamily="18"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3"/>
          <p:cNvSpPr>
            <a:spLocks noGrp="1" noChangeArrowheads="1"/>
          </p:cNvSpPr>
          <p:nvPr>
            <p:ph idx="4294967295"/>
          </p:nvPr>
        </p:nvSpPr>
        <p:spPr bwMode="auto">
          <a:xfrm>
            <a:off x="611188" y="836613"/>
            <a:ext cx="7848600" cy="60213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lstStyle/>
          <a:p>
            <a:pPr>
              <a:buFont typeface="Arial" pitchFamily="34" charset="0"/>
              <a:buNone/>
            </a:pPr>
            <a:r>
              <a:rPr lang="en-US" sz="2800" b="1">
                <a:solidFill>
                  <a:srgbClr val="FF0000"/>
                </a:solidFill>
                <a:latin typeface="Times New Roman" pitchFamily="18" charset="0"/>
                <a:ea typeface="华文楷体" pitchFamily="2" charset="-122"/>
                <a:sym typeface="Times New Roman" pitchFamily="18" charset="0"/>
              </a:rPr>
              <a:t>4.</a:t>
            </a:r>
            <a:r>
              <a:rPr lang="zh-CN" altLang="en-US" sz="2800" b="1">
                <a:solidFill>
                  <a:srgbClr val="FF0000"/>
                </a:solidFill>
                <a:latin typeface="Times New Roman" pitchFamily="18" charset="0"/>
                <a:ea typeface="华文楷体" pitchFamily="2" charset="-122"/>
                <a:sym typeface="Times New Roman" pitchFamily="18" charset="0"/>
              </a:rPr>
              <a:t>登陆要求</a:t>
            </a:r>
            <a:endParaRPr lang="en-US" sz="2800" b="1">
              <a:solidFill>
                <a:srgbClr val="FF0000"/>
              </a:solidFill>
              <a:latin typeface="Times New Roman" pitchFamily="18" charset="0"/>
              <a:ea typeface="华文楷体" pitchFamily="2" charset="-122"/>
              <a:sym typeface="Times New Roman" pitchFamily="18" charset="0"/>
            </a:endParaRPr>
          </a:p>
          <a:p>
            <a:pPr>
              <a:buFont typeface="Arial" pitchFamily="34" charset="0"/>
              <a:buNone/>
            </a:pPr>
            <a:r>
              <a:rPr lang="en-US" sz="2000" b="1">
                <a:latin typeface="Times New Roman" pitchFamily="18" charset="0"/>
                <a:ea typeface="华文楷体" pitchFamily="2" charset="-122"/>
                <a:sym typeface="Times New Roman" pitchFamily="18" charset="0"/>
              </a:rPr>
              <a:t>①</a:t>
            </a:r>
            <a:r>
              <a:rPr lang="zh-CN" altLang="en-US" sz="2000" b="1">
                <a:latin typeface="Times New Roman" pitchFamily="18" charset="0"/>
                <a:ea typeface="华文楷体" pitchFamily="2" charset="-122"/>
                <a:sym typeface="Times New Roman" pitchFamily="18" charset="0"/>
              </a:rPr>
              <a:t>锁定要求</a:t>
            </a:r>
            <a:r>
              <a:rPr lang="en-US" sz="2000" b="1">
                <a:latin typeface="Times New Roman" pitchFamily="18" charset="0"/>
                <a:ea typeface="华文楷体" pitchFamily="2" charset="-122"/>
                <a:sym typeface="Times New Roman" pitchFamily="18" charset="0"/>
              </a:rPr>
              <a:t> </a:t>
            </a:r>
          </a:p>
          <a:p>
            <a:pPr>
              <a:buFont typeface="Calibri" pitchFamily="34" charset="0"/>
              <a:buChar char="•"/>
            </a:pPr>
            <a:r>
              <a:rPr lang="zh-CN" altLang="en-US" sz="2000" b="1">
                <a:latin typeface="Times New Roman" pitchFamily="18" charset="0"/>
                <a:ea typeface="华文楷体" pitchFamily="2" charset="-122"/>
                <a:sym typeface="Times New Roman" pitchFamily="18" charset="0"/>
              </a:rPr>
              <a:t>帐户锁定阈值（输入错误密码</a:t>
            </a:r>
            <a:r>
              <a:rPr lang="en-US" sz="2000" b="1">
                <a:latin typeface="Times New Roman" pitchFamily="18" charset="0"/>
                <a:ea typeface="华文楷体" pitchFamily="2" charset="-122"/>
                <a:sym typeface="Times New Roman" pitchFamily="18" charset="0"/>
              </a:rPr>
              <a:t>5</a:t>
            </a:r>
            <a:r>
              <a:rPr lang="zh-CN" altLang="en-US" sz="2000" b="1">
                <a:latin typeface="Times New Roman" pitchFamily="18" charset="0"/>
                <a:ea typeface="华文楷体" pitchFamily="2" charset="-122"/>
                <a:sym typeface="Times New Roman" pitchFamily="18" charset="0"/>
              </a:rPr>
              <a:t>次锁定）</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帐户锁定时间（输入错误达到次数后锁定</a:t>
            </a:r>
            <a:r>
              <a:rPr lang="en-US" sz="2000" b="1">
                <a:latin typeface="Times New Roman" pitchFamily="18" charset="0"/>
                <a:ea typeface="华文楷体" pitchFamily="2" charset="-122"/>
                <a:sym typeface="Times New Roman" pitchFamily="18" charset="0"/>
              </a:rPr>
              <a:t>9999</a:t>
            </a:r>
            <a:r>
              <a:rPr lang="zh-CN" altLang="en-US" sz="2000" b="1">
                <a:latin typeface="Times New Roman" pitchFamily="18" charset="0"/>
                <a:ea typeface="华文楷体" pitchFamily="2" charset="-122"/>
                <a:sym typeface="Times New Roman" pitchFamily="18" charset="0"/>
              </a:rPr>
              <a:t>分钟）</a:t>
            </a:r>
            <a:endParaRPr lang="en-US" sz="2000" b="1">
              <a:latin typeface="Times New Roman" pitchFamily="18" charset="0"/>
              <a:ea typeface="华文楷体" pitchFamily="2" charset="-122"/>
              <a:sym typeface="Times New Roman" pitchFamily="18" charset="0"/>
            </a:endParaRPr>
          </a:p>
          <a:p>
            <a:pPr>
              <a:buFont typeface="Arial" pitchFamily="34" charset="0"/>
              <a:buNone/>
            </a:pPr>
            <a:r>
              <a:rPr lang="en-US" sz="2000" b="1">
                <a:latin typeface="Times New Roman" pitchFamily="18" charset="0"/>
                <a:ea typeface="华文楷体" pitchFamily="2" charset="-122"/>
                <a:sym typeface="Times New Roman" pitchFamily="18" charset="0"/>
              </a:rPr>
              <a:t>②</a:t>
            </a:r>
            <a:r>
              <a:rPr lang="zh-CN" altLang="en-US" sz="2000" b="1">
                <a:latin typeface="Times New Roman" pitchFamily="18" charset="0"/>
                <a:ea typeface="华文楷体" pitchFamily="2" charset="-122"/>
                <a:sym typeface="Times New Roman" pitchFamily="18" charset="0"/>
              </a:rPr>
              <a:t>提示用户</a:t>
            </a:r>
            <a:r>
              <a:rPr lang="en-US" sz="2000" b="1">
                <a:latin typeface="Times New Roman" pitchFamily="18" charset="0"/>
                <a:ea typeface="华文楷体" pitchFamily="2" charset="-122"/>
                <a:sym typeface="Times New Roman" pitchFamily="18" charset="0"/>
              </a:rPr>
              <a:t> </a:t>
            </a:r>
            <a:r>
              <a:rPr lang="zh-CN" altLang="en-US" sz="2000" b="1">
                <a:latin typeface="Times New Roman" pitchFamily="18" charset="0"/>
                <a:ea typeface="华文楷体" pitchFamily="2" charset="-122"/>
                <a:sym typeface="Times New Roman" pitchFamily="18" charset="0"/>
              </a:rPr>
              <a:t>在密码过期之前更改密码（</a:t>
            </a:r>
            <a:r>
              <a:rPr lang="en-US" sz="2000" b="1">
                <a:latin typeface="Times New Roman" pitchFamily="18" charset="0"/>
                <a:ea typeface="华文楷体" pitchFamily="2" charset="-122"/>
                <a:sym typeface="Times New Roman" pitchFamily="18" charset="0"/>
              </a:rPr>
              <a:t>5</a:t>
            </a:r>
            <a:r>
              <a:rPr lang="zh-CN" altLang="en-US" sz="2000" b="1">
                <a:latin typeface="Times New Roman" pitchFamily="18" charset="0"/>
                <a:ea typeface="华文楷体" pitchFamily="2" charset="-122"/>
                <a:sym typeface="Times New Roman" pitchFamily="18" charset="0"/>
              </a:rPr>
              <a:t>天）</a:t>
            </a:r>
            <a:endParaRPr lang="en-US" sz="2000" b="1">
              <a:latin typeface="Times New Roman" pitchFamily="18" charset="0"/>
              <a:ea typeface="华文楷体" pitchFamily="2" charset="-122"/>
              <a:sym typeface="Times New Roman" pitchFamily="18" charset="0"/>
            </a:endParaRPr>
          </a:p>
          <a:p>
            <a:pPr>
              <a:buFont typeface="Arial" pitchFamily="34" charset="0"/>
              <a:buNone/>
            </a:pPr>
            <a:r>
              <a:rPr lang="en-US" sz="2000" b="1">
                <a:latin typeface="Times New Roman" pitchFamily="18" charset="0"/>
                <a:ea typeface="华文楷体" pitchFamily="2" charset="-122"/>
                <a:sym typeface="Times New Roman" pitchFamily="18" charset="0"/>
              </a:rPr>
              <a:t>③</a:t>
            </a:r>
            <a:r>
              <a:rPr lang="zh-CN" altLang="en-US" sz="2000" b="1">
                <a:latin typeface="Times New Roman" pitchFamily="18" charset="0"/>
                <a:ea typeface="华文楷体" pitchFamily="2" charset="-122"/>
                <a:sym typeface="Times New Roman" pitchFamily="18" charset="0"/>
              </a:rPr>
              <a:t>开启：不显示最后的用户名</a:t>
            </a:r>
            <a:endParaRPr lang="en-US" sz="2000" b="1">
              <a:latin typeface="Times New Roman" pitchFamily="18" charset="0"/>
              <a:ea typeface="华文楷体" pitchFamily="2" charset="-122"/>
              <a:sym typeface="Times New Roman" pitchFamily="18" charset="0"/>
            </a:endParaRPr>
          </a:p>
          <a:p>
            <a:pPr>
              <a:buFont typeface="Arial" pitchFamily="34" charset="0"/>
              <a:buNone/>
            </a:pPr>
            <a:r>
              <a:rPr lang="en-US" sz="2000" b="1">
                <a:latin typeface="Times New Roman" pitchFamily="18" charset="0"/>
                <a:ea typeface="华文楷体" pitchFamily="2" charset="-122"/>
                <a:sym typeface="Times New Roman" pitchFamily="18" charset="0"/>
              </a:rPr>
              <a:t>④</a:t>
            </a:r>
            <a:r>
              <a:rPr lang="zh-CN" altLang="en-US" sz="2000" b="1">
                <a:latin typeface="Times New Roman" pitchFamily="18" charset="0"/>
                <a:ea typeface="华文楷体" pitchFamily="2" charset="-122"/>
                <a:sym typeface="Times New Roman" pitchFamily="18" charset="0"/>
              </a:rPr>
              <a:t>设置：计算机非活动限制（例如屏幕保护，建议</a:t>
            </a:r>
            <a:r>
              <a:rPr lang="en-US" sz="2000" b="1">
                <a:latin typeface="Times New Roman" pitchFamily="18" charset="0"/>
                <a:ea typeface="华文楷体" pitchFamily="2" charset="-122"/>
                <a:sym typeface="Times New Roman" pitchFamily="18" charset="0"/>
              </a:rPr>
              <a:t>300</a:t>
            </a:r>
            <a:r>
              <a:rPr lang="zh-CN" altLang="en-US" sz="2000" b="1">
                <a:latin typeface="Times New Roman" pitchFamily="18" charset="0"/>
                <a:ea typeface="华文楷体" pitchFamily="2" charset="-122"/>
                <a:sym typeface="Times New Roman" pitchFamily="18" charset="0"/>
              </a:rPr>
              <a:t>秒）</a:t>
            </a:r>
            <a:endParaRPr lang="en-US" sz="2000" b="1">
              <a:latin typeface="Times New Roman" pitchFamily="18" charset="0"/>
              <a:ea typeface="华文楷体" pitchFamily="2" charset="-122"/>
              <a:sym typeface="Times New Roman" pitchFamily="18" charset="0"/>
            </a:endParaRPr>
          </a:p>
          <a:p>
            <a:pPr>
              <a:buFont typeface="Arial" pitchFamily="34" charset="0"/>
              <a:buNone/>
            </a:pPr>
            <a:r>
              <a:rPr lang="en-US" sz="2000" b="1">
                <a:latin typeface="Times New Roman" pitchFamily="18" charset="0"/>
                <a:ea typeface="华文楷体" pitchFamily="2" charset="-122"/>
                <a:sym typeface="Times New Roman" pitchFamily="18" charset="0"/>
              </a:rPr>
              <a:t>⑤</a:t>
            </a:r>
            <a:r>
              <a:rPr lang="zh-CN" altLang="en-US" sz="2000" b="1">
                <a:latin typeface="Times New Roman" pitchFamily="18" charset="0"/>
                <a:ea typeface="华文楷体" pitchFamily="2" charset="-122"/>
                <a:sym typeface="Times New Roman" pitchFamily="18" charset="0"/>
              </a:rPr>
              <a:t>任何人员完成操作后，需注销帐户或关机</a:t>
            </a:r>
            <a:endParaRPr lang="en-US" sz="2000" b="1">
              <a:latin typeface="Times New Roman" pitchFamily="18" charset="0"/>
              <a:ea typeface="华文楷体" pitchFamily="2" charset="-122"/>
              <a:sym typeface="Times New Roman" pitchFamily="18" charset="0"/>
            </a:endParaRPr>
          </a:p>
          <a:p>
            <a:pPr>
              <a:buFont typeface="Arial" pitchFamily="34" charset="0"/>
              <a:buNone/>
            </a:pPr>
            <a:endParaRPr lang="zh-CN" altLang="en-US" sz="2000" b="1">
              <a:latin typeface="Times New Roman" pitchFamily="18" charset="0"/>
              <a:ea typeface="华文楷体" pitchFamily="2" charset="-122"/>
              <a:sym typeface="Times New Roman" pitchFamily="18" charset="0"/>
            </a:endParaRPr>
          </a:p>
          <a:p>
            <a:pPr>
              <a:buFont typeface="Arial" pitchFamily="34" charset="0"/>
              <a:buNone/>
            </a:pPr>
            <a:r>
              <a:rPr lang="en-US" sz="2800" b="1">
                <a:solidFill>
                  <a:srgbClr val="FF0000"/>
                </a:solidFill>
                <a:latin typeface="Times New Roman" pitchFamily="18" charset="0"/>
                <a:ea typeface="华文楷体" pitchFamily="2" charset="-122"/>
                <a:sym typeface="Times New Roman" pitchFamily="18" charset="0"/>
              </a:rPr>
              <a:t>5.</a:t>
            </a:r>
            <a:r>
              <a:rPr lang="zh-CN" altLang="en-US" sz="2800" b="1">
                <a:solidFill>
                  <a:srgbClr val="FF0000"/>
                </a:solidFill>
                <a:latin typeface="Times New Roman" pitchFamily="18" charset="0"/>
                <a:ea typeface="华文楷体" pitchFamily="2" charset="-122"/>
                <a:sym typeface="Times New Roman" pitchFamily="18" charset="0"/>
              </a:rPr>
              <a:t>界面要求</a:t>
            </a:r>
            <a:endParaRPr lang="en-US" sz="2800" b="1">
              <a:solidFill>
                <a:srgbClr val="FF0000"/>
              </a:solidFill>
              <a:latin typeface="Times New Roman" pitchFamily="18" charset="0"/>
              <a:ea typeface="华文楷体" pitchFamily="2" charset="-122"/>
              <a:sym typeface="Times New Roman" pitchFamily="18" charset="0"/>
            </a:endParaRPr>
          </a:p>
          <a:p>
            <a:pPr>
              <a:buFont typeface="Arial" pitchFamily="34" charset="0"/>
              <a:buNone/>
            </a:pPr>
            <a:r>
              <a:rPr lang="en-US" sz="2000" b="1">
                <a:latin typeface="Times New Roman" pitchFamily="18" charset="0"/>
                <a:ea typeface="华文楷体" pitchFamily="2" charset="-122"/>
                <a:sym typeface="Times New Roman" pitchFamily="18" charset="0"/>
              </a:rPr>
              <a:t>①</a:t>
            </a:r>
            <a:r>
              <a:rPr lang="zh-CN" altLang="en-US" sz="2000" b="1">
                <a:latin typeface="Times New Roman" pitchFamily="18" charset="0"/>
                <a:ea typeface="华文楷体" pitchFamily="2" charset="-122"/>
                <a:sym typeface="Times New Roman" pitchFamily="18" charset="0"/>
              </a:rPr>
              <a:t>非</a:t>
            </a:r>
            <a:r>
              <a:rPr lang="en-US" sz="2000" b="1">
                <a:latin typeface="Times New Roman" pitchFamily="18" charset="0"/>
                <a:ea typeface="华文楷体" pitchFamily="2" charset="-122"/>
                <a:sym typeface="Times New Roman" pitchFamily="18" charset="0"/>
              </a:rPr>
              <a:t>IT</a:t>
            </a:r>
            <a:r>
              <a:rPr lang="zh-CN" altLang="en-US" sz="2000" b="1">
                <a:latin typeface="Times New Roman" pitchFamily="18" charset="0"/>
                <a:ea typeface="华文楷体" pitchFamily="2" charset="-122"/>
                <a:sym typeface="Times New Roman" pitchFamily="18" charset="0"/>
              </a:rPr>
              <a:t>用户组，均只显示与工作相关的软件和图标</a:t>
            </a:r>
            <a:endParaRPr lang="en-US" sz="2000" b="1">
              <a:solidFill>
                <a:srgbClr val="FF0000"/>
              </a:solidFill>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如液相配套电脑只显示液相工作站、我的电脑、回收站。</a:t>
            </a:r>
            <a:endParaRPr lang="en-US" sz="2000" b="1">
              <a:latin typeface="Times New Roman" pitchFamily="18" charset="0"/>
              <a:ea typeface="华文楷体" pitchFamily="2" charset="-122"/>
              <a:sym typeface="Times New Roman" pitchFamily="18" charset="0"/>
            </a:endParaRPr>
          </a:p>
          <a:p>
            <a:pPr>
              <a:buFont typeface="Arial" pitchFamily="34" charset="0"/>
              <a:buNone/>
            </a:pPr>
            <a:r>
              <a:rPr lang="en-US" sz="2000" b="1">
                <a:latin typeface="Times New Roman" pitchFamily="18" charset="0"/>
                <a:ea typeface="华文楷体" pitchFamily="2" charset="-122"/>
                <a:sym typeface="Times New Roman" pitchFamily="18" charset="0"/>
              </a:rPr>
              <a:t>②</a:t>
            </a:r>
            <a:r>
              <a:rPr lang="zh-CN" altLang="en-US" sz="2000" b="1">
                <a:latin typeface="Times New Roman" pitchFamily="18" charset="0"/>
                <a:ea typeface="华文楷体" pitchFamily="2" charset="-122"/>
                <a:sym typeface="Times New Roman" pitchFamily="18" charset="0"/>
              </a:rPr>
              <a:t>非</a:t>
            </a:r>
            <a:r>
              <a:rPr lang="en-US" sz="2000" b="1">
                <a:latin typeface="Times New Roman" pitchFamily="18" charset="0"/>
                <a:ea typeface="华文楷体" pitchFamily="2" charset="-122"/>
                <a:sym typeface="Times New Roman" pitchFamily="18" charset="0"/>
              </a:rPr>
              <a:t>IT</a:t>
            </a:r>
            <a:r>
              <a:rPr lang="zh-CN" altLang="en-US" sz="2000" b="1">
                <a:latin typeface="Times New Roman" pitchFamily="18" charset="0"/>
                <a:ea typeface="华文楷体" pitchFamily="2" charset="-122"/>
                <a:sym typeface="Times New Roman" pitchFamily="18" charset="0"/>
              </a:rPr>
              <a:t>用户组，均只显示与工作相关的存储路径</a:t>
            </a:r>
            <a:endParaRPr lang="en-US" sz="2000" b="1">
              <a:latin typeface="Times New Roman" pitchFamily="18" charset="0"/>
              <a:ea typeface="华文楷体" pitchFamily="2" charset="-122"/>
              <a:sym typeface="Times New Roman" pitchFamily="18" charset="0"/>
            </a:endParaRPr>
          </a:p>
          <a:p>
            <a:pPr>
              <a:buFont typeface="Calibri" pitchFamily="34" charset="0"/>
              <a:buChar char="•"/>
            </a:pPr>
            <a:r>
              <a:rPr lang="zh-CN" altLang="en-US" sz="2000" b="1">
                <a:latin typeface="Times New Roman" pitchFamily="18" charset="0"/>
                <a:ea typeface="华文楷体" pitchFamily="2" charset="-122"/>
                <a:sym typeface="Times New Roman" pitchFamily="18" charset="0"/>
              </a:rPr>
              <a:t>如液相配套的电脑只显示存储液相数据的路径，不显示其他硬盘</a:t>
            </a:r>
            <a:endParaRPr lang="en-US" sz="2000" b="1">
              <a:latin typeface="Times New Roman" pitchFamily="18" charset="0"/>
              <a:ea typeface="华文楷体" pitchFamily="2" charset="-122"/>
              <a:sym typeface="Times New Roman"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3"/>
          <p:cNvSpPr>
            <a:spLocks noGrp="1" noChangeArrowheads="1"/>
          </p:cNvSpPr>
          <p:nvPr>
            <p:ph idx="4294967295"/>
          </p:nvPr>
        </p:nvSpPr>
        <p:spPr bwMode="auto">
          <a:xfrm>
            <a:off x="611188" y="836613"/>
            <a:ext cx="7848600" cy="60213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lstStyle/>
          <a:p>
            <a:pPr marL="457200" indent="-457200">
              <a:buFont typeface="Arial" pitchFamily="34" charset="0"/>
              <a:buNone/>
            </a:pPr>
            <a:r>
              <a:rPr lang="en-US" sz="2800" b="1">
                <a:solidFill>
                  <a:srgbClr val="FF0000"/>
                </a:solidFill>
                <a:latin typeface="Times New Roman" pitchFamily="18" charset="0"/>
                <a:ea typeface="华文楷体" pitchFamily="2" charset="-122"/>
                <a:sym typeface="Times New Roman" pitchFamily="18" charset="0"/>
              </a:rPr>
              <a:t>5.</a:t>
            </a:r>
            <a:r>
              <a:rPr lang="zh-CN" altLang="en-US" sz="2800" b="1">
                <a:solidFill>
                  <a:srgbClr val="FF0000"/>
                </a:solidFill>
                <a:latin typeface="Times New Roman" pitchFamily="18" charset="0"/>
                <a:ea typeface="华文楷体" pitchFamily="2" charset="-122"/>
                <a:sym typeface="Times New Roman" pitchFamily="18" charset="0"/>
              </a:rPr>
              <a:t>界面要求</a:t>
            </a:r>
            <a:endParaRPr lang="en-US" sz="2800" b="1">
              <a:solidFill>
                <a:srgbClr val="FF0000"/>
              </a:solidFill>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③</a:t>
            </a:r>
            <a:r>
              <a:rPr lang="zh-CN" altLang="en-US" sz="2000" b="1">
                <a:latin typeface="Times New Roman" pitchFamily="18" charset="0"/>
                <a:ea typeface="华文楷体" pitchFamily="2" charset="-122"/>
                <a:sym typeface="Times New Roman" pitchFamily="18" charset="0"/>
              </a:rPr>
              <a:t>只有</a:t>
            </a:r>
            <a:r>
              <a:rPr lang="en-US" sz="2000" b="1">
                <a:latin typeface="Times New Roman" pitchFamily="18" charset="0"/>
                <a:ea typeface="华文楷体" pitchFamily="2" charset="-122"/>
                <a:sym typeface="Times New Roman" pitchFamily="18" charset="0"/>
              </a:rPr>
              <a:t>IT</a:t>
            </a:r>
            <a:r>
              <a:rPr lang="zh-CN" altLang="en-US" sz="2000" b="1">
                <a:latin typeface="Times New Roman" pitchFamily="18" charset="0"/>
                <a:ea typeface="华文楷体" pitchFamily="2" charset="-122"/>
                <a:sym typeface="Times New Roman" pitchFamily="18" charset="0"/>
              </a:rPr>
              <a:t>用户组、部门</a:t>
            </a:r>
            <a:r>
              <a:rPr lang="en-US" sz="2000" b="1">
                <a:latin typeface="Times New Roman" pitchFamily="18" charset="0"/>
                <a:ea typeface="华文楷体" pitchFamily="2" charset="-122"/>
                <a:sym typeface="Times New Roman" pitchFamily="18" charset="0"/>
              </a:rPr>
              <a:t>/</a:t>
            </a:r>
            <a:r>
              <a:rPr lang="zh-CN" altLang="en-US" sz="2000" b="1">
                <a:latin typeface="Times New Roman" pitchFamily="18" charset="0"/>
                <a:ea typeface="华文楷体" pitchFamily="2" charset="-122"/>
                <a:sym typeface="Times New Roman" pitchFamily="18" charset="0"/>
              </a:rPr>
              <a:t>经理用户组、班组长用户组可以显示关机、睡眠、休眠、重启按钮。</a:t>
            </a:r>
            <a:endParaRPr lang="en-US" sz="2000" b="1">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④</a:t>
            </a:r>
            <a:r>
              <a:rPr lang="zh-CN" altLang="en-US" sz="2000" b="1">
                <a:latin typeface="Times New Roman" pitchFamily="18" charset="0"/>
                <a:ea typeface="华文楷体" pitchFamily="2" charset="-122"/>
                <a:sym typeface="Times New Roman" pitchFamily="18" charset="0"/>
              </a:rPr>
              <a:t>开启：阻止更改锁屏图像</a:t>
            </a:r>
            <a:endParaRPr lang="en-US" sz="2000" b="1">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⑤</a:t>
            </a:r>
            <a:r>
              <a:rPr lang="zh-CN" altLang="en-US" sz="2000" b="1">
                <a:latin typeface="Times New Roman" pitchFamily="18" charset="0"/>
                <a:ea typeface="华文楷体" pitchFamily="2" charset="-122"/>
                <a:sym typeface="Times New Roman" pitchFamily="18" charset="0"/>
              </a:rPr>
              <a:t>禁止非</a:t>
            </a:r>
            <a:r>
              <a:rPr lang="en-US" sz="2000" b="1">
                <a:latin typeface="Times New Roman" pitchFamily="18" charset="0"/>
                <a:ea typeface="华文楷体" pitchFamily="2" charset="-122"/>
                <a:sym typeface="Times New Roman" pitchFamily="18" charset="0"/>
              </a:rPr>
              <a:t>IT</a:t>
            </a:r>
            <a:r>
              <a:rPr lang="zh-CN" altLang="en-US" sz="2000" b="1">
                <a:latin typeface="Times New Roman" pitchFamily="18" charset="0"/>
                <a:ea typeface="华文楷体" pitchFamily="2" charset="-122"/>
                <a:sym typeface="Times New Roman" pitchFamily="18" charset="0"/>
              </a:rPr>
              <a:t>用户组访问“控制面板”和“</a:t>
            </a:r>
            <a:r>
              <a:rPr lang="en-US" sz="2000" b="1">
                <a:latin typeface="Times New Roman" pitchFamily="18" charset="0"/>
                <a:ea typeface="华文楷体" pitchFamily="2" charset="-122"/>
                <a:sym typeface="Times New Roman" pitchFamily="18" charset="0"/>
              </a:rPr>
              <a:t>PC</a:t>
            </a:r>
            <a:r>
              <a:rPr lang="zh-CN" altLang="en-US" sz="2000" b="1">
                <a:latin typeface="Times New Roman" pitchFamily="18" charset="0"/>
                <a:ea typeface="华文楷体" pitchFamily="2" charset="-122"/>
                <a:sym typeface="Times New Roman" pitchFamily="18" charset="0"/>
              </a:rPr>
              <a:t>设置”、“组策略”</a:t>
            </a:r>
            <a:endParaRPr lang="en-US" sz="2000" b="1">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⑥</a:t>
            </a:r>
            <a:r>
              <a:rPr lang="zh-CN" altLang="en-US" sz="2000" b="1">
                <a:latin typeface="Times New Roman" pitchFamily="18" charset="0"/>
                <a:ea typeface="华文楷体" pitchFamily="2" charset="-122"/>
                <a:sym typeface="Times New Roman" pitchFamily="18" charset="0"/>
              </a:rPr>
              <a:t>禁止非</a:t>
            </a:r>
            <a:r>
              <a:rPr lang="en-US" sz="2000" b="1">
                <a:latin typeface="Times New Roman" pitchFamily="18" charset="0"/>
                <a:ea typeface="华文楷体" pitchFamily="2" charset="-122"/>
                <a:sym typeface="Times New Roman" pitchFamily="18" charset="0"/>
              </a:rPr>
              <a:t>IT</a:t>
            </a:r>
            <a:r>
              <a:rPr lang="zh-CN" altLang="en-US" sz="2000" b="1">
                <a:latin typeface="Times New Roman" pitchFamily="18" charset="0"/>
                <a:ea typeface="华文楷体" pitchFamily="2" charset="-122"/>
                <a:sym typeface="Times New Roman" pitchFamily="18" charset="0"/>
              </a:rPr>
              <a:t>用户组修改系统时间</a:t>
            </a:r>
            <a:endParaRPr lang="en-US" sz="2000" b="1">
              <a:latin typeface="Times New Roman" pitchFamily="18" charset="0"/>
              <a:ea typeface="华文楷体" pitchFamily="2" charset="-122"/>
              <a:sym typeface="Times New Roman" pitchFamily="18" charset="0"/>
            </a:endParaRPr>
          </a:p>
          <a:p>
            <a:pPr marL="457200" indent="-457200">
              <a:buFont typeface="Arial" pitchFamily="34" charset="0"/>
              <a:buNone/>
            </a:pPr>
            <a:endParaRPr lang="zh-CN" altLang="en-US" sz="2000" b="1">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800" b="1">
                <a:solidFill>
                  <a:srgbClr val="FF0000"/>
                </a:solidFill>
                <a:latin typeface="Times New Roman" pitchFamily="18" charset="0"/>
                <a:ea typeface="华文楷体" pitchFamily="2" charset="-122"/>
                <a:sym typeface="Times New Roman" pitchFamily="18" charset="0"/>
              </a:rPr>
              <a:t>6.</a:t>
            </a:r>
            <a:r>
              <a:rPr lang="zh-CN" altLang="en-US" sz="2800" b="1">
                <a:solidFill>
                  <a:srgbClr val="FF0000"/>
                </a:solidFill>
                <a:latin typeface="Times New Roman" pitchFamily="18" charset="0"/>
                <a:ea typeface="华文楷体" pitchFamily="2" charset="-122"/>
                <a:sym typeface="Times New Roman" pitchFamily="18" charset="0"/>
              </a:rPr>
              <a:t>设备要求</a:t>
            </a:r>
            <a:endParaRPr lang="en-US" sz="2800" b="1">
              <a:solidFill>
                <a:srgbClr val="FF0000"/>
              </a:solidFill>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①</a:t>
            </a:r>
            <a:r>
              <a:rPr lang="zh-CN" altLang="en-US" sz="2000" b="1">
                <a:latin typeface="Times New Roman" pitchFamily="18" charset="0"/>
                <a:ea typeface="华文楷体" pitchFamily="2" charset="-122"/>
                <a:sym typeface="Times New Roman" pitchFamily="18" charset="0"/>
              </a:rPr>
              <a:t>授权特定移动存储设备接入计算机</a:t>
            </a:r>
            <a:endParaRPr lang="en-US" sz="2000" b="1">
              <a:solidFill>
                <a:srgbClr val="FF0000"/>
              </a:solidFill>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②</a:t>
            </a:r>
            <a:r>
              <a:rPr lang="zh-CN" altLang="en-US" sz="2000" b="1">
                <a:latin typeface="Times New Roman" pitchFamily="18" charset="0"/>
                <a:ea typeface="华文楷体" pitchFamily="2" charset="-122"/>
                <a:sym typeface="Times New Roman" pitchFamily="18" charset="0"/>
              </a:rPr>
              <a:t>禁止未经授权的移动存储设备接入计算机</a:t>
            </a:r>
            <a:endParaRPr lang="en-US" sz="2000" b="1">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③</a:t>
            </a:r>
            <a:r>
              <a:rPr lang="zh-CN" altLang="en-US" sz="2000" b="1">
                <a:latin typeface="Times New Roman" pitchFamily="18" charset="0"/>
                <a:ea typeface="华文楷体" pitchFamily="2" charset="-122"/>
                <a:sym typeface="Times New Roman" pitchFamily="18" charset="0"/>
              </a:rPr>
              <a:t>授权特定的外设接入计算机</a:t>
            </a:r>
            <a:endParaRPr lang="en-US" sz="2000" b="1">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④</a:t>
            </a:r>
            <a:r>
              <a:rPr lang="zh-CN" altLang="en-US" sz="2000" b="1">
                <a:latin typeface="Times New Roman" pitchFamily="18" charset="0"/>
                <a:ea typeface="华文楷体" pitchFamily="2" charset="-122"/>
                <a:sym typeface="Times New Roman" pitchFamily="18" charset="0"/>
              </a:rPr>
              <a:t>禁止未经授权的外设接入计算机</a:t>
            </a:r>
            <a:endParaRPr lang="en-US" sz="2000" b="1">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⑤</a:t>
            </a:r>
            <a:r>
              <a:rPr lang="zh-CN" altLang="en-US" sz="2000" b="1">
                <a:latin typeface="Times New Roman" pitchFamily="18" charset="0"/>
                <a:ea typeface="华文楷体" pitchFamily="2" charset="-122"/>
                <a:sym typeface="Times New Roman" pitchFamily="18" charset="0"/>
              </a:rPr>
              <a:t>禁止非管理员用户安装指定设备安装程序类的驱动程序</a:t>
            </a:r>
            <a:endParaRPr lang="en-US" sz="2000" b="1">
              <a:latin typeface="Times New Roman" pitchFamily="18" charset="0"/>
              <a:ea typeface="华文楷体" pitchFamily="2" charset="-122"/>
              <a:sym typeface="Times New Roman" pitchFamily="18"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3"/>
          <p:cNvSpPr>
            <a:spLocks noGrp="1" noChangeArrowheads="1"/>
          </p:cNvSpPr>
          <p:nvPr>
            <p:ph idx="4294967295"/>
          </p:nvPr>
        </p:nvSpPr>
        <p:spPr bwMode="auto">
          <a:xfrm>
            <a:off x="611188" y="836613"/>
            <a:ext cx="7848600" cy="60213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mpd="sng">
                <a:solidFill>
                  <a:srgbClr val="000000"/>
                </a:solidFill>
                <a:bevel/>
                <a:headEnd/>
                <a:tailEnd/>
              </a14:hiddenLine>
            </a:ext>
          </a:extLst>
        </p:spPr>
        <p:txBody>
          <a:bodyPr/>
          <a:lstStyle/>
          <a:p>
            <a:pPr marL="457200" indent="-457200">
              <a:buFont typeface="Arial" pitchFamily="34" charset="0"/>
              <a:buNone/>
            </a:pPr>
            <a:r>
              <a:rPr lang="en-US" sz="2800" b="1">
                <a:solidFill>
                  <a:srgbClr val="FF0000"/>
                </a:solidFill>
                <a:latin typeface="Times New Roman" pitchFamily="18" charset="0"/>
                <a:ea typeface="华文楷体" pitchFamily="2" charset="-122"/>
                <a:sym typeface="Times New Roman" pitchFamily="18" charset="0"/>
              </a:rPr>
              <a:t>7.</a:t>
            </a:r>
            <a:r>
              <a:rPr lang="zh-CN" altLang="en-US" sz="2800" b="1">
                <a:solidFill>
                  <a:srgbClr val="FF0000"/>
                </a:solidFill>
                <a:latin typeface="Times New Roman" pitchFamily="18" charset="0"/>
                <a:ea typeface="华文楷体" pitchFamily="2" charset="-122"/>
                <a:sym typeface="Times New Roman" pitchFamily="18" charset="0"/>
              </a:rPr>
              <a:t>审核模块</a:t>
            </a:r>
            <a:endParaRPr lang="en-US" sz="2800" b="1">
              <a:solidFill>
                <a:srgbClr val="FF0000"/>
              </a:solidFill>
              <a:latin typeface="Times New Roman" pitchFamily="18" charset="0"/>
              <a:ea typeface="华文楷体" pitchFamily="2" charset="-122"/>
              <a:sym typeface="Times New Roman" pitchFamily="18" charset="0"/>
            </a:endParaRPr>
          </a:p>
          <a:p>
            <a:pPr marL="457200" indent="-457200">
              <a:buFont typeface="Arial" pitchFamily="34" charset="0"/>
              <a:buNone/>
            </a:pPr>
            <a:r>
              <a:rPr lang="en-US" sz="2000" b="1">
                <a:latin typeface="Times New Roman" pitchFamily="18" charset="0"/>
                <a:ea typeface="华文楷体" pitchFamily="2" charset="-122"/>
                <a:sym typeface="Times New Roman" pitchFamily="18" charset="0"/>
              </a:rPr>
              <a:t>①</a:t>
            </a:r>
            <a:r>
              <a:rPr lang="zh-CN" altLang="en-US" sz="2000" b="1">
                <a:latin typeface="Times New Roman" pitchFamily="18" charset="0"/>
                <a:ea typeface="华文楷体" pitchFamily="2" charset="-122"/>
                <a:sym typeface="Times New Roman" pitchFamily="18" charset="0"/>
              </a:rPr>
              <a:t>开启以下项目的审核</a:t>
            </a:r>
            <a:endParaRPr lang="en-US" sz="2000" b="1">
              <a:latin typeface="Times New Roman" pitchFamily="18" charset="0"/>
              <a:ea typeface="华文楷体" pitchFamily="2" charset="-122"/>
              <a:sym typeface="Times New Roman" pitchFamily="18" charset="0"/>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策略更改</a:t>
            </a:r>
            <a:endParaRPr lang="en-US" sz="2000" b="1">
              <a:latin typeface="华文楷体" pitchFamily="2" charset="-122"/>
              <a:ea typeface="华文楷体" pitchFamily="2" charset="-122"/>
              <a:sym typeface="华文楷体" pitchFamily="2" charset="-122"/>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登陆事件</a:t>
            </a:r>
            <a:endParaRPr lang="en-US" sz="2000" b="1">
              <a:latin typeface="华文楷体" pitchFamily="2" charset="-122"/>
              <a:ea typeface="华文楷体" pitchFamily="2" charset="-122"/>
              <a:sym typeface="华文楷体" pitchFamily="2" charset="-122"/>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对象访问</a:t>
            </a:r>
            <a:endParaRPr lang="en-US" sz="2000" b="1">
              <a:latin typeface="华文楷体" pitchFamily="2" charset="-122"/>
              <a:ea typeface="华文楷体" pitchFamily="2" charset="-122"/>
              <a:sym typeface="华文楷体" pitchFamily="2" charset="-122"/>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进程跟踪</a:t>
            </a:r>
            <a:endParaRPr lang="en-US" sz="2000" b="1">
              <a:latin typeface="华文楷体" pitchFamily="2" charset="-122"/>
              <a:ea typeface="华文楷体" pitchFamily="2" charset="-122"/>
              <a:sym typeface="华文楷体" pitchFamily="2" charset="-122"/>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特权使用</a:t>
            </a:r>
            <a:endParaRPr lang="en-US" sz="2000" b="1">
              <a:latin typeface="华文楷体" pitchFamily="2" charset="-122"/>
              <a:ea typeface="华文楷体" pitchFamily="2" charset="-122"/>
              <a:sym typeface="华文楷体" pitchFamily="2" charset="-122"/>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系统事件</a:t>
            </a:r>
            <a:endParaRPr lang="en-US" sz="2000" b="1">
              <a:latin typeface="华文楷体" pitchFamily="2" charset="-122"/>
              <a:ea typeface="华文楷体" pitchFamily="2" charset="-122"/>
              <a:sym typeface="华文楷体" pitchFamily="2" charset="-122"/>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帐户管理</a:t>
            </a:r>
            <a:endParaRPr lang="en-US" sz="2000" b="1">
              <a:latin typeface="华文楷体" pitchFamily="2" charset="-122"/>
              <a:ea typeface="华文楷体" pitchFamily="2" charset="-122"/>
              <a:sym typeface="华文楷体" pitchFamily="2" charset="-122"/>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帐户锁定</a:t>
            </a:r>
            <a:endParaRPr lang="en-US" sz="2000" b="1">
              <a:latin typeface="华文楷体" pitchFamily="2" charset="-122"/>
              <a:ea typeface="华文楷体" pitchFamily="2" charset="-122"/>
              <a:sym typeface="华文楷体" pitchFamily="2" charset="-122"/>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帐户注销</a:t>
            </a:r>
            <a:endParaRPr lang="en-US" sz="2000" b="1">
              <a:latin typeface="华文楷体" pitchFamily="2" charset="-122"/>
              <a:ea typeface="华文楷体" pitchFamily="2" charset="-122"/>
              <a:sym typeface="华文楷体" pitchFamily="2" charset="-122"/>
            </a:endParaRPr>
          </a:p>
          <a:p>
            <a:pPr marL="457200" indent="-457200">
              <a:buFont typeface="Calibri" pitchFamily="34" charset="0"/>
              <a:buChar char="•"/>
            </a:pPr>
            <a:r>
              <a:rPr lang="zh-CN" altLang="en-US" sz="2000" b="1">
                <a:latin typeface="华文楷体" pitchFamily="2" charset="-122"/>
                <a:ea typeface="华文楷体" pitchFamily="2" charset="-122"/>
                <a:sym typeface="华文楷体" pitchFamily="2" charset="-122"/>
              </a:rPr>
              <a:t>特殊登陆</a:t>
            </a:r>
            <a:endParaRPr lang="en-US" sz="2000" b="1">
              <a:latin typeface="华文楷体" pitchFamily="2" charset="-122"/>
              <a:ea typeface="华文楷体" pitchFamily="2" charset="-122"/>
              <a:sym typeface="华文楷体" pitchFamily="2" charset="-122"/>
            </a:endParaRPr>
          </a:p>
          <a:p>
            <a:pPr marL="457200" indent="-457200">
              <a:buFont typeface="Arial" pitchFamily="34" charset="0"/>
              <a:buNone/>
            </a:pPr>
            <a:endParaRPr lang="zh-CN" altLang="en-US" sz="2000" b="1">
              <a:latin typeface="Times New Roman" pitchFamily="18" charset="0"/>
              <a:ea typeface="华文楷体" pitchFamily="2" charset="-122"/>
              <a:sym typeface="Times New Roman" pitchFamily="18" charset="0"/>
            </a:endParaRPr>
          </a:p>
          <a:p>
            <a:pPr marL="457200" indent="-457200">
              <a:buFont typeface="Arial" pitchFamily="34" charset="0"/>
              <a:buNone/>
            </a:pPr>
            <a:endParaRPr lang="zh-CN" altLang="en-US" sz="2000" b="1">
              <a:latin typeface="Times New Roman" pitchFamily="18" charset="0"/>
              <a:ea typeface="华文楷体" pitchFamily="2" charset="-122"/>
              <a:sym typeface="Times New Roman" pitchFamily="18"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内容占位符 2"/>
          <p:cNvSpPr>
            <a:spLocks noGrp="1" noChangeArrowheads="1"/>
          </p:cNvSpPr>
          <p:nvPr>
            <p:ph idx="4294967295"/>
          </p:nvPr>
        </p:nvSpPr>
        <p:spPr bwMode="auto">
          <a:xfrm>
            <a:off x="179388" y="1054100"/>
            <a:ext cx="4824412" cy="49291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spcBef>
                <a:spcPct val="0"/>
              </a:spcBef>
              <a:spcAft>
                <a:spcPts val="1200"/>
              </a:spcAft>
              <a:buFont typeface="Arial" pitchFamily="34" charset="0"/>
              <a:buNone/>
            </a:pPr>
            <a:r>
              <a:rPr lang="zh-CN" altLang="en-US" sz="2400" b="1">
                <a:solidFill>
                  <a:srgbClr val="FF0000"/>
                </a:solidFill>
                <a:latin typeface="Times New Roman" pitchFamily="18" charset="0"/>
                <a:ea typeface="华文楷体" pitchFamily="2" charset="-122"/>
                <a:sym typeface="Times New Roman" pitchFamily="18" charset="0"/>
              </a:rPr>
              <a:t>实验室</a:t>
            </a:r>
            <a:r>
              <a:rPr lang="en-US" sz="2400" b="1">
                <a:solidFill>
                  <a:srgbClr val="FF0000"/>
                </a:solidFill>
                <a:latin typeface="Times New Roman" pitchFamily="18" charset="0"/>
                <a:ea typeface="华文楷体" pitchFamily="2" charset="-122"/>
                <a:sym typeface="Times New Roman" pitchFamily="18" charset="0"/>
              </a:rPr>
              <a:t>DI</a:t>
            </a:r>
            <a:r>
              <a:rPr lang="zh-CN" altLang="en-US" sz="2400" b="1">
                <a:solidFill>
                  <a:srgbClr val="FF0000"/>
                </a:solidFill>
                <a:latin typeface="Times New Roman" pitchFamily="18" charset="0"/>
                <a:ea typeface="华文楷体" pitchFamily="2" charset="-122"/>
                <a:sym typeface="Times New Roman" pitchFamily="18" charset="0"/>
              </a:rPr>
              <a:t>设计</a:t>
            </a:r>
          </a:p>
          <a:p>
            <a:pPr>
              <a:buFont typeface="Wingdings" pitchFamily="2" charset="2"/>
              <a:buChar char="n"/>
            </a:pPr>
            <a:r>
              <a:rPr lang="en-US" sz="2000">
                <a:latin typeface="Times New Roman" pitchFamily="18" charset="0"/>
                <a:ea typeface="华文楷体" pitchFamily="2" charset="-122"/>
                <a:sym typeface="Times New Roman" pitchFamily="18" charset="0"/>
              </a:rPr>
              <a:t>DI</a:t>
            </a:r>
            <a:r>
              <a:rPr lang="zh-CN" altLang="en-US" sz="2000">
                <a:latin typeface="Times New Roman" pitchFamily="18" charset="0"/>
                <a:ea typeface="华文楷体" pitchFamily="2" charset="-122"/>
                <a:sym typeface="Times New Roman" pitchFamily="18" charset="0"/>
              </a:rPr>
              <a:t>风险取决于系统配置。配置越低、风险越大。见右图（图中：</a:t>
            </a:r>
            <a:r>
              <a:rPr lang="en-US" sz="2000">
                <a:latin typeface="Times New Roman" pitchFamily="18" charset="0"/>
                <a:ea typeface="华文楷体" pitchFamily="2" charset="-122"/>
                <a:sym typeface="Times New Roman" pitchFamily="18" charset="0"/>
              </a:rPr>
              <a:t>pH</a:t>
            </a:r>
            <a:r>
              <a:rPr lang="zh-CN" altLang="en-US" sz="2000">
                <a:latin typeface="Times New Roman" pitchFamily="18" charset="0"/>
                <a:ea typeface="华文楷体" pitchFamily="2" charset="-122"/>
                <a:sym typeface="Times New Roman" pitchFamily="18" charset="0"/>
              </a:rPr>
              <a:t>、天平、只需校验；复杂系统需要对其进行计算机验证：验证复杂程度从左到右逐步增加。</a:t>
            </a:r>
            <a:r>
              <a:rPr lang="zh-CN" altLang="en-US" sz="2000" b="1">
                <a:solidFill>
                  <a:srgbClr val="FF0000"/>
                </a:solidFill>
                <a:latin typeface="Times New Roman" pitchFamily="18" charset="0"/>
                <a:ea typeface="华文楷体" pitchFamily="2" charset="-122"/>
                <a:sym typeface="Times New Roman" pitchFamily="18" charset="0"/>
              </a:rPr>
              <a:t>一些相对不复杂的仪器常被疏忽，可能被用于捏造数据或重复测试达到想要的结果，如</a:t>
            </a:r>
            <a:r>
              <a:rPr lang="en-US" sz="2000" b="1">
                <a:solidFill>
                  <a:srgbClr val="FF0000"/>
                </a:solidFill>
                <a:latin typeface="Times New Roman" pitchFamily="18" charset="0"/>
                <a:ea typeface="华文楷体" pitchFamily="2" charset="-122"/>
                <a:sym typeface="Times New Roman" pitchFamily="18" charset="0"/>
              </a:rPr>
              <a:t>FT-IR</a:t>
            </a:r>
            <a:r>
              <a:rPr lang="zh-CN" altLang="en-US" sz="2000" b="1">
                <a:solidFill>
                  <a:srgbClr val="FF0000"/>
                </a:solidFill>
                <a:latin typeface="Times New Roman" pitchFamily="18" charset="0"/>
                <a:ea typeface="华文楷体" pitchFamily="2" charset="-122"/>
                <a:sym typeface="Times New Roman" pitchFamily="18" charset="0"/>
              </a:rPr>
              <a:t>、</a:t>
            </a:r>
            <a:r>
              <a:rPr lang="en-US" sz="2000" b="1">
                <a:solidFill>
                  <a:srgbClr val="FF0000"/>
                </a:solidFill>
                <a:latin typeface="Times New Roman" pitchFamily="18" charset="0"/>
                <a:ea typeface="华文楷体" pitchFamily="2" charset="-122"/>
                <a:sym typeface="Times New Roman" pitchFamily="18" charset="0"/>
              </a:rPr>
              <a:t>UV</a:t>
            </a:r>
            <a:r>
              <a:rPr lang="zh-CN" altLang="en-US" sz="2000" b="1">
                <a:solidFill>
                  <a:srgbClr val="FF0000"/>
                </a:solidFill>
                <a:latin typeface="Times New Roman" pitchFamily="18" charset="0"/>
                <a:ea typeface="华文楷体" pitchFamily="2" charset="-122"/>
                <a:sym typeface="Times New Roman" pitchFamily="18" charset="0"/>
              </a:rPr>
              <a:t>等。</a:t>
            </a:r>
          </a:p>
          <a:p>
            <a:pPr>
              <a:buFont typeface="Wingdings" pitchFamily="2" charset="2"/>
              <a:buChar char="n"/>
            </a:pPr>
            <a:r>
              <a:rPr lang="zh-CN" altLang="en-US" sz="2000">
                <a:latin typeface="Times New Roman" pitchFamily="18" charset="0"/>
                <a:ea typeface="华文楷体" pitchFamily="2" charset="-122"/>
                <a:sym typeface="Times New Roman" pitchFamily="18" charset="0"/>
              </a:rPr>
              <a:t>应根据数据的重要程度来选择对应的系统设计：手工记录</a:t>
            </a:r>
            <a:r>
              <a:rPr lang="en-US" sz="2000">
                <a:latin typeface="Times New Roman" pitchFamily="18" charset="0"/>
                <a:ea typeface="华文楷体" pitchFamily="2" charset="-122"/>
                <a:sym typeface="Times New Roman" pitchFamily="18" charset="0"/>
              </a:rPr>
              <a:t>——</a:t>
            </a:r>
            <a:r>
              <a:rPr lang="zh-CN" altLang="en-US" sz="2000">
                <a:latin typeface="Times New Roman" pitchFamily="18" charset="0"/>
                <a:ea typeface="华文楷体" pitchFamily="2" charset="-122"/>
                <a:sym typeface="Times New Roman" pitchFamily="18" charset="0"/>
              </a:rPr>
              <a:t>打印条</a:t>
            </a:r>
            <a:r>
              <a:rPr lang="en-US" sz="2000">
                <a:latin typeface="Times New Roman" pitchFamily="18" charset="0"/>
                <a:ea typeface="华文楷体" pitchFamily="2" charset="-122"/>
                <a:sym typeface="Times New Roman" pitchFamily="18" charset="0"/>
              </a:rPr>
              <a:t>——PLC</a:t>
            </a:r>
            <a:r>
              <a:rPr lang="zh-CN" altLang="en-US" sz="2000">
                <a:latin typeface="Times New Roman" pitchFamily="18" charset="0"/>
                <a:ea typeface="华文楷体" pitchFamily="2" charset="-122"/>
                <a:sym typeface="Times New Roman" pitchFamily="18" charset="0"/>
              </a:rPr>
              <a:t>控制</a:t>
            </a:r>
            <a:r>
              <a:rPr lang="en-US" sz="2000">
                <a:latin typeface="Times New Roman" pitchFamily="18" charset="0"/>
                <a:ea typeface="华文楷体" pitchFamily="2" charset="-122"/>
                <a:sym typeface="Times New Roman" pitchFamily="18" charset="0"/>
              </a:rPr>
              <a:t>——</a:t>
            </a:r>
            <a:r>
              <a:rPr lang="zh-CN" altLang="en-US" sz="2000">
                <a:latin typeface="Times New Roman" pitchFamily="18" charset="0"/>
                <a:ea typeface="华文楷体" pitchFamily="2" charset="-122"/>
                <a:sym typeface="Times New Roman" pitchFamily="18" charset="0"/>
              </a:rPr>
              <a:t>单机版计算机系统</a:t>
            </a:r>
            <a:r>
              <a:rPr lang="en-US" sz="2000">
                <a:latin typeface="Times New Roman" pitchFamily="18" charset="0"/>
                <a:ea typeface="华文楷体" pitchFamily="2" charset="-122"/>
                <a:sym typeface="Times New Roman" pitchFamily="18" charset="0"/>
              </a:rPr>
              <a:t>——</a:t>
            </a:r>
            <a:r>
              <a:rPr lang="zh-CN" altLang="en-US" sz="2000">
                <a:latin typeface="Times New Roman" pitchFamily="18" charset="0"/>
                <a:ea typeface="华文楷体" pitchFamily="2" charset="-122"/>
                <a:sym typeface="Times New Roman" pitchFamily="18" charset="0"/>
              </a:rPr>
              <a:t>服务器版计算机系统</a:t>
            </a:r>
            <a:endParaRPr lang="en-US" sz="2000">
              <a:latin typeface="Times New Roman" pitchFamily="18" charset="0"/>
              <a:ea typeface="华文楷体" pitchFamily="2" charset="-122"/>
              <a:sym typeface="Times New Roman" pitchFamily="18" charset="0"/>
            </a:endParaRPr>
          </a:p>
          <a:p>
            <a:pPr>
              <a:buFont typeface="Wingdings" pitchFamily="2" charset="2"/>
              <a:buChar char="n"/>
            </a:pPr>
            <a:r>
              <a:rPr lang="zh-CN" altLang="en-US" sz="2000">
                <a:latin typeface="Times New Roman" pitchFamily="18" charset="0"/>
                <a:ea typeface="华文楷体" pitchFamily="2" charset="-122"/>
                <a:sym typeface="Times New Roman" pitchFamily="18" charset="0"/>
              </a:rPr>
              <a:t>应从系统设计上避免出现数据不完整性的风险。</a:t>
            </a:r>
          </a:p>
        </p:txBody>
      </p:sp>
      <p:pic>
        <p:nvPicPr>
          <p:cNvPr id="4198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1628775"/>
            <a:ext cx="4211637"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sp>
        <p:nvSpPr>
          <p:cNvPr id="41988" name="Rectangle 3"/>
          <p:cNvSpPr>
            <a:spLocks noChangeArrowheads="1"/>
          </p:cNvSpPr>
          <p:nvPr/>
        </p:nvSpPr>
        <p:spPr bwMode="auto">
          <a:xfrm>
            <a:off x="2846388" y="44450"/>
            <a:ext cx="57594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8</a:t>
            </a:r>
            <a:r>
              <a:rPr lang="zh-CN" altLang="en-US" sz="2400" b="1">
                <a:solidFill>
                  <a:srgbClr val="FFFF00"/>
                </a:solidFill>
                <a:latin typeface="Calibri" pitchFamily="34" charset="0"/>
                <a:ea typeface="楷体" pitchFamily="49" charset="-122"/>
                <a:sym typeface="Calibri" pitchFamily="34" charset="0"/>
              </a:rPr>
              <a:t>节：QC实验室的数据完整性管控设计</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30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1773238"/>
            <a:ext cx="8904287"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sp>
        <p:nvSpPr>
          <p:cNvPr id="43011"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wrap="none" anchor="ctr">
            <a:spAutoFit/>
          </a:bodyPr>
          <a:lstStyle/>
          <a:p>
            <a:endParaRPr lang="zh-CN" altLang="zh-CN" b="1" i="1">
              <a:sym typeface="Arial" pitchFamily="34" charset="0"/>
            </a:endParaRPr>
          </a:p>
        </p:txBody>
      </p:sp>
      <p:graphicFrame>
        <p:nvGraphicFramePr>
          <p:cNvPr id="43012" name="Object 4"/>
          <p:cNvGraphicFramePr>
            <a:graphicFrameLocks/>
          </p:cNvGraphicFramePr>
          <p:nvPr/>
        </p:nvGraphicFramePr>
        <p:xfrm>
          <a:off x="6843713" y="469900"/>
          <a:ext cx="2265362" cy="1406525"/>
        </p:xfrm>
        <a:graphic>
          <a:graphicData uri="http://schemas.openxmlformats.org/presentationml/2006/ole">
            <mc:AlternateContent xmlns:mc="http://schemas.openxmlformats.org/markup-compatibility/2006">
              <mc:Choice xmlns:v="urn:schemas-microsoft-com:vml" Requires="v">
                <p:oleObj spid="_x0000_s43013" showAsIcon="1" r:id="rId4" imgW="923400" imgH="579600" progId="">
                  <p:embed/>
                </p:oleObj>
              </mc:Choice>
              <mc:Fallback>
                <p:oleObj showAsIcon="1" r:id="rId4" imgW="923400" imgH="579600" progId="">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3713" y="469900"/>
                        <a:ext cx="2265362"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trips dir="ld"/>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内容占位符 2"/>
          <p:cNvSpPr>
            <a:spLocks noGrp="1" noChangeArrowheads="1"/>
          </p:cNvSpPr>
          <p:nvPr>
            <p:ph idx="4294967295"/>
          </p:nvPr>
        </p:nvSpPr>
        <p:spPr bwMode="auto">
          <a:xfrm>
            <a:off x="323850" y="1196975"/>
            <a:ext cx="8640763" cy="49291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buFont typeface="Arial" pitchFamily="34" charset="0"/>
              <a:buNone/>
            </a:pPr>
            <a:r>
              <a:rPr lang="zh-CN" altLang="en-US" sz="2800" b="1">
                <a:solidFill>
                  <a:srgbClr val="FF0000"/>
                </a:solidFill>
                <a:latin typeface="Times New Roman" pitchFamily="18" charset="0"/>
                <a:ea typeface="华文楷体" pitchFamily="2" charset="-122"/>
                <a:sym typeface="Times New Roman" pitchFamily="18" charset="0"/>
              </a:rPr>
              <a:t>实验室</a:t>
            </a:r>
            <a:r>
              <a:rPr lang="en-US" sz="2800" b="1">
                <a:solidFill>
                  <a:srgbClr val="FF0000"/>
                </a:solidFill>
                <a:latin typeface="Times New Roman" pitchFamily="18" charset="0"/>
                <a:ea typeface="华文楷体" pitchFamily="2" charset="-122"/>
                <a:sym typeface="Times New Roman" pitchFamily="18" charset="0"/>
              </a:rPr>
              <a:t>DI</a:t>
            </a:r>
            <a:r>
              <a:rPr lang="zh-CN" altLang="en-US" sz="2800" b="1">
                <a:solidFill>
                  <a:srgbClr val="FF0000"/>
                </a:solidFill>
                <a:latin typeface="Times New Roman" pitchFamily="18" charset="0"/>
                <a:ea typeface="华文楷体" pitchFamily="2" charset="-122"/>
                <a:sym typeface="Times New Roman" pitchFamily="18" charset="0"/>
              </a:rPr>
              <a:t>设计</a:t>
            </a:r>
            <a:endParaRPr lang="en-US" sz="2800" b="1">
              <a:solidFill>
                <a:srgbClr val="FF0000"/>
              </a:solidFill>
              <a:latin typeface="Times New Roman" pitchFamily="18" charset="0"/>
              <a:ea typeface="华文楷体" pitchFamily="2" charset="-122"/>
              <a:sym typeface="Times New Roman" pitchFamily="18" charset="0"/>
            </a:endParaRPr>
          </a:p>
          <a:p>
            <a:pPr algn="ctr">
              <a:buFont typeface="Arial" pitchFamily="34" charset="0"/>
              <a:buNone/>
            </a:pPr>
            <a:endParaRPr lang="zh-CN" altLang="en-US" sz="2800" b="1">
              <a:solidFill>
                <a:srgbClr val="FF0000"/>
              </a:solidFill>
              <a:latin typeface="Times New Roman" pitchFamily="18" charset="0"/>
              <a:ea typeface="华文楷体" pitchFamily="2" charset="-122"/>
              <a:sym typeface="Times New Roman" pitchFamily="18" charset="0"/>
            </a:endParaRPr>
          </a:p>
          <a:p>
            <a:pPr>
              <a:buFont typeface="Calibri" pitchFamily="34" charset="0"/>
              <a:buChar char="•"/>
            </a:pPr>
            <a:r>
              <a:rPr lang="zh-CN" altLang="en-US" sz="2400" b="1">
                <a:solidFill>
                  <a:srgbClr val="FF0000"/>
                </a:solidFill>
                <a:latin typeface="Times New Roman" pitchFamily="18" charset="0"/>
                <a:ea typeface="华文楷体" pitchFamily="2" charset="-122"/>
                <a:sym typeface="Times New Roman" pitchFamily="18" charset="0"/>
              </a:rPr>
              <a:t>设备与软件：</a:t>
            </a:r>
            <a:r>
              <a:rPr lang="zh-CN" altLang="en-US" sz="2400">
                <a:latin typeface="Times New Roman" pitchFamily="18" charset="0"/>
                <a:ea typeface="华文楷体" pitchFamily="2" charset="-122"/>
                <a:sym typeface="Times New Roman" pitchFamily="18" charset="0"/>
              </a:rPr>
              <a:t>实验室仪器和设备应配置软件，能跟踪员工产生数据的过程（复测、重复进样、对数据的任何改变、改变的原因），满足电子数据的保存、归档和追溯的要求。</a:t>
            </a:r>
            <a:endParaRPr lang="en-US" sz="2400">
              <a:latin typeface="Times New Roman" pitchFamily="18" charset="0"/>
              <a:ea typeface="华文楷体" pitchFamily="2" charset="-122"/>
              <a:sym typeface="Times New Roman" pitchFamily="18" charset="0"/>
            </a:endParaRPr>
          </a:p>
          <a:p>
            <a:pPr>
              <a:buFont typeface="Calibri" pitchFamily="34" charset="0"/>
              <a:buChar char="•"/>
            </a:pPr>
            <a:endParaRPr lang="zh-CN" altLang="en-US" sz="2400">
              <a:latin typeface="Times New Roman" pitchFamily="18" charset="0"/>
              <a:ea typeface="华文楷体" pitchFamily="2" charset="-122"/>
              <a:sym typeface="Times New Roman" pitchFamily="18" charset="0"/>
            </a:endParaRPr>
          </a:p>
          <a:p>
            <a:pPr>
              <a:buFont typeface="Calibri" pitchFamily="34" charset="0"/>
              <a:buChar char="•"/>
            </a:pPr>
            <a:r>
              <a:rPr lang="zh-CN" altLang="en-US" sz="2400" b="1">
                <a:solidFill>
                  <a:srgbClr val="FF0000"/>
                </a:solidFill>
                <a:latin typeface="Times New Roman" pitchFamily="18" charset="0"/>
                <a:ea typeface="华文楷体" pitchFamily="2" charset="-122"/>
                <a:sym typeface="Times New Roman" pitchFamily="18" charset="0"/>
              </a:rPr>
              <a:t>权限设置：</a:t>
            </a:r>
            <a:r>
              <a:rPr lang="zh-CN" altLang="en-US" sz="2400">
                <a:latin typeface="Times New Roman" pitchFamily="18" charset="0"/>
                <a:ea typeface="华文楷体" pitchFamily="2" charset="-122"/>
                <a:sym typeface="Times New Roman" pitchFamily="18" charset="0"/>
              </a:rPr>
              <a:t>要将系统管理员的权限授予</a:t>
            </a:r>
            <a:r>
              <a:rPr lang="zh-CN" altLang="en-US" sz="2400" b="1">
                <a:solidFill>
                  <a:srgbClr val="FF0000"/>
                </a:solidFill>
                <a:latin typeface="Times New Roman" pitchFamily="18" charset="0"/>
                <a:ea typeface="华文楷体" pitchFamily="2" charset="-122"/>
                <a:sym typeface="Times New Roman" pitchFamily="18" charset="0"/>
              </a:rPr>
              <a:t>利益无关方</a:t>
            </a:r>
            <a:r>
              <a:rPr lang="zh-CN" altLang="en-US" sz="2400">
                <a:latin typeface="Times New Roman" pitchFamily="18" charset="0"/>
                <a:ea typeface="华文楷体" pitchFamily="2" charset="-122"/>
                <a:sym typeface="Times New Roman" pitchFamily="18" charset="0"/>
              </a:rPr>
              <a:t>，如</a:t>
            </a:r>
            <a:r>
              <a:rPr lang="en-US" sz="2400">
                <a:latin typeface="Times New Roman" pitchFamily="18" charset="0"/>
                <a:ea typeface="华文楷体" pitchFamily="2" charset="-122"/>
                <a:sym typeface="Times New Roman" pitchFamily="18" charset="0"/>
              </a:rPr>
              <a:t>IT</a:t>
            </a:r>
            <a:r>
              <a:rPr lang="zh-CN" altLang="en-US" sz="2400">
                <a:latin typeface="Times New Roman" pitchFamily="18" charset="0"/>
                <a:ea typeface="华文楷体" pitchFamily="2" charset="-122"/>
                <a:sym typeface="Times New Roman" pitchFamily="18" charset="0"/>
              </a:rPr>
              <a:t>人员；要确保实验室分析人员，管理人员无法删除、覆盖、复制、改变或者篡改数据；所有人员使用自己的用户名和密码登录。</a:t>
            </a:r>
          </a:p>
        </p:txBody>
      </p:sp>
      <p:sp>
        <p:nvSpPr>
          <p:cNvPr id="44035" name="Rectangle 3"/>
          <p:cNvSpPr>
            <a:spLocks noChangeArrowheads="1"/>
          </p:cNvSpPr>
          <p:nvPr/>
        </p:nvSpPr>
        <p:spPr bwMode="auto">
          <a:xfrm>
            <a:off x="2846388" y="44450"/>
            <a:ext cx="57594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8</a:t>
            </a:r>
            <a:r>
              <a:rPr lang="zh-CN" altLang="en-US" sz="2400" b="1">
                <a:solidFill>
                  <a:srgbClr val="FFFF00"/>
                </a:solidFill>
                <a:latin typeface="Calibri" pitchFamily="34" charset="0"/>
                <a:ea typeface="楷体" pitchFamily="49" charset="-122"/>
                <a:sym typeface="Calibri" pitchFamily="34" charset="0"/>
              </a:rPr>
              <a:t>节：QC实验室的数据完整性管控设计</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5058" name="表格 1"/>
          <p:cNvGraphicFramePr>
            <a:graphicFrameLocks noGrp="1"/>
          </p:cNvGraphicFramePr>
          <p:nvPr/>
        </p:nvGraphicFramePr>
        <p:xfrm>
          <a:off x="515938" y="1774825"/>
          <a:ext cx="8258175" cy="4648200"/>
        </p:xfrm>
        <a:graphic>
          <a:graphicData uri="http://schemas.openxmlformats.org/drawingml/2006/table">
            <a:tbl>
              <a:tblPr/>
              <a:tblGrid>
                <a:gridCol w="1855787"/>
                <a:gridCol w="6402388"/>
              </a:tblGrid>
              <a:tr h="74612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FFFFFF"/>
                          </a:solidFill>
                          <a:effectLst/>
                          <a:latin typeface="Times New Roman" pitchFamily="18" charset="0"/>
                          <a:ea typeface="华文楷体" pitchFamily="2" charset="-122"/>
                          <a:sym typeface="Times New Roman" pitchFamily="18" charset="0"/>
                        </a:rPr>
                        <a:t>设备名称</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4F81BD"/>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FFFFFF"/>
                          </a:solidFill>
                          <a:effectLst/>
                          <a:latin typeface="Times New Roman" pitchFamily="18" charset="0"/>
                          <a:ea typeface="华文楷体" pitchFamily="2" charset="-122"/>
                          <a:sym typeface="Times New Roman" pitchFamily="18" charset="0"/>
                        </a:rPr>
                        <a:t>实验室仪器典型配置要求</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4F81BD"/>
                    </a:solidFill>
                  </a:tcPr>
                </a:tc>
              </a:tr>
              <a:tr h="747713">
                <a:tc gridSpan="2">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HPLC/GC——</a:t>
                      </a: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具有审计追踪功能的计算机化系统，连入服务器</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CFD8E7"/>
                    </a:solidFill>
                  </a:tcPr>
                </a:tc>
                <a:tc hMerge="1">
                  <a:txBody>
                    <a:bodyPr/>
                    <a:lstStyle/>
                    <a:p>
                      <a:endParaRPr lang="zh-CN" altLang="en-US"/>
                    </a:p>
                  </a:txBody>
                  <a:tcPr/>
                </a:tc>
              </a:tr>
              <a:tr h="746125">
                <a:tc gridSpan="2">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IR/NIR/UV——</a:t>
                      </a: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具有审计追踪功能的计算机化系统，单机版硬盘上的数据和审计追踪对应的文件应有防删除保护、远期应上服务器。</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E9ECF4"/>
                    </a:solidFill>
                  </a:tcPr>
                </a:tc>
                <a:tc hMerge="1">
                  <a:txBody>
                    <a:bodyPr/>
                    <a:lstStyle/>
                    <a:p>
                      <a:endParaRPr lang="zh-CN" altLang="en-US"/>
                    </a:p>
                  </a:txBody>
                  <a:tcPr/>
                </a:tc>
              </a:tr>
              <a:tr h="747713">
                <a:tc gridSpan="2">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电位滴定仪、卡式水分仪、</a:t>
                      </a:r>
                      <a:r>
                        <a:rPr kumimoji="0" 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pH</a:t>
                      </a: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计</a:t>
                      </a:r>
                      <a:r>
                        <a:rPr kumimoji="0" 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a:t>
                      </a: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天平：至少现在要连接打印机，以后升级（例如电位滴定仪、卡式水分仪）</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CFD8E7"/>
                    </a:solidFill>
                  </a:tcPr>
                </a:tc>
                <a:tc hMerge="1">
                  <a:txBody>
                    <a:bodyPr/>
                    <a:lstStyle/>
                    <a:p>
                      <a:endParaRPr lang="zh-CN" altLang="en-US"/>
                    </a:p>
                  </a:txBody>
                  <a:tcPr/>
                </a:tc>
              </a:tr>
              <a:tr h="914400">
                <a:tc gridSpan="2">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TOC</a:t>
                      </a: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、内毒素测定仪、效价圈测量仪、稳定性实验箱</a:t>
                      </a:r>
                      <a:r>
                        <a:rPr kumimoji="0" 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a:t>
                      </a: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具有审计追踪功能的计算机化系统（</a:t>
                      </a:r>
                      <a:r>
                        <a:rPr kumimoji="0" lang="zh-CN" altLang="en-US" sz="1800" b="1" i="0" u="none" strike="noStrike" cap="none" normalizeH="0" baseline="0" smtClean="0">
                          <a:ln>
                            <a:noFill/>
                          </a:ln>
                          <a:solidFill>
                            <a:srgbClr val="FF0000"/>
                          </a:solidFill>
                          <a:effectLst/>
                          <a:latin typeface="Times New Roman" pitchFamily="18" charset="0"/>
                          <a:ea typeface="华文楷体" pitchFamily="2" charset="-122"/>
                          <a:sym typeface="Times New Roman" pitchFamily="18" charset="0"/>
                        </a:rPr>
                        <a:t>远期</a:t>
                      </a: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），单机版硬盘上的数据和审计追踪对应，应有防删除保护系统。</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E9ECF4"/>
                    </a:solidFill>
                  </a:tcPr>
                </a:tc>
                <a:tc hMerge="1">
                  <a:txBody>
                    <a:bodyPr/>
                    <a:lstStyle/>
                    <a:p>
                      <a:endParaRPr lang="zh-CN" altLang="en-US"/>
                    </a:p>
                  </a:txBody>
                  <a:tcPr/>
                </a:tc>
              </a:tr>
              <a:tr h="746125">
                <a:tc gridSpan="2">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尘埃粒子仪</a:t>
                      </a:r>
                      <a:r>
                        <a:rPr kumimoji="0" 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a:t>
                      </a: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配置打印机（</a:t>
                      </a:r>
                      <a:r>
                        <a:rPr kumimoji="0" lang="zh-CN" altLang="en-US" sz="1800" b="1" i="0" u="none" strike="noStrike" cap="none" normalizeH="0" baseline="0" smtClean="0">
                          <a:ln>
                            <a:noFill/>
                          </a:ln>
                          <a:solidFill>
                            <a:srgbClr val="FF0000"/>
                          </a:solidFill>
                          <a:effectLst/>
                          <a:latin typeface="Times New Roman" pitchFamily="18" charset="0"/>
                          <a:ea typeface="华文楷体" pitchFamily="2" charset="-122"/>
                          <a:sym typeface="Times New Roman" pitchFamily="18" charset="0"/>
                        </a:rPr>
                        <a:t>上具有存储数据功能的软件好吗</a:t>
                      </a:r>
                      <a:r>
                        <a:rPr kumimoji="0" lang="zh-CN" altLang="en-US" sz="1800" b="0" i="0" u="none" strike="noStrike" cap="none" normalizeH="0" baseline="0" smtClean="0">
                          <a:ln>
                            <a:noFill/>
                          </a:ln>
                          <a:solidFill>
                            <a:srgbClr val="000000"/>
                          </a:solidFill>
                          <a:effectLst/>
                          <a:latin typeface="Times New Roman" pitchFamily="18" charset="0"/>
                          <a:ea typeface="华文楷体" pitchFamily="2" charset="-122"/>
                          <a:sym typeface="Times New Roman" pitchFamily="18" charset="0"/>
                        </a:rPr>
                        <a:t>）</a:t>
                      </a:r>
                    </a:p>
                  </a:txBody>
                  <a:tcPr anchor="ctr"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CFD8E7"/>
                    </a:solidFill>
                  </a:tcPr>
                </a:tc>
                <a:tc hMerge="1">
                  <a:txBody>
                    <a:bodyPr/>
                    <a:lstStyle/>
                    <a:p>
                      <a:endParaRPr lang="zh-CN" altLang="en-US"/>
                    </a:p>
                  </a:txBody>
                  <a:tcPr/>
                </a:tc>
              </a:tr>
            </a:tbl>
          </a:graphicData>
        </a:graphic>
      </p:graphicFrame>
      <p:sp>
        <p:nvSpPr>
          <p:cNvPr id="45076" name="标题 1"/>
          <p:cNvSpPr>
            <a:spLocks noChangeArrowheads="1"/>
          </p:cNvSpPr>
          <p:nvPr/>
        </p:nvSpPr>
        <p:spPr bwMode="auto">
          <a:xfrm>
            <a:off x="457200" y="914400"/>
            <a:ext cx="82296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lnSpc>
                <a:spcPct val="150000"/>
              </a:lnSpc>
            </a:pPr>
            <a:r>
              <a:rPr lang="zh-CN" altLang="en-US" sz="2800" b="1">
                <a:solidFill>
                  <a:srgbClr val="FF0000"/>
                </a:solidFill>
                <a:latin typeface="Times New Roman" pitchFamily="18" charset="0"/>
                <a:ea typeface="华文楷体" pitchFamily="2" charset="-122"/>
                <a:sym typeface="Times New Roman" pitchFamily="18" charset="0"/>
              </a:rPr>
              <a:t>实验室仪器配置要求</a:t>
            </a:r>
          </a:p>
        </p:txBody>
      </p:sp>
      <p:sp>
        <p:nvSpPr>
          <p:cNvPr id="45077" name="Rectangle 3"/>
          <p:cNvSpPr>
            <a:spLocks noChangeArrowheads="1"/>
          </p:cNvSpPr>
          <p:nvPr/>
        </p:nvSpPr>
        <p:spPr bwMode="auto">
          <a:xfrm>
            <a:off x="2846388" y="44450"/>
            <a:ext cx="57594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8</a:t>
            </a:r>
            <a:r>
              <a:rPr lang="zh-CN" altLang="en-US" sz="2400" b="1">
                <a:solidFill>
                  <a:srgbClr val="FFFF00"/>
                </a:solidFill>
                <a:latin typeface="Calibri" pitchFamily="34" charset="0"/>
                <a:ea typeface="楷体" pitchFamily="49" charset="-122"/>
                <a:sym typeface="Calibri" pitchFamily="34" charset="0"/>
              </a:rPr>
              <a:t>节：QC实验室的数据完整性管控设计</a:t>
            </a:r>
          </a:p>
        </p:txBody>
      </p:sp>
    </p:spTree>
  </p:cSld>
  <p:clrMapOvr>
    <a:masterClrMapping/>
  </p:clrMapOvr>
  <p:transition>
    <p:strips dir="ld"/>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标题 1"/>
          <p:cNvSpPr>
            <a:spLocks noChangeArrowheads="1"/>
          </p:cNvSpPr>
          <p:nvPr/>
        </p:nvSpPr>
        <p:spPr bwMode="auto">
          <a:xfrm>
            <a:off x="466725" y="260350"/>
            <a:ext cx="82296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chemeClr val="accent1"/>
              </a:solidFill>
              <a:latin typeface="Times New Roman" pitchFamily="18" charset="0"/>
              <a:ea typeface="华文楷体" pitchFamily="2" charset="-122"/>
              <a:sym typeface="Times New Roman" pitchFamily="18" charset="0"/>
            </a:endParaRPr>
          </a:p>
        </p:txBody>
      </p:sp>
      <p:sp>
        <p:nvSpPr>
          <p:cNvPr id="46083" name="内容占位符 2"/>
          <p:cNvSpPr>
            <a:spLocks noChangeArrowheads="1"/>
          </p:cNvSpPr>
          <p:nvPr/>
        </p:nvSpPr>
        <p:spPr bwMode="auto">
          <a:xfrm>
            <a:off x="250825" y="766763"/>
            <a:ext cx="8713788"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marL="342900" indent="-342900" algn="ctr">
              <a:spcBef>
                <a:spcPct val="20000"/>
              </a:spcBef>
            </a:pPr>
            <a:endParaRPr lang="zh-CN" altLang="en-US" sz="2800" b="1">
              <a:solidFill>
                <a:srgbClr val="FF0000"/>
              </a:solidFill>
              <a:latin typeface="Times New Roman" pitchFamily="18" charset="0"/>
              <a:ea typeface="华文楷体" pitchFamily="2" charset="-122"/>
              <a:sym typeface="Times New Roman" pitchFamily="18" charset="0"/>
            </a:endParaRPr>
          </a:p>
          <a:p>
            <a:pPr marL="342900" indent="-342900" algn="ctr">
              <a:spcBef>
                <a:spcPct val="20000"/>
              </a:spcBef>
            </a:pPr>
            <a:r>
              <a:rPr lang="zh-CN" altLang="en-US" sz="2800" b="1">
                <a:solidFill>
                  <a:srgbClr val="FF0000"/>
                </a:solidFill>
                <a:latin typeface="Times New Roman" pitchFamily="18" charset="0"/>
                <a:ea typeface="华文楷体" pitchFamily="2" charset="-122"/>
                <a:sym typeface="Times New Roman" pitchFamily="18" charset="0"/>
              </a:rPr>
              <a:t>研发实验室的数据完整性管控策略</a:t>
            </a:r>
          </a:p>
          <a:p>
            <a:pPr marL="342900" indent="-342900" algn="ctr">
              <a:spcBef>
                <a:spcPct val="20000"/>
              </a:spcBef>
            </a:pPr>
            <a:endParaRPr lang="zh-CN" altLang="en-US" sz="2800" b="1">
              <a:solidFill>
                <a:srgbClr val="FF0000"/>
              </a:solidFill>
              <a:latin typeface="Times New Roman" pitchFamily="18" charset="0"/>
              <a:ea typeface="华文楷体" pitchFamily="2" charset="-122"/>
              <a:sym typeface="Times New Roman" pitchFamily="18" charset="0"/>
            </a:endParaRPr>
          </a:p>
          <a:p>
            <a:pPr marL="342900" indent="-342900">
              <a:lnSpc>
                <a:spcPct val="150000"/>
              </a:lnSpc>
              <a:buFont typeface="Wingdings" pitchFamily="2" charset="2"/>
              <a:buChar char="n"/>
            </a:pPr>
            <a:r>
              <a:rPr lang="zh-CN" altLang="en-US" sz="2400" b="1">
                <a:solidFill>
                  <a:srgbClr val="000000"/>
                </a:solidFill>
                <a:latin typeface="Times New Roman" pitchFamily="18" charset="0"/>
                <a:ea typeface="华文楷体" pitchFamily="2" charset="-122"/>
                <a:sym typeface="Times New Roman" pitchFamily="18" charset="0"/>
              </a:rPr>
              <a:t>研发</a:t>
            </a:r>
            <a:r>
              <a:rPr lang="en-US" sz="2400" b="1">
                <a:solidFill>
                  <a:srgbClr val="000000"/>
                </a:solidFill>
                <a:latin typeface="Times New Roman" pitchFamily="18" charset="0"/>
                <a:ea typeface="华文楷体" pitchFamily="2" charset="-122"/>
                <a:sym typeface="Times New Roman" pitchFamily="18" charset="0"/>
              </a:rPr>
              <a:t>QC</a:t>
            </a:r>
            <a:r>
              <a:rPr lang="zh-CN" altLang="en-US" sz="2400" b="1">
                <a:solidFill>
                  <a:srgbClr val="000000"/>
                </a:solidFill>
                <a:latin typeface="Times New Roman" pitchFamily="18" charset="0"/>
                <a:ea typeface="华文楷体" pitchFamily="2" charset="-122"/>
                <a:sym typeface="Times New Roman" pitchFamily="18" charset="0"/>
              </a:rPr>
              <a:t>或研发检测中心的管理（制剂研发与</a:t>
            </a:r>
            <a:r>
              <a:rPr lang="en-US" sz="2400" b="1">
                <a:solidFill>
                  <a:srgbClr val="000000"/>
                </a:solidFill>
                <a:latin typeface="Times New Roman" pitchFamily="18" charset="0"/>
                <a:ea typeface="华文楷体" pitchFamily="2" charset="-122"/>
                <a:sym typeface="Times New Roman" pitchFamily="18" charset="0"/>
              </a:rPr>
              <a:t>API</a:t>
            </a:r>
            <a:r>
              <a:rPr lang="zh-CN" altLang="en-US" sz="2400" b="1">
                <a:solidFill>
                  <a:srgbClr val="000000"/>
                </a:solidFill>
                <a:latin typeface="Times New Roman" pitchFamily="18" charset="0"/>
                <a:ea typeface="华文楷体" pitchFamily="2" charset="-122"/>
                <a:sym typeface="Times New Roman" pitchFamily="18" charset="0"/>
              </a:rPr>
              <a:t>研发）</a:t>
            </a:r>
            <a:endParaRPr lang="en-US" sz="2400" b="1">
              <a:solidFill>
                <a:srgbClr val="000000"/>
              </a:solidFill>
              <a:latin typeface="Times New Roman" pitchFamily="18" charset="0"/>
              <a:ea typeface="华文楷体" pitchFamily="2" charset="-122"/>
              <a:sym typeface="Times New Roman" pitchFamily="18" charset="0"/>
            </a:endParaRPr>
          </a:p>
          <a:p>
            <a:pPr marL="971550" lvl="1" indent="-514350">
              <a:lnSpc>
                <a:spcPct val="150000"/>
              </a:lnSpc>
              <a:buFont typeface="Wingdings" pitchFamily="2" charset="2"/>
              <a:buChar char="p"/>
            </a:pPr>
            <a:r>
              <a:rPr lang="zh-CN" altLang="en-US" sz="2400" b="1">
                <a:solidFill>
                  <a:srgbClr val="000000"/>
                </a:solidFill>
                <a:latin typeface="Times New Roman" pitchFamily="18" charset="0"/>
                <a:ea typeface="华文楷体" pitchFamily="2" charset="-122"/>
                <a:sym typeface="Times New Roman" pitchFamily="18" charset="0"/>
              </a:rPr>
              <a:t>应具一定的数据完整性控制（程序、资源与运作）</a:t>
            </a:r>
            <a:endParaRPr lang="en-US" sz="2400" b="1">
              <a:solidFill>
                <a:srgbClr val="000000"/>
              </a:solidFill>
              <a:latin typeface="Times New Roman" pitchFamily="18" charset="0"/>
              <a:ea typeface="华文楷体" pitchFamily="2" charset="-122"/>
              <a:sym typeface="Times New Roman" pitchFamily="18" charset="0"/>
            </a:endParaRPr>
          </a:p>
          <a:p>
            <a:pPr marL="971550" lvl="1" indent="-514350">
              <a:lnSpc>
                <a:spcPct val="150000"/>
              </a:lnSpc>
              <a:buFont typeface="Wingdings" pitchFamily="2" charset="2"/>
              <a:buChar char="p"/>
            </a:pPr>
            <a:r>
              <a:rPr lang="zh-CN" altLang="en-US" sz="2400" b="1">
                <a:solidFill>
                  <a:srgbClr val="000000"/>
                </a:solidFill>
                <a:latin typeface="Times New Roman" pitchFamily="18" charset="0"/>
                <a:ea typeface="华文楷体" pitchFamily="2" charset="-122"/>
                <a:sym typeface="Times New Roman" pitchFamily="18" charset="0"/>
              </a:rPr>
              <a:t>用于人的</a:t>
            </a:r>
            <a:r>
              <a:rPr lang="en-US" sz="2400" b="1">
                <a:solidFill>
                  <a:srgbClr val="000000"/>
                </a:solidFill>
                <a:latin typeface="Times New Roman" pitchFamily="18" charset="0"/>
                <a:ea typeface="华文楷体" pitchFamily="2" charset="-122"/>
                <a:sym typeface="Times New Roman" pitchFamily="18" charset="0"/>
              </a:rPr>
              <a:t>API</a:t>
            </a:r>
            <a:r>
              <a:rPr lang="zh-CN" altLang="en-US" sz="2400" b="1">
                <a:solidFill>
                  <a:srgbClr val="000000"/>
                </a:solidFill>
                <a:latin typeface="Times New Roman" pitchFamily="18" charset="0"/>
                <a:ea typeface="华文楷体" pitchFamily="2" charset="-122"/>
                <a:sym typeface="Times New Roman" pitchFamily="18" charset="0"/>
              </a:rPr>
              <a:t>或临床药品的控制与</a:t>
            </a:r>
            <a:r>
              <a:rPr lang="en-US" sz="2400" b="1">
                <a:solidFill>
                  <a:srgbClr val="000000"/>
                </a:solidFill>
                <a:latin typeface="Times New Roman" pitchFamily="18" charset="0"/>
                <a:ea typeface="华文楷体" pitchFamily="2" charset="-122"/>
                <a:sym typeface="Times New Roman" pitchFamily="18" charset="0"/>
              </a:rPr>
              <a:t>GMP</a:t>
            </a:r>
            <a:r>
              <a:rPr lang="zh-CN" altLang="en-US" sz="2400" b="1">
                <a:solidFill>
                  <a:srgbClr val="000000"/>
                </a:solidFill>
                <a:latin typeface="Times New Roman" pitchFamily="18" charset="0"/>
                <a:ea typeface="华文楷体" pitchFamily="2" charset="-122"/>
                <a:sym typeface="Times New Roman" pitchFamily="18" charset="0"/>
              </a:rPr>
              <a:t>厂相同</a:t>
            </a:r>
            <a:endParaRPr lang="en-US" sz="2400" b="1">
              <a:solidFill>
                <a:srgbClr val="000000"/>
              </a:solidFill>
              <a:latin typeface="Times New Roman" pitchFamily="18" charset="0"/>
              <a:ea typeface="华文楷体" pitchFamily="2" charset="-122"/>
              <a:sym typeface="Times New Roman" pitchFamily="18" charset="0"/>
            </a:endParaRPr>
          </a:p>
          <a:p>
            <a:pPr marL="971550" lvl="1" indent="-514350">
              <a:lnSpc>
                <a:spcPct val="150000"/>
              </a:lnSpc>
              <a:buFont typeface="Wingdings" pitchFamily="2" charset="2"/>
              <a:buChar char="p"/>
            </a:pPr>
            <a:r>
              <a:rPr lang="zh-CN" altLang="en-US" sz="2400" b="1">
                <a:solidFill>
                  <a:srgbClr val="000000"/>
                </a:solidFill>
                <a:latin typeface="Times New Roman" pitchFamily="18" charset="0"/>
                <a:ea typeface="华文楷体" pitchFamily="2" charset="-122"/>
                <a:sym typeface="Times New Roman" pitchFamily="18" charset="0"/>
              </a:rPr>
              <a:t>制剂研发实验室与</a:t>
            </a:r>
            <a:r>
              <a:rPr lang="en-US" sz="2400" b="1">
                <a:solidFill>
                  <a:srgbClr val="000000"/>
                </a:solidFill>
                <a:latin typeface="Times New Roman" pitchFamily="18" charset="0"/>
                <a:ea typeface="华文楷体" pitchFamily="2" charset="-122"/>
                <a:sym typeface="Times New Roman" pitchFamily="18" charset="0"/>
              </a:rPr>
              <a:t>API</a:t>
            </a:r>
            <a:r>
              <a:rPr lang="zh-CN" altLang="en-US" sz="2400" b="1">
                <a:solidFill>
                  <a:srgbClr val="000000"/>
                </a:solidFill>
                <a:latin typeface="Times New Roman" pitchFamily="18" charset="0"/>
                <a:ea typeface="华文楷体" pitchFamily="2" charset="-122"/>
                <a:sym typeface="Times New Roman" pitchFamily="18" charset="0"/>
              </a:rPr>
              <a:t>研发实验室应区别对待（如果研发机构很大两者分开设置也是一种好的选择，因设备不一样，研究方向不一样。人员要求也不一样等）</a:t>
            </a:r>
            <a:endParaRPr lang="en-US" sz="2400" b="1">
              <a:solidFill>
                <a:srgbClr val="000000"/>
              </a:solidFill>
              <a:latin typeface="Times New Roman" pitchFamily="18" charset="0"/>
              <a:ea typeface="华文楷体" pitchFamily="2" charset="-122"/>
              <a:sym typeface="Times New Roman" pitchFamily="18" charset="0"/>
            </a:endParaRPr>
          </a:p>
          <a:p>
            <a:pPr marL="971550" lvl="1" indent="-514350">
              <a:lnSpc>
                <a:spcPct val="150000"/>
              </a:lnSpc>
              <a:buFont typeface="Wingdings" pitchFamily="2" charset="2"/>
              <a:buChar char="p"/>
            </a:pPr>
            <a:r>
              <a:rPr lang="zh-CN" altLang="en-US" sz="2400" b="1">
                <a:solidFill>
                  <a:srgbClr val="000000"/>
                </a:solidFill>
                <a:latin typeface="Times New Roman" pitchFamily="18" charset="0"/>
                <a:ea typeface="华文楷体" pitchFamily="2" charset="-122"/>
                <a:sym typeface="Times New Roman" pitchFamily="18" charset="0"/>
              </a:rPr>
              <a:t>研发</a:t>
            </a:r>
            <a:r>
              <a:rPr lang="en-US" sz="2400" b="1">
                <a:solidFill>
                  <a:srgbClr val="000000"/>
                </a:solidFill>
                <a:latin typeface="Times New Roman" pitchFamily="18" charset="0"/>
                <a:ea typeface="华文楷体" pitchFamily="2" charset="-122"/>
                <a:sym typeface="Times New Roman" pitchFamily="18" charset="0"/>
              </a:rPr>
              <a:t>QA</a:t>
            </a:r>
            <a:r>
              <a:rPr lang="zh-CN" altLang="en-US" sz="2400" b="1">
                <a:solidFill>
                  <a:srgbClr val="000000"/>
                </a:solidFill>
                <a:latin typeface="Times New Roman" pitchFamily="18" charset="0"/>
                <a:ea typeface="华文楷体" pitchFamily="2" charset="-122"/>
                <a:sym typeface="Times New Roman" pitchFamily="18" charset="0"/>
              </a:rPr>
              <a:t>的审核与公司的</a:t>
            </a:r>
            <a:r>
              <a:rPr lang="en-US" sz="2400" b="1">
                <a:solidFill>
                  <a:srgbClr val="000000"/>
                </a:solidFill>
                <a:latin typeface="Times New Roman" pitchFamily="18" charset="0"/>
                <a:ea typeface="华文楷体" pitchFamily="2" charset="-122"/>
                <a:sym typeface="Times New Roman" pitchFamily="18" charset="0"/>
              </a:rPr>
              <a:t>QA</a:t>
            </a:r>
            <a:r>
              <a:rPr lang="zh-CN" altLang="en-US" sz="2400" b="1">
                <a:solidFill>
                  <a:srgbClr val="000000"/>
                </a:solidFill>
                <a:latin typeface="Times New Roman" pitchFamily="18" charset="0"/>
                <a:ea typeface="华文楷体" pitchFamily="2" charset="-122"/>
                <a:sym typeface="Times New Roman" pitchFamily="18" charset="0"/>
              </a:rPr>
              <a:t>的审计应包括</a:t>
            </a:r>
            <a:r>
              <a:rPr lang="en-US" sz="2400" b="1">
                <a:solidFill>
                  <a:srgbClr val="000000"/>
                </a:solidFill>
                <a:latin typeface="Times New Roman" pitchFamily="18" charset="0"/>
                <a:ea typeface="华文楷体" pitchFamily="2" charset="-122"/>
                <a:sym typeface="Times New Roman" pitchFamily="18" charset="0"/>
              </a:rPr>
              <a:t>DI</a:t>
            </a:r>
            <a:r>
              <a:rPr lang="zh-CN" altLang="en-US" sz="2400" b="1">
                <a:solidFill>
                  <a:srgbClr val="000000"/>
                </a:solidFill>
                <a:latin typeface="Times New Roman" pitchFamily="18" charset="0"/>
                <a:ea typeface="华文楷体" pitchFamily="2" charset="-122"/>
                <a:sym typeface="Times New Roman" pitchFamily="18" charset="0"/>
              </a:rPr>
              <a:t>方面的要求</a:t>
            </a:r>
            <a:endParaRPr lang="en-US" sz="2400" b="1">
              <a:solidFill>
                <a:srgbClr val="000000"/>
              </a:solidFill>
              <a:latin typeface="Times New Roman" pitchFamily="18" charset="0"/>
              <a:ea typeface="华文楷体" pitchFamily="2" charset="-122"/>
              <a:sym typeface="Times New Roman" pitchFamily="18" charset="0"/>
            </a:endParaRPr>
          </a:p>
        </p:txBody>
      </p:sp>
      <p:sp>
        <p:nvSpPr>
          <p:cNvPr id="46084" name="Rectangle 3"/>
          <p:cNvSpPr>
            <a:spLocks noChangeArrowheads="1"/>
          </p:cNvSpPr>
          <p:nvPr/>
        </p:nvSpPr>
        <p:spPr bwMode="auto">
          <a:xfrm>
            <a:off x="2416175" y="44450"/>
            <a:ext cx="6118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nchor="ct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9</a:t>
            </a:r>
            <a:r>
              <a:rPr lang="zh-CN" altLang="en-US" sz="2400" b="1">
                <a:solidFill>
                  <a:srgbClr val="FFFF00"/>
                </a:solidFill>
                <a:latin typeface="Calibri" pitchFamily="34" charset="0"/>
                <a:ea typeface="楷体" pitchFamily="49" charset="-122"/>
                <a:sym typeface="Calibri" pitchFamily="34" charset="0"/>
              </a:rPr>
              <a:t>节：研发注册中的数据完整性管控要点</a:t>
            </a:r>
          </a:p>
        </p:txBody>
      </p:sp>
    </p:spTree>
  </p:cSld>
  <p:clrMapOvr>
    <a:masterClrMapping/>
  </p:clrMapOvr>
  <p:transition>
    <p:strips dir="ld"/>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标题 1"/>
          <p:cNvSpPr>
            <a:spLocks noChangeArrowheads="1"/>
          </p:cNvSpPr>
          <p:nvPr/>
        </p:nvSpPr>
        <p:spPr bwMode="auto">
          <a:xfrm>
            <a:off x="457200" y="763588"/>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r>
              <a:rPr lang="zh-CN" altLang="en-US" sz="2800" b="1">
                <a:solidFill>
                  <a:schemeClr val="accent1"/>
                </a:solidFill>
                <a:latin typeface="Times New Roman" pitchFamily="18" charset="0"/>
                <a:ea typeface="华文楷体" pitchFamily="2" charset="-122"/>
                <a:sym typeface="Times New Roman" pitchFamily="18" charset="0"/>
              </a:rPr>
              <a:t>第三章：数据完整性的预防与管理</a:t>
            </a:r>
          </a:p>
        </p:txBody>
      </p:sp>
      <p:sp>
        <p:nvSpPr>
          <p:cNvPr id="47107" name="内容占位符 2"/>
          <p:cNvSpPr>
            <a:spLocks noChangeArrowheads="1"/>
          </p:cNvSpPr>
          <p:nvPr/>
        </p:nvSpPr>
        <p:spPr bwMode="auto">
          <a:xfrm>
            <a:off x="250825" y="1339850"/>
            <a:ext cx="8713788" cy="493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1</a:t>
            </a:r>
            <a:r>
              <a:rPr lang="zh-CN" altLang="en-US" sz="2400" b="1">
                <a:solidFill>
                  <a:srgbClr val="000000"/>
                </a:solidFill>
                <a:latin typeface="Times New Roman" pitchFamily="18" charset="0"/>
                <a:ea typeface="华文楷体" pitchFamily="2" charset="-122"/>
                <a:sym typeface="Times New Roman" pitchFamily="18" charset="0"/>
              </a:rPr>
              <a:t>节：数据完整性管控策略与基本要求</a:t>
            </a:r>
            <a:endParaRPr lang="en-US" sz="2400" b="1">
              <a:solidFill>
                <a:srgbClr val="000000"/>
              </a:solidFill>
              <a:latin typeface="Times New Roman" pitchFamily="18" charset="0"/>
              <a:ea typeface="华文楷体" pitchFamily="2" charset="-122"/>
              <a:sym typeface="Times New Roman" pitchFamily="18" charset="0"/>
            </a:endParaRPr>
          </a:p>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2</a:t>
            </a:r>
            <a:r>
              <a:rPr lang="zh-CN" altLang="en-US" sz="2400" b="1">
                <a:solidFill>
                  <a:srgbClr val="000000"/>
                </a:solidFill>
                <a:latin typeface="Times New Roman" pitchFamily="18" charset="0"/>
                <a:ea typeface="华文楷体" pitchFamily="2" charset="-122"/>
                <a:sym typeface="Times New Roman" pitchFamily="18" charset="0"/>
              </a:rPr>
              <a:t>节：计算机化系统的管理核心内容与关键点控制</a:t>
            </a:r>
            <a:endParaRPr lang="en-US" sz="2400" b="1">
              <a:solidFill>
                <a:srgbClr val="000000"/>
              </a:solidFill>
              <a:latin typeface="Times New Roman" pitchFamily="18" charset="0"/>
              <a:ea typeface="华文楷体" pitchFamily="2" charset="-122"/>
              <a:sym typeface="Times New Roman" pitchFamily="18" charset="0"/>
            </a:endParaRPr>
          </a:p>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3</a:t>
            </a:r>
            <a:r>
              <a:rPr lang="zh-CN" altLang="en-US" sz="2400" b="1">
                <a:solidFill>
                  <a:srgbClr val="000000"/>
                </a:solidFill>
                <a:latin typeface="Times New Roman" pitchFamily="18" charset="0"/>
                <a:ea typeface="华文楷体" pitchFamily="2" charset="-122"/>
                <a:sym typeface="Times New Roman" pitchFamily="18" charset="0"/>
              </a:rPr>
              <a:t>节：</a:t>
            </a:r>
            <a:r>
              <a:rPr lang="en-US" sz="2400" b="1">
                <a:solidFill>
                  <a:srgbClr val="000000"/>
                </a:solidFill>
                <a:latin typeface="Times New Roman" pitchFamily="18" charset="0"/>
                <a:ea typeface="华文楷体" pitchFamily="2" charset="-122"/>
                <a:sym typeface="Times New Roman" pitchFamily="18" charset="0"/>
              </a:rPr>
              <a:t>FDA</a:t>
            </a:r>
            <a:r>
              <a:rPr lang="zh-CN" altLang="en-US" sz="2400" b="1">
                <a:solidFill>
                  <a:srgbClr val="000000"/>
                </a:solidFill>
                <a:latin typeface="Times New Roman" pitchFamily="18" charset="0"/>
                <a:ea typeface="华文楷体" pitchFamily="2" charset="-122"/>
                <a:sym typeface="Times New Roman" pitchFamily="18" charset="0"/>
              </a:rPr>
              <a:t>对数据完整性和</a:t>
            </a:r>
            <a:r>
              <a:rPr lang="en-US" sz="2400" b="1">
                <a:solidFill>
                  <a:srgbClr val="000000"/>
                </a:solidFill>
                <a:latin typeface="Times New Roman" pitchFamily="18" charset="0"/>
                <a:ea typeface="华文楷体" pitchFamily="2" charset="-122"/>
                <a:sym typeface="Times New Roman" pitchFamily="18" charset="0"/>
              </a:rPr>
              <a:t>cGMP</a:t>
            </a:r>
            <a:r>
              <a:rPr lang="zh-CN" altLang="en-US" sz="2400" b="1">
                <a:solidFill>
                  <a:srgbClr val="000000"/>
                </a:solidFill>
                <a:latin typeface="Times New Roman" pitchFamily="18" charset="0"/>
                <a:ea typeface="华文楷体" pitchFamily="2" charset="-122"/>
                <a:sym typeface="Times New Roman" pitchFamily="18" charset="0"/>
              </a:rPr>
              <a:t>合规指南草案的关键点分析</a:t>
            </a:r>
            <a:endParaRPr lang="en-US" sz="2400" b="1">
              <a:solidFill>
                <a:srgbClr val="000000"/>
              </a:solidFill>
              <a:latin typeface="Times New Roman" pitchFamily="18" charset="0"/>
              <a:ea typeface="华文楷体" pitchFamily="2" charset="-122"/>
              <a:sym typeface="Times New Roman" pitchFamily="18" charset="0"/>
            </a:endParaRPr>
          </a:p>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4</a:t>
            </a:r>
            <a:r>
              <a:rPr lang="zh-CN" altLang="en-US" sz="2400" b="1">
                <a:solidFill>
                  <a:srgbClr val="000000"/>
                </a:solidFill>
                <a:latin typeface="Times New Roman" pitchFamily="18" charset="0"/>
                <a:ea typeface="华文楷体" pitchFamily="2" charset="-122"/>
                <a:sym typeface="Times New Roman" pitchFamily="18" charset="0"/>
              </a:rPr>
              <a:t>节：欧盟</a:t>
            </a:r>
            <a:r>
              <a:rPr lang="en-US" sz="2400" b="1">
                <a:solidFill>
                  <a:srgbClr val="000000"/>
                </a:solidFill>
                <a:latin typeface="Times New Roman" pitchFamily="18" charset="0"/>
                <a:ea typeface="华文楷体" pitchFamily="2" charset="-122"/>
                <a:sym typeface="Times New Roman" pitchFamily="18" charset="0"/>
              </a:rPr>
              <a:t>/WHO/CFDA</a:t>
            </a:r>
            <a:r>
              <a:rPr lang="zh-CN" altLang="en-US" sz="2400" b="1">
                <a:solidFill>
                  <a:srgbClr val="000000"/>
                </a:solidFill>
                <a:latin typeface="Times New Roman" pitchFamily="18" charset="0"/>
                <a:ea typeface="华文楷体" pitchFamily="2" charset="-122"/>
                <a:sym typeface="Times New Roman" pitchFamily="18" charset="0"/>
              </a:rPr>
              <a:t>对数据完整性治理的关键点分析</a:t>
            </a:r>
            <a:endParaRPr lang="en-US" sz="2400" b="1">
              <a:solidFill>
                <a:srgbClr val="000000"/>
              </a:solidFill>
              <a:latin typeface="Times New Roman" pitchFamily="18" charset="0"/>
              <a:ea typeface="华文楷体" pitchFamily="2" charset="-122"/>
              <a:sym typeface="Times New Roman" pitchFamily="18" charset="0"/>
            </a:endParaRPr>
          </a:p>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5</a:t>
            </a:r>
            <a:r>
              <a:rPr lang="zh-CN" altLang="en-US" sz="2400" b="1">
                <a:solidFill>
                  <a:srgbClr val="000000"/>
                </a:solidFill>
                <a:latin typeface="Times New Roman" pitchFamily="18" charset="0"/>
                <a:ea typeface="华文楷体" pitchFamily="2" charset="-122"/>
                <a:sym typeface="Times New Roman" pitchFamily="18" charset="0"/>
              </a:rPr>
              <a:t>节：</a:t>
            </a:r>
            <a:r>
              <a:rPr lang="en-US" sz="2400" b="1">
                <a:solidFill>
                  <a:srgbClr val="000000"/>
                </a:solidFill>
                <a:latin typeface="Times New Roman" pitchFamily="18" charset="0"/>
                <a:ea typeface="华文楷体" pitchFamily="2" charset="-122"/>
                <a:sym typeface="Times New Roman" pitchFamily="18" charset="0"/>
              </a:rPr>
              <a:t>PDA——</a:t>
            </a:r>
            <a:r>
              <a:rPr lang="zh-CN" altLang="en-US" sz="2400" b="1">
                <a:solidFill>
                  <a:srgbClr val="000000"/>
                </a:solidFill>
                <a:latin typeface="Times New Roman" pitchFamily="18" charset="0"/>
                <a:ea typeface="华文楷体" pitchFamily="2" charset="-122"/>
                <a:sym typeface="Times New Roman" pitchFamily="18" charset="0"/>
              </a:rPr>
              <a:t>数据完整性行为守则要素的关键点分析</a:t>
            </a:r>
            <a:endParaRPr lang="en-US" sz="2400" b="1">
              <a:solidFill>
                <a:srgbClr val="000000"/>
              </a:solidFill>
              <a:latin typeface="Times New Roman" pitchFamily="18" charset="0"/>
              <a:ea typeface="华文楷体" pitchFamily="2" charset="-122"/>
              <a:sym typeface="Times New Roman" pitchFamily="18" charset="0"/>
            </a:endParaRPr>
          </a:p>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6</a:t>
            </a:r>
            <a:r>
              <a:rPr lang="zh-CN" altLang="en-US" sz="2400" b="1">
                <a:solidFill>
                  <a:srgbClr val="000000"/>
                </a:solidFill>
                <a:latin typeface="Times New Roman" pitchFamily="18" charset="0"/>
                <a:ea typeface="华文楷体" pitchFamily="2" charset="-122"/>
                <a:sym typeface="Times New Roman" pitchFamily="18" charset="0"/>
              </a:rPr>
              <a:t>节：数据完整性管理的有效技术措施与管理措施</a:t>
            </a:r>
            <a:endParaRPr lang="en-US" sz="2400" b="1">
              <a:solidFill>
                <a:srgbClr val="000000"/>
              </a:solidFill>
              <a:latin typeface="Times New Roman" pitchFamily="18" charset="0"/>
              <a:ea typeface="华文楷体" pitchFamily="2" charset="-122"/>
              <a:sym typeface="Times New Roman" pitchFamily="18" charset="0"/>
            </a:endParaRPr>
          </a:p>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7</a:t>
            </a:r>
            <a:r>
              <a:rPr lang="zh-CN" altLang="en-US" sz="2400" b="1">
                <a:solidFill>
                  <a:srgbClr val="000000"/>
                </a:solidFill>
                <a:latin typeface="Times New Roman" pitchFamily="18" charset="0"/>
                <a:ea typeface="华文楷体" pitchFamily="2" charset="-122"/>
                <a:sym typeface="Times New Roman" pitchFamily="18" charset="0"/>
              </a:rPr>
              <a:t>节：确保数据完整性治理的有效培训与关键点控制</a:t>
            </a:r>
            <a:endParaRPr lang="en-US" sz="2400" b="1">
              <a:solidFill>
                <a:srgbClr val="000000"/>
              </a:solidFill>
              <a:latin typeface="Times New Roman" pitchFamily="18" charset="0"/>
              <a:ea typeface="华文楷体" pitchFamily="2" charset="-122"/>
              <a:sym typeface="Times New Roman" pitchFamily="18" charset="0"/>
            </a:endParaRPr>
          </a:p>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8</a:t>
            </a:r>
            <a:r>
              <a:rPr lang="zh-CN" altLang="en-US" sz="2400" b="1">
                <a:solidFill>
                  <a:srgbClr val="000000"/>
                </a:solidFill>
                <a:latin typeface="Times New Roman" pitchFamily="18" charset="0"/>
                <a:ea typeface="华文楷体" pitchFamily="2" charset="-122"/>
                <a:sym typeface="Times New Roman" pitchFamily="18" charset="0"/>
              </a:rPr>
              <a:t>节：如何对审计跟踪进行审核与管理</a:t>
            </a:r>
            <a:endParaRPr lang="en-US" sz="2400" b="1">
              <a:solidFill>
                <a:srgbClr val="000000"/>
              </a:solidFill>
              <a:latin typeface="Times New Roman" pitchFamily="18" charset="0"/>
              <a:ea typeface="华文楷体" pitchFamily="2" charset="-122"/>
              <a:sym typeface="Times New Roman" pitchFamily="18" charset="0"/>
            </a:endParaRPr>
          </a:p>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9</a:t>
            </a:r>
            <a:r>
              <a:rPr lang="zh-CN" altLang="en-US" sz="2400" b="1">
                <a:solidFill>
                  <a:srgbClr val="000000"/>
                </a:solidFill>
                <a:latin typeface="Times New Roman" pitchFamily="18" charset="0"/>
                <a:ea typeface="华文楷体" pitchFamily="2" charset="-122"/>
                <a:sym typeface="Times New Roman" pitchFamily="18" charset="0"/>
              </a:rPr>
              <a:t>节：</a:t>
            </a:r>
            <a:r>
              <a:rPr lang="en-US" sz="2400" b="1">
                <a:solidFill>
                  <a:srgbClr val="000000"/>
                </a:solidFill>
                <a:latin typeface="Times New Roman" pitchFamily="18" charset="0"/>
                <a:ea typeface="华文楷体" pitchFamily="2" charset="-122"/>
                <a:sym typeface="Times New Roman" pitchFamily="18" charset="0"/>
              </a:rPr>
              <a:t>FDA</a:t>
            </a:r>
            <a:r>
              <a:rPr lang="zh-CN" altLang="en-US" sz="2400" b="1">
                <a:solidFill>
                  <a:srgbClr val="000000"/>
                </a:solidFill>
                <a:latin typeface="Times New Roman" pitchFamily="18" charset="0"/>
                <a:ea typeface="华文楷体" pitchFamily="2" charset="-122"/>
                <a:sym typeface="Times New Roman" pitchFamily="18" charset="0"/>
              </a:rPr>
              <a:t>对整治</a:t>
            </a:r>
            <a:r>
              <a:rPr lang="en-US" sz="2400" b="1">
                <a:solidFill>
                  <a:srgbClr val="000000"/>
                </a:solidFill>
                <a:latin typeface="Times New Roman" pitchFamily="18" charset="0"/>
                <a:ea typeface="华文楷体" pitchFamily="2" charset="-122"/>
                <a:sym typeface="Times New Roman" pitchFamily="18" charset="0"/>
              </a:rPr>
              <a:t>DI</a:t>
            </a:r>
            <a:r>
              <a:rPr lang="zh-CN" altLang="en-US" sz="2400" b="1">
                <a:solidFill>
                  <a:srgbClr val="000000"/>
                </a:solidFill>
                <a:latin typeface="Times New Roman" pitchFamily="18" charset="0"/>
                <a:ea typeface="华文楷体" pitchFamily="2" charset="-122"/>
                <a:sym typeface="Times New Roman" pitchFamily="18" charset="0"/>
              </a:rPr>
              <a:t>问题的期望</a:t>
            </a:r>
            <a:endParaRPr lang="en-US" sz="2400" b="1">
              <a:solidFill>
                <a:srgbClr val="000000"/>
              </a:solidFill>
              <a:latin typeface="Times New Roman" pitchFamily="18" charset="0"/>
              <a:ea typeface="华文楷体" pitchFamily="2" charset="-122"/>
              <a:sym typeface="Times New Roman" pitchFamily="18" charset="0"/>
            </a:endParaRPr>
          </a:p>
          <a:p>
            <a:pPr marL="514350" indent="-514350">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第</a:t>
            </a:r>
            <a:r>
              <a:rPr lang="en-US" sz="2400" b="1">
                <a:solidFill>
                  <a:srgbClr val="000000"/>
                </a:solidFill>
                <a:latin typeface="Times New Roman" pitchFamily="18" charset="0"/>
                <a:ea typeface="华文楷体" pitchFamily="2" charset="-122"/>
                <a:sym typeface="Times New Roman" pitchFamily="18" charset="0"/>
              </a:rPr>
              <a:t>10</a:t>
            </a:r>
            <a:r>
              <a:rPr lang="zh-CN" altLang="en-US" sz="2400" b="1">
                <a:solidFill>
                  <a:srgbClr val="000000"/>
                </a:solidFill>
                <a:latin typeface="Times New Roman" pitchFamily="18" charset="0"/>
                <a:ea typeface="华文楷体" pitchFamily="2" charset="-122"/>
                <a:sym typeface="Times New Roman" pitchFamily="18" charset="0"/>
              </a:rPr>
              <a:t>节：全球对数据完整性问题的持续改进思考</a:t>
            </a:r>
            <a:endParaRPr lang="en-US" sz="2400" b="1">
              <a:solidFill>
                <a:srgbClr val="000000"/>
              </a:solidFill>
              <a:latin typeface="Times New Roman" pitchFamily="18" charset="0"/>
              <a:ea typeface="华文楷体" pitchFamily="2" charset="-122"/>
              <a:sym typeface="Times New Roman" pitchFamily="18" charset="0"/>
            </a:endParaRPr>
          </a:p>
        </p:txBody>
      </p:sp>
    </p:spTree>
  </p:cSld>
  <p:clrMapOvr>
    <a:masterClrMapping/>
  </p:clrMapOvr>
  <p:transition>
    <p:strips dir="ld"/>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标题 1"/>
          <p:cNvSpPr>
            <a:spLocks noChangeArrowheads="1"/>
          </p:cNvSpPr>
          <p:nvPr/>
        </p:nvSpPr>
        <p:spPr bwMode="auto">
          <a:xfrm>
            <a:off x="457200" y="763588"/>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r>
              <a:rPr lang="zh-CN" altLang="en-US" sz="2800" b="1">
                <a:solidFill>
                  <a:srgbClr val="FF0000"/>
                </a:solidFill>
                <a:latin typeface="Times New Roman" pitchFamily="18" charset="0"/>
                <a:ea typeface="华文楷体" pitchFamily="2" charset="-122"/>
                <a:sym typeface="Times New Roman" pitchFamily="18" charset="0"/>
              </a:rPr>
              <a:t>数据产生阶段的</a:t>
            </a:r>
            <a:r>
              <a:rPr lang="en-US" sz="2800" b="1">
                <a:solidFill>
                  <a:srgbClr val="FF0000"/>
                </a:solidFill>
                <a:latin typeface="Times New Roman" pitchFamily="18" charset="0"/>
                <a:ea typeface="华文楷体" pitchFamily="2" charset="-122"/>
                <a:sym typeface="Times New Roman" pitchFamily="18" charset="0"/>
              </a:rPr>
              <a:t>DI</a:t>
            </a:r>
            <a:r>
              <a:rPr lang="zh-CN" altLang="en-US" sz="2800" b="1">
                <a:solidFill>
                  <a:srgbClr val="FF0000"/>
                </a:solidFill>
                <a:latin typeface="Times New Roman" pitchFamily="18" charset="0"/>
                <a:ea typeface="华文楷体" pitchFamily="2" charset="-122"/>
                <a:sym typeface="Times New Roman" pitchFamily="18" charset="0"/>
              </a:rPr>
              <a:t>风险识别举例</a:t>
            </a:r>
          </a:p>
        </p:txBody>
      </p:sp>
      <p:sp>
        <p:nvSpPr>
          <p:cNvPr id="48131" name="TextBox 2"/>
          <p:cNvSpPr>
            <a:spLocks noChangeArrowheads="1"/>
          </p:cNvSpPr>
          <p:nvPr/>
        </p:nvSpPr>
        <p:spPr bwMode="auto">
          <a:xfrm>
            <a:off x="468313" y="1341438"/>
            <a:ext cx="8424862"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buFont typeface="Wingdings" pitchFamily="2" charset="2"/>
              <a:buChar char="ü"/>
            </a:pPr>
            <a:r>
              <a:rPr lang="zh-CN" altLang="en-US" sz="2400" b="1">
                <a:solidFill>
                  <a:srgbClr val="000000"/>
                </a:solidFill>
                <a:latin typeface="Times New Roman" pitchFamily="18" charset="0"/>
                <a:ea typeface="华文楷体" pitchFamily="2" charset="-122"/>
                <a:sym typeface="Times New Roman" pitchFamily="18" charset="0"/>
              </a:rPr>
              <a:t>删除、覆盖或者丢弃原始数据；比如丢弃原始称量、溶液配置等信息、删除电子图谱（删除部分运行或者删除整个序列）、使用后面的数据覆盖前面的数据</a:t>
            </a:r>
            <a:endParaRPr lang="en-US" sz="2400" b="1">
              <a:solidFill>
                <a:srgbClr val="000000"/>
              </a:solidFill>
              <a:latin typeface="Times New Roman" pitchFamily="18" charset="0"/>
              <a:ea typeface="华文楷体" pitchFamily="2" charset="-122"/>
              <a:sym typeface="Times New Roman" pitchFamily="18" charset="0"/>
            </a:endParaRPr>
          </a:p>
          <a:p>
            <a:pPr>
              <a:buFont typeface="Wingdings" pitchFamily="2" charset="2"/>
              <a:buChar char="ü"/>
            </a:pPr>
            <a:r>
              <a:rPr lang="zh-CN" altLang="en-US" sz="2400" b="1">
                <a:solidFill>
                  <a:srgbClr val="000000"/>
                </a:solidFill>
                <a:latin typeface="Times New Roman" pitchFamily="18" charset="0"/>
                <a:ea typeface="华文楷体" pitchFamily="2" charset="-122"/>
                <a:sym typeface="Times New Roman" pitchFamily="18" charset="0"/>
              </a:rPr>
              <a:t>重复测试以得到合格的结果，比如一些单机版系统</a:t>
            </a:r>
            <a:r>
              <a:rPr lang="en-US" sz="2400" b="1">
                <a:solidFill>
                  <a:srgbClr val="000000"/>
                </a:solidFill>
                <a:latin typeface="Times New Roman" pitchFamily="18" charset="0"/>
                <a:ea typeface="华文楷体" pitchFamily="2" charset="-122"/>
                <a:sym typeface="Times New Roman" pitchFamily="18" charset="0"/>
              </a:rPr>
              <a:t>FT-IR</a:t>
            </a:r>
            <a:r>
              <a:rPr lang="zh-CN" altLang="en-US" sz="2400" b="1">
                <a:solidFill>
                  <a:srgbClr val="000000"/>
                </a:solidFill>
                <a:latin typeface="Times New Roman" pitchFamily="18" charset="0"/>
                <a:ea typeface="华文楷体" pitchFamily="2" charset="-122"/>
                <a:sym typeface="Times New Roman" pitchFamily="18" charset="0"/>
              </a:rPr>
              <a:t>和</a:t>
            </a:r>
            <a:r>
              <a:rPr lang="en-US" sz="2400" b="1">
                <a:solidFill>
                  <a:srgbClr val="000000"/>
                </a:solidFill>
                <a:latin typeface="Times New Roman" pitchFamily="18" charset="0"/>
                <a:ea typeface="华文楷体" pitchFamily="2" charset="-122"/>
                <a:sym typeface="Times New Roman" pitchFamily="18" charset="0"/>
              </a:rPr>
              <a:t>UV</a:t>
            </a:r>
            <a:r>
              <a:rPr lang="zh-CN" altLang="en-US" sz="2400" b="1">
                <a:solidFill>
                  <a:srgbClr val="000000"/>
                </a:solidFill>
                <a:latin typeface="Times New Roman" pitchFamily="18" charset="0"/>
                <a:ea typeface="华文楷体" pitchFamily="2" charset="-122"/>
                <a:sym typeface="Times New Roman" pitchFamily="18" charset="0"/>
              </a:rPr>
              <a:t>系统</a:t>
            </a:r>
            <a:endParaRPr lang="en-US" sz="2400" b="1">
              <a:solidFill>
                <a:srgbClr val="000000"/>
              </a:solidFill>
              <a:latin typeface="Times New Roman" pitchFamily="18" charset="0"/>
              <a:ea typeface="华文楷体" pitchFamily="2" charset="-122"/>
              <a:sym typeface="Times New Roman" pitchFamily="18" charset="0"/>
            </a:endParaRPr>
          </a:p>
          <a:p>
            <a:pPr>
              <a:buFont typeface="Wingdings" pitchFamily="2" charset="2"/>
              <a:buChar char="ü"/>
            </a:pPr>
            <a:r>
              <a:rPr lang="zh-CN" altLang="en-US" sz="2400" b="1">
                <a:solidFill>
                  <a:srgbClr val="000000"/>
                </a:solidFill>
                <a:latin typeface="Times New Roman" pitchFamily="18" charset="0"/>
                <a:ea typeface="华文楷体" pitchFamily="2" charset="-122"/>
                <a:sym typeface="Times New Roman" pitchFamily="18" charset="0"/>
              </a:rPr>
              <a:t>正式系统适应性试验前，采用待测样品试针</a:t>
            </a:r>
            <a:endParaRPr lang="en-US" sz="2400" b="1">
              <a:solidFill>
                <a:srgbClr val="000000"/>
              </a:solidFill>
              <a:latin typeface="Times New Roman" pitchFamily="18" charset="0"/>
              <a:ea typeface="华文楷体" pitchFamily="2" charset="-122"/>
              <a:sym typeface="Times New Roman" pitchFamily="18" charset="0"/>
            </a:endParaRPr>
          </a:p>
          <a:p>
            <a:pPr>
              <a:buFont typeface="Wingdings" pitchFamily="2" charset="2"/>
              <a:buChar char="ü"/>
            </a:pPr>
            <a:r>
              <a:rPr lang="zh-CN" altLang="en-US" sz="2400" b="1">
                <a:solidFill>
                  <a:srgbClr val="000000"/>
                </a:solidFill>
                <a:latin typeface="Times New Roman" pitchFamily="18" charset="0"/>
                <a:ea typeface="华文楷体" pitchFamily="2" charset="-122"/>
                <a:sym typeface="Times New Roman" pitchFamily="18" charset="0"/>
              </a:rPr>
              <a:t>采取替代样品、或者从多次测试中挑选合格的结果</a:t>
            </a:r>
            <a:endParaRPr lang="en-US" sz="2400" b="1">
              <a:solidFill>
                <a:srgbClr val="000000"/>
              </a:solidFill>
              <a:latin typeface="Times New Roman" pitchFamily="18" charset="0"/>
              <a:ea typeface="华文楷体" pitchFamily="2" charset="-122"/>
              <a:sym typeface="Times New Roman" pitchFamily="18" charset="0"/>
            </a:endParaRPr>
          </a:p>
          <a:p>
            <a:pPr>
              <a:buFont typeface="Wingdings" pitchFamily="2" charset="2"/>
              <a:buChar char="ü"/>
            </a:pPr>
            <a:r>
              <a:rPr lang="zh-CN" altLang="en-US" sz="2400" b="1">
                <a:solidFill>
                  <a:srgbClr val="000000"/>
                </a:solidFill>
                <a:latin typeface="Times New Roman" pitchFamily="18" charset="0"/>
                <a:ea typeface="华文楷体" pitchFamily="2" charset="-122"/>
                <a:sym typeface="Times New Roman" pitchFamily="18" charset="0"/>
              </a:rPr>
              <a:t>无合理理由或程序支持，采取手动积分方法以得到合格结果</a:t>
            </a:r>
            <a:endParaRPr lang="en-US" sz="2400" b="1">
              <a:solidFill>
                <a:srgbClr val="000000"/>
              </a:solidFill>
              <a:latin typeface="Times New Roman" pitchFamily="18" charset="0"/>
              <a:ea typeface="华文楷体" pitchFamily="2" charset="-122"/>
              <a:sym typeface="Times New Roman" pitchFamily="18" charset="0"/>
            </a:endParaRPr>
          </a:p>
          <a:p>
            <a:pPr>
              <a:buFont typeface="Wingdings" pitchFamily="2" charset="2"/>
              <a:buChar char="ü"/>
            </a:pPr>
            <a:r>
              <a:rPr lang="zh-CN" altLang="en-US" sz="2400" b="1">
                <a:solidFill>
                  <a:srgbClr val="000000"/>
                </a:solidFill>
                <a:latin typeface="Times New Roman" pitchFamily="18" charset="0"/>
                <a:ea typeface="华文楷体" pitchFamily="2" charset="-122"/>
                <a:sym typeface="Times New Roman" pitchFamily="18" charset="0"/>
              </a:rPr>
              <a:t>关闭仪器和设备的审计追踪</a:t>
            </a:r>
            <a:endParaRPr lang="en-US" sz="2400" b="1">
              <a:solidFill>
                <a:srgbClr val="000000"/>
              </a:solidFill>
              <a:latin typeface="Times New Roman" pitchFamily="18" charset="0"/>
              <a:ea typeface="华文楷体" pitchFamily="2" charset="-122"/>
              <a:sym typeface="Times New Roman" pitchFamily="18" charset="0"/>
            </a:endParaRPr>
          </a:p>
          <a:p>
            <a:pPr>
              <a:buFont typeface="Wingdings" pitchFamily="2" charset="2"/>
              <a:buChar char="ü"/>
            </a:pPr>
            <a:r>
              <a:rPr lang="zh-CN" altLang="en-US" sz="2400" b="1">
                <a:solidFill>
                  <a:srgbClr val="000000"/>
                </a:solidFill>
                <a:latin typeface="Times New Roman" pitchFamily="18" charset="0"/>
                <a:ea typeface="华文楷体" pitchFamily="2" charset="-122"/>
                <a:sym typeface="Times New Roman" pitchFamily="18" charset="0"/>
              </a:rPr>
              <a:t>编造合格的结果而实际未检测，复制历史图谱或曲线</a:t>
            </a:r>
            <a:endParaRPr lang="en-US" sz="2400" b="1">
              <a:solidFill>
                <a:srgbClr val="000000"/>
              </a:solidFill>
              <a:latin typeface="Times New Roman" pitchFamily="18" charset="0"/>
              <a:ea typeface="华文楷体" pitchFamily="2" charset="-122"/>
              <a:sym typeface="Times New Roman" pitchFamily="18" charset="0"/>
            </a:endParaRPr>
          </a:p>
          <a:p>
            <a:pPr>
              <a:buFont typeface="Wingdings" pitchFamily="2" charset="2"/>
              <a:buChar char="ü"/>
            </a:pPr>
            <a:r>
              <a:rPr lang="zh-CN" altLang="en-US" sz="2400" b="1">
                <a:solidFill>
                  <a:srgbClr val="000000"/>
                </a:solidFill>
                <a:latin typeface="Times New Roman" pitchFamily="18" charset="0"/>
                <a:ea typeface="华文楷体" pitchFamily="2" charset="-122"/>
                <a:sym typeface="Times New Roman" pitchFamily="18" charset="0"/>
              </a:rPr>
              <a:t>未经适当的评估或者更新，采用与注册不一致的方法进行生产或检验</a:t>
            </a:r>
            <a:endParaRPr lang="en-US" sz="2400" b="1">
              <a:solidFill>
                <a:srgbClr val="000000"/>
              </a:solidFill>
              <a:latin typeface="Times New Roman" pitchFamily="18" charset="0"/>
              <a:ea typeface="华文楷体" pitchFamily="2" charset="-122"/>
              <a:sym typeface="Times New Roman" pitchFamily="18" charset="0"/>
            </a:endParaRPr>
          </a:p>
          <a:p>
            <a:pPr>
              <a:buFont typeface="Wingdings" pitchFamily="2" charset="2"/>
              <a:buChar char="ü"/>
            </a:pPr>
            <a:r>
              <a:rPr lang="zh-CN" altLang="en-US" sz="2400" b="1">
                <a:solidFill>
                  <a:srgbClr val="000000"/>
                </a:solidFill>
                <a:latin typeface="Times New Roman" pitchFamily="18" charset="0"/>
                <a:ea typeface="华文楷体" pitchFamily="2" charset="-122"/>
                <a:sym typeface="Times New Roman" pitchFamily="18" charset="0"/>
              </a:rPr>
              <a:t>修改系统日期和时间来补数据</a:t>
            </a:r>
          </a:p>
        </p:txBody>
      </p:sp>
    </p:spTree>
  </p:cSld>
  <p:clrMapOvr>
    <a:masterClrMapping/>
  </p:clrMapOvr>
  <p:transition>
    <p:strips dir="ld"/>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标题 1"/>
          <p:cNvSpPr>
            <a:spLocks noChangeArrowheads="1"/>
          </p:cNvSpPr>
          <p:nvPr/>
        </p:nvSpPr>
        <p:spPr bwMode="auto">
          <a:xfrm>
            <a:off x="457200" y="6207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rgbClr val="FF0000"/>
              </a:solidFill>
              <a:latin typeface="Times New Roman" pitchFamily="18" charset="0"/>
              <a:ea typeface="华文楷体" pitchFamily="2" charset="-122"/>
              <a:sym typeface="Times New Roman" pitchFamily="18" charset="0"/>
            </a:endParaRPr>
          </a:p>
        </p:txBody>
      </p:sp>
      <p:pic>
        <p:nvPicPr>
          <p:cNvPr id="49155" name="图片 3" descr="tim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2238" y="2098675"/>
            <a:ext cx="3962400"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sp>
        <p:nvSpPr>
          <p:cNvPr id="49156" name="矩形 19"/>
          <p:cNvSpPr>
            <a:spLocks noChangeArrowheads="1"/>
          </p:cNvSpPr>
          <p:nvPr/>
        </p:nvSpPr>
        <p:spPr bwMode="auto">
          <a:xfrm>
            <a:off x="2871788" y="1268413"/>
            <a:ext cx="3932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342900" indent="-342900" algn="ctr">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数据处理（包括转化</a:t>
            </a:r>
            <a:r>
              <a:rPr lang="en-US" sz="2400" b="1">
                <a:solidFill>
                  <a:srgbClr val="000000"/>
                </a:solidFill>
                <a:latin typeface="Times New Roman" pitchFamily="18" charset="0"/>
                <a:ea typeface="华文楷体" pitchFamily="2" charset="-122"/>
                <a:sym typeface="Times New Roman" pitchFamily="18" charset="0"/>
              </a:rPr>
              <a:t>/</a:t>
            </a:r>
            <a:r>
              <a:rPr lang="zh-CN" altLang="en-US" sz="2400" b="1">
                <a:solidFill>
                  <a:srgbClr val="000000"/>
                </a:solidFill>
                <a:latin typeface="Times New Roman" pitchFamily="18" charset="0"/>
                <a:ea typeface="华文楷体" pitchFamily="2" charset="-122"/>
                <a:sym typeface="Times New Roman" pitchFamily="18" charset="0"/>
              </a:rPr>
              <a:t>迁移）</a:t>
            </a:r>
            <a:endParaRPr lang="en-US" sz="2400" b="1">
              <a:solidFill>
                <a:srgbClr val="000000"/>
              </a:solidFill>
              <a:latin typeface="Times New Roman" pitchFamily="18" charset="0"/>
              <a:ea typeface="华文楷体" pitchFamily="2" charset="-122"/>
              <a:sym typeface="Times New Roman" pitchFamily="18" charset="0"/>
            </a:endParaRPr>
          </a:p>
        </p:txBody>
      </p:sp>
      <p:sp>
        <p:nvSpPr>
          <p:cNvPr id="49157" name="文本框 4"/>
          <p:cNvSpPr>
            <a:spLocks noChangeArrowheads="1"/>
          </p:cNvSpPr>
          <p:nvPr/>
        </p:nvSpPr>
        <p:spPr bwMode="auto">
          <a:xfrm>
            <a:off x="274638" y="2171700"/>
            <a:ext cx="33782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华文楷体" pitchFamily="2" charset="-122"/>
                <a:ea typeface="华文楷体" pitchFamily="2" charset="-122"/>
                <a:sym typeface="华文楷体" pitchFamily="2" charset="-122"/>
              </a:rPr>
              <a:t>1.验证：</a:t>
            </a:r>
            <a:r>
              <a:rPr lang="zh-CN" altLang="en-US" sz="2400">
                <a:solidFill>
                  <a:srgbClr val="FF0000"/>
                </a:solidFill>
                <a:latin typeface="华文楷体" pitchFamily="2" charset="-122"/>
                <a:ea typeface="华文楷体" pitchFamily="2" charset="-122"/>
                <a:sym typeface="华文楷体" pitchFamily="2" charset="-122"/>
              </a:rPr>
              <a:t>计算机化系统数据处理的程序</a:t>
            </a:r>
            <a:r>
              <a:rPr lang="zh-CN" altLang="en-US" sz="2400">
                <a:solidFill>
                  <a:srgbClr val="000000"/>
                </a:solidFill>
                <a:latin typeface="华文楷体" pitchFamily="2" charset="-122"/>
                <a:ea typeface="华文楷体" pitchFamily="2" charset="-122"/>
                <a:sym typeface="华文楷体" pitchFamily="2" charset="-122"/>
              </a:rPr>
              <a:t>应进行验证</a:t>
            </a:r>
          </a:p>
        </p:txBody>
      </p:sp>
      <p:sp>
        <p:nvSpPr>
          <p:cNvPr id="49158" name="文本框 5"/>
          <p:cNvSpPr>
            <a:spLocks noChangeArrowheads="1"/>
          </p:cNvSpPr>
          <p:nvPr/>
        </p:nvSpPr>
        <p:spPr bwMode="auto">
          <a:xfrm>
            <a:off x="5730875" y="2100263"/>
            <a:ext cx="3521075"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2400" b="1">
                <a:solidFill>
                  <a:srgbClr val="000000"/>
                </a:solidFill>
                <a:latin typeface="华文楷体" pitchFamily="2" charset="-122"/>
                <a:ea typeface="华文楷体" pitchFamily="2" charset="-122"/>
                <a:sym typeface="华文楷体" pitchFamily="2" charset="-122"/>
              </a:rPr>
              <a:t>2.</a:t>
            </a:r>
            <a:r>
              <a:rPr lang="zh-CN" altLang="en-US" sz="2400" b="1">
                <a:solidFill>
                  <a:srgbClr val="000000"/>
                </a:solidFill>
                <a:latin typeface="华文楷体" pitchFamily="2" charset="-122"/>
                <a:ea typeface="华文楷体" pitchFamily="2" charset="-122"/>
                <a:sym typeface="华文楷体" pitchFamily="2" charset="-122"/>
              </a:rPr>
              <a:t>数据引用：</a:t>
            </a:r>
            <a:r>
              <a:rPr lang="zh-CN" altLang="en-US" sz="2400">
                <a:solidFill>
                  <a:srgbClr val="000000"/>
                </a:solidFill>
                <a:latin typeface="华文楷体" pitchFamily="2" charset="-122"/>
                <a:ea typeface="华文楷体" pitchFamily="2" charset="-122"/>
                <a:sym typeface="华文楷体" pitchFamily="2" charset="-122"/>
              </a:rPr>
              <a:t>处理过程确保原始数据被</a:t>
            </a:r>
            <a:r>
              <a:rPr lang="zh-CN" altLang="en-US" sz="2400">
                <a:solidFill>
                  <a:srgbClr val="FF0000"/>
                </a:solidFill>
                <a:latin typeface="华文楷体" pitchFamily="2" charset="-122"/>
                <a:ea typeface="华文楷体" pitchFamily="2" charset="-122"/>
                <a:sym typeface="华文楷体" pitchFamily="2" charset="-122"/>
              </a:rPr>
              <a:t>正确的引用或转化</a:t>
            </a:r>
            <a:r>
              <a:rPr lang="zh-CN" altLang="en-US" sz="2400">
                <a:solidFill>
                  <a:srgbClr val="000000"/>
                </a:solidFill>
                <a:latin typeface="华文楷体" pitchFamily="2" charset="-122"/>
                <a:ea typeface="华文楷体" pitchFamily="2" charset="-122"/>
                <a:sym typeface="华文楷体" pitchFamily="2" charset="-122"/>
              </a:rPr>
              <a:t>；数值及含义没有改变</a:t>
            </a:r>
          </a:p>
        </p:txBody>
      </p:sp>
      <p:sp>
        <p:nvSpPr>
          <p:cNvPr id="49159" name="文本框 6"/>
          <p:cNvSpPr>
            <a:spLocks noChangeArrowheads="1"/>
          </p:cNvSpPr>
          <p:nvPr/>
        </p:nvSpPr>
        <p:spPr bwMode="auto">
          <a:xfrm>
            <a:off x="274638" y="4503738"/>
            <a:ext cx="33782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华文楷体" pitchFamily="2" charset="-122"/>
                <a:ea typeface="华文楷体" pitchFamily="2" charset="-122"/>
                <a:sym typeface="华文楷体" pitchFamily="2" charset="-122"/>
              </a:rPr>
              <a:t>4.数据审核：</a:t>
            </a:r>
            <a:r>
              <a:rPr lang="zh-CN" altLang="en-US" sz="2400">
                <a:solidFill>
                  <a:srgbClr val="000000"/>
                </a:solidFill>
                <a:latin typeface="华文楷体" pitchFamily="2" charset="-122"/>
                <a:ea typeface="华文楷体" pitchFamily="2" charset="-122"/>
                <a:sym typeface="华文楷体" pitchFamily="2" charset="-122"/>
              </a:rPr>
              <a:t>应有SOP，以及书面的记录。</a:t>
            </a:r>
            <a:r>
              <a:rPr lang="zh-CN" altLang="en-US" sz="2400">
                <a:solidFill>
                  <a:srgbClr val="FF0000"/>
                </a:solidFill>
                <a:latin typeface="华文楷体" pitchFamily="2" charset="-122"/>
                <a:ea typeface="华文楷体" pitchFamily="2" charset="-122"/>
                <a:sym typeface="华文楷体" pitchFamily="2" charset="-122"/>
              </a:rPr>
              <a:t>审核发现的错误或遗漏应有程序明确如何进行处理。</a:t>
            </a:r>
          </a:p>
        </p:txBody>
      </p:sp>
      <p:sp>
        <p:nvSpPr>
          <p:cNvPr id="49160" name="文本框 7"/>
          <p:cNvSpPr>
            <a:spLocks noChangeArrowheads="1"/>
          </p:cNvSpPr>
          <p:nvPr/>
        </p:nvSpPr>
        <p:spPr bwMode="auto">
          <a:xfrm>
            <a:off x="5461000" y="4870450"/>
            <a:ext cx="358933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华文楷体" pitchFamily="2" charset="-122"/>
                <a:ea typeface="华文楷体" pitchFamily="2" charset="-122"/>
                <a:sym typeface="华文楷体" pitchFamily="2" charset="-122"/>
              </a:rPr>
              <a:t>3.手动积分：</a:t>
            </a:r>
            <a:r>
              <a:rPr lang="zh-CN" altLang="en-US" sz="2400">
                <a:solidFill>
                  <a:srgbClr val="000000"/>
                </a:solidFill>
                <a:latin typeface="华文楷体" pitchFamily="2" charset="-122"/>
                <a:ea typeface="华文楷体" pitchFamily="2" charset="-122"/>
                <a:sym typeface="华文楷体" pitchFamily="2" charset="-122"/>
              </a:rPr>
              <a:t>色谱系统如采用手动积分，需要</a:t>
            </a:r>
            <a:r>
              <a:rPr lang="zh-CN" altLang="en-US" sz="2400">
                <a:solidFill>
                  <a:srgbClr val="FF0000"/>
                </a:solidFill>
                <a:latin typeface="华文楷体" pitchFamily="2" charset="-122"/>
                <a:ea typeface="华文楷体" pitchFamily="2" charset="-122"/>
                <a:sym typeface="华文楷体" pitchFamily="2" charset="-122"/>
              </a:rPr>
              <a:t>有合理的理由并有程序支持</a:t>
            </a:r>
          </a:p>
        </p:txBody>
      </p:sp>
      <p:sp>
        <p:nvSpPr>
          <p:cNvPr id="49161" name="Rectangle 2"/>
          <p:cNvSpPr>
            <a:spLocks noChangeArrowheads="1"/>
          </p:cNvSpPr>
          <p:nvPr/>
        </p:nvSpPr>
        <p:spPr bwMode="auto">
          <a:xfrm>
            <a:off x="1174750" y="147638"/>
            <a:ext cx="822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节：数据完整性管控策略与基本要求</a:t>
            </a:r>
          </a:p>
        </p:txBody>
      </p:sp>
    </p:spTree>
  </p:cSld>
  <p:clrMapOvr>
    <a:masterClrMapping/>
  </p:clrMapOvr>
  <p:transition>
    <p:strips dir="ld"/>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标题 1"/>
          <p:cNvSpPr>
            <a:spLocks noChangeArrowheads="1"/>
          </p:cNvSpPr>
          <p:nvPr/>
        </p:nvSpPr>
        <p:spPr bwMode="auto">
          <a:xfrm>
            <a:off x="457200" y="6207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rgbClr val="FF0000"/>
              </a:solidFill>
              <a:latin typeface="Times New Roman" pitchFamily="18" charset="0"/>
              <a:ea typeface="华文楷体" pitchFamily="2" charset="-122"/>
              <a:sym typeface="Times New Roman" pitchFamily="18" charset="0"/>
            </a:endParaRPr>
          </a:p>
        </p:txBody>
      </p:sp>
      <p:sp>
        <p:nvSpPr>
          <p:cNvPr id="50179" name="矩形 19"/>
          <p:cNvSpPr>
            <a:spLocks noChangeArrowheads="1"/>
          </p:cNvSpPr>
          <p:nvPr/>
        </p:nvSpPr>
        <p:spPr bwMode="auto">
          <a:xfrm>
            <a:off x="3776663" y="766763"/>
            <a:ext cx="1404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342900" indent="-342900" algn="ctr">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数据审核</a:t>
            </a:r>
            <a:endParaRPr lang="en-US" sz="2400" b="1">
              <a:solidFill>
                <a:srgbClr val="000000"/>
              </a:solidFill>
              <a:latin typeface="Times New Roman" pitchFamily="18" charset="0"/>
              <a:ea typeface="华文楷体" pitchFamily="2" charset="-122"/>
              <a:sym typeface="Times New Roman" pitchFamily="18" charset="0"/>
            </a:endParaRPr>
          </a:p>
        </p:txBody>
      </p:sp>
      <p:sp>
        <p:nvSpPr>
          <p:cNvPr id="50180" name="文本框 2"/>
          <p:cNvSpPr>
            <a:spLocks noChangeArrowheads="1"/>
          </p:cNvSpPr>
          <p:nvPr/>
        </p:nvSpPr>
        <p:spPr bwMode="auto">
          <a:xfrm>
            <a:off x="146050" y="1341438"/>
            <a:ext cx="8831263"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spcAft>
                <a:spcPts val="1200"/>
              </a:spcAft>
            </a:pPr>
            <a:r>
              <a:rPr lang="zh-CN" altLang="en-US" sz="2800" b="1">
                <a:solidFill>
                  <a:srgbClr val="000000"/>
                </a:solidFill>
                <a:latin typeface="华文楷体" pitchFamily="2" charset="-122"/>
                <a:ea typeface="华文楷体" pitchFamily="2" charset="-122"/>
                <a:sym typeface="华文楷体" pitchFamily="2" charset="-122"/>
              </a:rPr>
              <a:t>1.应当建立数据审核的书面规程</a:t>
            </a:r>
            <a:r>
              <a:rPr lang="zh-CN" altLang="en-US" sz="2400">
                <a:solidFill>
                  <a:srgbClr val="000000"/>
                </a:solidFill>
                <a:latin typeface="华文楷体" pitchFamily="2" charset="-122"/>
                <a:ea typeface="华文楷体" pitchFamily="2" charset="-122"/>
                <a:sym typeface="华文楷体" pitchFamily="2" charset="-122"/>
              </a:rPr>
              <a:t>，数据审核包括纸质数据和电子数据，电子数据的审核不能仅限于从计算机化系统中打印的纸质记录，还应包括对电子元数据的审核。仅审核纸质版数据，可能无法识别风险。</a:t>
            </a:r>
          </a:p>
          <a:p>
            <a:pPr>
              <a:spcAft>
                <a:spcPts val="1200"/>
              </a:spcAft>
            </a:pPr>
            <a:r>
              <a:rPr lang="zh-CN" altLang="en-US" sz="2800" b="1">
                <a:solidFill>
                  <a:srgbClr val="000000"/>
                </a:solidFill>
                <a:latin typeface="华文楷体" pitchFamily="2" charset="-122"/>
                <a:ea typeface="华文楷体" pitchFamily="2" charset="-122"/>
                <a:sym typeface="华文楷体" pitchFamily="2" charset="-122"/>
              </a:rPr>
              <a:t>2.书面规程</a:t>
            </a:r>
            <a:r>
              <a:rPr lang="zh-CN" altLang="en-US" sz="2400">
                <a:solidFill>
                  <a:srgbClr val="000000"/>
                </a:solidFill>
                <a:latin typeface="华文楷体" pitchFamily="2" charset="-122"/>
                <a:ea typeface="华文楷体" pitchFamily="2" charset="-122"/>
                <a:sym typeface="华文楷体" pitchFamily="2" charset="-122"/>
              </a:rPr>
              <a:t>应在充分风险评估的基础上规定审核原始数据和相关元数据的过程及内容，包括</a:t>
            </a:r>
            <a:r>
              <a:rPr lang="zh-CN" altLang="en-US" sz="2400" b="1">
                <a:solidFill>
                  <a:srgbClr val="FF0000"/>
                </a:solidFill>
                <a:latin typeface="华文楷体" pitchFamily="2" charset="-122"/>
                <a:ea typeface="华文楷体" pitchFamily="2" charset="-122"/>
                <a:sym typeface="华文楷体" pitchFamily="2" charset="-122"/>
              </a:rPr>
              <a:t>频率、角色与职责、审核的方法、对于异常数据或错误缺失的处理流程以及对原始信息修改的评估等。</a:t>
            </a:r>
          </a:p>
          <a:p>
            <a:pPr>
              <a:spcAft>
                <a:spcPts val="1200"/>
              </a:spcAft>
            </a:pPr>
            <a:r>
              <a:rPr lang="zh-CN" altLang="en-US" sz="2800" b="1">
                <a:solidFill>
                  <a:srgbClr val="000000"/>
                </a:solidFill>
                <a:latin typeface="华文楷体" pitchFamily="2" charset="-122"/>
                <a:ea typeface="华文楷体" pitchFamily="2" charset="-122"/>
                <a:sym typeface="华文楷体" pitchFamily="2" charset="-122"/>
              </a:rPr>
              <a:t>3.数据审核</a:t>
            </a:r>
            <a:r>
              <a:rPr lang="zh-CN" altLang="en-US" sz="2400">
                <a:solidFill>
                  <a:srgbClr val="000000"/>
                </a:solidFill>
                <a:latin typeface="华文楷体" pitchFamily="2" charset="-122"/>
                <a:ea typeface="华文楷体" pitchFamily="2" charset="-122"/>
                <a:sym typeface="华文楷体" pitchFamily="2" charset="-122"/>
              </a:rPr>
              <a:t>过程应当被记录，通常以相应的纸质或电子签名来完成。</a:t>
            </a:r>
          </a:p>
          <a:p>
            <a:pPr>
              <a:spcAft>
                <a:spcPts val="1200"/>
              </a:spcAft>
            </a:pPr>
            <a:r>
              <a:rPr lang="zh-CN" altLang="en-US" sz="2800" b="1">
                <a:solidFill>
                  <a:srgbClr val="000000"/>
                </a:solidFill>
                <a:latin typeface="华文楷体" pitchFamily="2" charset="-122"/>
                <a:ea typeface="华文楷体" pitchFamily="2" charset="-122"/>
                <a:sym typeface="华文楷体" pitchFamily="2" charset="-122"/>
              </a:rPr>
              <a:t>4.原始数据审核的人员</a:t>
            </a:r>
            <a:r>
              <a:rPr lang="zh-CN" altLang="en-US" sz="2400">
                <a:solidFill>
                  <a:srgbClr val="000000"/>
                </a:solidFill>
                <a:latin typeface="华文楷体" pitchFamily="2" charset="-122"/>
                <a:ea typeface="华文楷体" pitchFamily="2" charset="-122"/>
                <a:sym typeface="华文楷体" pitchFamily="2" charset="-122"/>
              </a:rPr>
              <a:t>应有相应的资质和培训，其培训的内容应与审核内容的风险相适应。</a:t>
            </a:r>
          </a:p>
        </p:txBody>
      </p:sp>
      <p:sp>
        <p:nvSpPr>
          <p:cNvPr id="50181" name="Rectangle 2"/>
          <p:cNvSpPr>
            <a:spLocks noChangeArrowheads="1"/>
          </p:cNvSpPr>
          <p:nvPr/>
        </p:nvSpPr>
        <p:spPr bwMode="auto">
          <a:xfrm>
            <a:off x="1174750" y="147638"/>
            <a:ext cx="822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节：数据完整性管控策略与基本要求</a:t>
            </a:r>
          </a:p>
        </p:txBody>
      </p:sp>
    </p:spTree>
  </p:cSld>
  <p:clrMapOvr>
    <a:masterClrMapping/>
  </p:clrMapOvr>
  <p:transition>
    <p:strips dir="ld"/>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标题 1"/>
          <p:cNvSpPr>
            <a:spLocks noChangeArrowheads="1"/>
          </p:cNvSpPr>
          <p:nvPr/>
        </p:nvSpPr>
        <p:spPr bwMode="auto">
          <a:xfrm>
            <a:off x="457200" y="6207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rgbClr val="FF0000"/>
              </a:solidFill>
              <a:latin typeface="Times New Roman" pitchFamily="18" charset="0"/>
              <a:ea typeface="华文楷体" pitchFamily="2" charset="-122"/>
              <a:sym typeface="Times New Roman" pitchFamily="18" charset="0"/>
            </a:endParaRPr>
          </a:p>
        </p:txBody>
      </p:sp>
      <p:sp>
        <p:nvSpPr>
          <p:cNvPr id="51203" name="文本框 2"/>
          <p:cNvSpPr>
            <a:spLocks noChangeArrowheads="1"/>
          </p:cNvSpPr>
          <p:nvPr/>
        </p:nvSpPr>
        <p:spPr bwMode="auto">
          <a:xfrm>
            <a:off x="2514600" y="722313"/>
            <a:ext cx="52197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2800" b="1">
                <a:solidFill>
                  <a:srgbClr val="000000"/>
                </a:solidFill>
                <a:latin typeface="华文楷体" pitchFamily="2" charset="-122"/>
                <a:ea typeface="华文楷体" pitchFamily="2" charset="-122"/>
                <a:sym typeface="华文楷体" pitchFamily="2" charset="-122"/>
              </a:rPr>
              <a:t>纸质和电子记录的审核要求</a:t>
            </a:r>
          </a:p>
        </p:txBody>
      </p:sp>
      <p:graphicFrame>
        <p:nvGraphicFramePr>
          <p:cNvPr id="51204" name="表格 3"/>
          <p:cNvGraphicFramePr>
            <a:graphicFrameLocks noGrp="1"/>
          </p:cNvGraphicFramePr>
          <p:nvPr/>
        </p:nvGraphicFramePr>
        <p:xfrm>
          <a:off x="115888" y="1154113"/>
          <a:ext cx="8915400" cy="4945062"/>
        </p:xfrm>
        <a:graphic>
          <a:graphicData uri="http://schemas.openxmlformats.org/drawingml/2006/table">
            <a:tbl>
              <a:tblPr/>
              <a:tblGrid>
                <a:gridCol w="4651375"/>
                <a:gridCol w="4264025"/>
              </a:tblGrid>
              <a:tr h="415925">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FFFFFF"/>
                          </a:solidFill>
                          <a:effectLst/>
                          <a:latin typeface="华文楷体" pitchFamily="2" charset="-122"/>
                          <a:ea typeface="华文楷体" pitchFamily="2" charset="-122"/>
                          <a:sym typeface="华文楷体" pitchFamily="2" charset="-122"/>
                        </a:rPr>
                        <a:t>对纸质记录的要求</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38100" cap="flat" cmpd="sng" algn="ctr">
                      <a:solidFill>
                        <a:srgbClr val="FFFFFF"/>
                      </a:solidFill>
                      <a:prstDash val="solid"/>
                      <a:bevel/>
                      <a:headEnd type="none" w="med" len="med"/>
                      <a:tailEnd type="none" w="med" len="med"/>
                    </a:lnB>
                    <a:lnTlToBr>
                      <a:noFill/>
                    </a:lnTlToBr>
                    <a:lnBlToTr>
                      <a:noFill/>
                    </a:lnBlToTr>
                    <a:solidFill>
                      <a:srgbClr val="4F81BD"/>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smtClean="0">
                          <a:ln>
                            <a:noFill/>
                          </a:ln>
                          <a:solidFill>
                            <a:srgbClr val="FFFFFF"/>
                          </a:solidFill>
                          <a:effectLst/>
                          <a:latin typeface="华文楷体" pitchFamily="2" charset="-122"/>
                          <a:ea typeface="华文楷体" pitchFamily="2" charset="-122"/>
                          <a:sym typeface="华文楷体" pitchFamily="2" charset="-122"/>
                        </a:rPr>
                        <a:t>对电子记录的要求</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38100" cap="flat" cmpd="sng" algn="ctr">
                      <a:solidFill>
                        <a:srgbClr val="FFFFFF"/>
                      </a:solidFill>
                      <a:prstDash val="solid"/>
                      <a:bevel/>
                      <a:headEnd type="none" w="med" len="med"/>
                      <a:tailEnd type="none" w="med" len="med"/>
                    </a:lnB>
                    <a:lnTlToBr>
                      <a:noFill/>
                    </a:lnTlToBr>
                    <a:lnBlToTr>
                      <a:noFill/>
                    </a:lnBlToTr>
                    <a:solidFill>
                      <a:srgbClr val="4F81BD"/>
                    </a:solidFill>
                  </a:tcPr>
                </a:tc>
              </a:tr>
              <a:tr h="4529138">
                <a:tc>
                  <a:txBody>
                    <a:bodyPr/>
                    <a:lstStyle/>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l"/>
                        <a:tabLst/>
                      </a:pP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通过程序规定、培训、记录审核、审 计和自查等管控手段，保证人员对原始纸质记录进行适当的审核和批准。 </a:t>
                      </a:r>
                    </a:p>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l"/>
                        <a:tabLst/>
                      </a:pPr>
                      <a:endPar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l"/>
                        <a:tabLst/>
                      </a:pPr>
                      <a:r>
                        <a:rPr kumimoji="0" lang="zh-CN" altLang="en-US" sz="1600" b="1"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数据审核程序应要求人员评估纸质记录上原始信息的修改</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（比如以划线或数据修正方式记录修改），</a:t>
                      </a:r>
                      <a:r>
                        <a:rPr kumimoji="0" lang="zh-CN" altLang="en-US" sz="1600" b="1"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以保证这些修改被合理记录。</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a:t>
                      </a:r>
                      <a:r>
                        <a:rPr kumimoji="0" lang="zh-CN" altLang="en-US" sz="1600" b="0" i="0" u="none" strike="noStrike" cap="none" normalizeH="0" baseline="0" smtClean="0">
                          <a:ln>
                            <a:noFill/>
                          </a:ln>
                          <a:solidFill>
                            <a:srgbClr val="FF0000"/>
                          </a:solidFill>
                          <a:effectLst/>
                          <a:latin typeface="华文楷体" pitchFamily="2" charset="-122"/>
                          <a:ea typeface="华文楷体" pitchFamily="2" charset="-122"/>
                          <a:sym typeface="华文楷体" pitchFamily="2" charset="-122"/>
                        </a:rPr>
                        <a:t>提问：纸质记录的审计跟踪还有哪些 形式</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  </a:t>
                      </a:r>
                    </a:p>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l"/>
                        <a:tabLst/>
                      </a:pPr>
                      <a:endPar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l"/>
                        <a:tabLst/>
                      </a:pPr>
                      <a:r>
                        <a:rPr kumimoji="0" lang="zh-CN" altLang="en-US" sz="1600" b="1"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应把数据审核书面记录下来</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。在纸质记录中，一般通过在已审核的纸质记录上签名完成。</a:t>
                      </a:r>
                    </a:p>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l"/>
                        <a:tabLst/>
                      </a:pPr>
                      <a:endPar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l"/>
                        <a:tabLst/>
                      </a:pP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对于数据审核中发现的错误或遗漏，应确保数据的更正或澄清符合</a:t>
                      </a:r>
                      <a:r>
                        <a:rPr kumimoji="0" 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GxP</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要求，并运用</a:t>
                      </a:r>
                      <a:r>
                        <a:rPr kumimoji="0" 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ALCOA</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原则，确保更改前后的数据均可见，确保追溯性。</a:t>
                      </a:r>
                    </a:p>
                  </a:txBody>
                  <a:tcP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381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c>
                  <a:txBody>
                    <a:bodyPr/>
                    <a:lstStyle/>
                    <a:p>
                      <a:pPr marL="285750" marR="0" lvl="0" indent="-285750" algn="l" defTabSz="914400" rtl="0" eaLnBrk="1" fontAlgn="base" latinLnBrk="0" hangingPunct="1">
                        <a:lnSpc>
                          <a:spcPct val="100000"/>
                        </a:lnSpc>
                        <a:spcBef>
                          <a:spcPct val="0"/>
                        </a:spcBef>
                        <a:spcAft>
                          <a:spcPct val="0"/>
                        </a:spcAft>
                        <a:buClrTx/>
                        <a:buSzTx/>
                        <a:buFont typeface="Wingdings" pitchFamily="2" charset="2"/>
                        <a:buChar char="l"/>
                        <a:tabLst/>
                      </a:pP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通过程序规定、培训、记录审核、审 计和自查等管控手段，保证人员对原始电子数据进行适当的审核和批准。</a:t>
                      </a:r>
                    </a:p>
                    <a:p>
                      <a:pPr marL="285750" marR="0" lvl="0" indent="-285750" algn="l" defTabSz="914400" rtl="0" eaLnBrk="1" fontAlgn="base" latinLnBrk="0" hangingPunct="1">
                        <a:lnSpc>
                          <a:spcPct val="100000"/>
                        </a:lnSpc>
                        <a:spcBef>
                          <a:spcPct val="0"/>
                        </a:spcBef>
                        <a:spcAft>
                          <a:spcPct val="0"/>
                        </a:spcAft>
                        <a:buClrTx/>
                        <a:buSzTx/>
                        <a:buFont typeface="Wingdings" pitchFamily="2" charset="2"/>
                        <a:buChar char="l"/>
                        <a:tabLst/>
                      </a:pPr>
                      <a:endPar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endParaRPr>
                    </a:p>
                    <a:p>
                      <a:pPr marL="285750" marR="0" lvl="0" indent="-285750" algn="l" defTabSz="914400" rtl="0" eaLnBrk="1" fontAlgn="base" latinLnBrk="0" hangingPunct="1">
                        <a:lnSpc>
                          <a:spcPct val="100000"/>
                        </a:lnSpc>
                        <a:spcBef>
                          <a:spcPct val="0"/>
                        </a:spcBef>
                        <a:spcAft>
                          <a:spcPct val="0"/>
                        </a:spcAft>
                        <a:buClrTx/>
                        <a:buSzTx/>
                        <a:buFont typeface="Wingdings" pitchFamily="2" charset="2"/>
                        <a:buChar char="l"/>
                        <a:tabLst/>
                      </a:pPr>
                      <a:r>
                        <a:rPr kumimoji="0" lang="zh-CN" altLang="en-US" sz="1600" b="1"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数据审核程序中应要求人员审核电子记录上的原始信息的修改</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（如在审计追踪中、历史日志中记录数据更改），</a:t>
                      </a:r>
                      <a:r>
                        <a:rPr kumimoji="0" lang="zh-CN" altLang="en-US" sz="1600" b="1"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以保证这些修改被合理记录。</a:t>
                      </a:r>
                    </a:p>
                    <a:p>
                      <a:pPr marL="285750" marR="0" lvl="0" indent="-285750" algn="l" defTabSz="914400" rtl="0" eaLnBrk="1" fontAlgn="base" latinLnBrk="0" hangingPunct="1">
                        <a:lnSpc>
                          <a:spcPct val="100000"/>
                        </a:lnSpc>
                        <a:spcBef>
                          <a:spcPct val="0"/>
                        </a:spcBef>
                        <a:spcAft>
                          <a:spcPct val="0"/>
                        </a:spcAft>
                        <a:buClrTx/>
                        <a:buSzTx/>
                        <a:buFont typeface="Wingdings" pitchFamily="2" charset="2"/>
                        <a:buChar char="l"/>
                        <a:tabLst/>
                      </a:pPr>
                      <a:endParaRPr kumimoji="0" lang="zh-CN" altLang="en-US" sz="1600" b="1"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endParaRPr>
                    </a:p>
                    <a:p>
                      <a:pPr marL="285750" marR="0" lvl="0" indent="-285750" algn="l" defTabSz="914400" rtl="0" eaLnBrk="1" fontAlgn="base" latinLnBrk="0" hangingPunct="1">
                        <a:lnSpc>
                          <a:spcPct val="100000"/>
                        </a:lnSpc>
                        <a:spcBef>
                          <a:spcPct val="0"/>
                        </a:spcBef>
                        <a:spcAft>
                          <a:spcPct val="0"/>
                        </a:spcAft>
                        <a:buClrTx/>
                        <a:buSzTx/>
                        <a:buFont typeface="Wingdings" pitchFamily="2" charset="2"/>
                        <a:buChar char="l"/>
                        <a:tabLst/>
                      </a:pPr>
                      <a:r>
                        <a:rPr kumimoji="0" lang="zh-CN" altLang="en-US" sz="1600" b="1"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数据审核应当被记录</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。在电子记录中，通常可通过电子系统、审计跟踪、电子签名来完成。</a:t>
                      </a:r>
                    </a:p>
                    <a:p>
                      <a:pPr marL="285750" marR="0" lvl="0" indent="-285750" algn="l" defTabSz="914400" rtl="0" eaLnBrk="1" fontAlgn="base" latinLnBrk="0" hangingPunct="1">
                        <a:lnSpc>
                          <a:spcPct val="100000"/>
                        </a:lnSpc>
                        <a:spcBef>
                          <a:spcPct val="0"/>
                        </a:spcBef>
                        <a:spcAft>
                          <a:spcPct val="0"/>
                        </a:spcAft>
                        <a:buClrTx/>
                        <a:buSzTx/>
                        <a:buFont typeface="Wingdings" pitchFamily="2" charset="2"/>
                        <a:buChar char="l"/>
                        <a:tabLst/>
                      </a:pPr>
                      <a:endPar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endParaRPr>
                    </a:p>
                    <a:p>
                      <a:pPr marL="285750" marR="0" lvl="0" indent="-285750" algn="l" defTabSz="914400" rtl="0" eaLnBrk="1" fontAlgn="base" latinLnBrk="0" hangingPunct="1">
                        <a:lnSpc>
                          <a:spcPct val="100000"/>
                        </a:lnSpc>
                        <a:spcBef>
                          <a:spcPct val="0"/>
                        </a:spcBef>
                        <a:spcAft>
                          <a:spcPct val="0"/>
                        </a:spcAft>
                        <a:buClrTx/>
                        <a:buSzTx/>
                        <a:buFont typeface="Wingdings" pitchFamily="2" charset="2"/>
                        <a:buChar char="l"/>
                        <a:tabLst/>
                      </a:pP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对于数据审核中发现的错误或遗漏，应确保数据的更正或澄清符合</a:t>
                      </a:r>
                      <a:r>
                        <a:rPr kumimoji="0" 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GxP</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要求，并运用</a:t>
                      </a:r>
                      <a:r>
                        <a:rPr kumimoji="0" 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ALCOA</a:t>
                      </a:r>
                      <a:r>
                        <a:rPr kumimoji="0" lang="zh-CN" altLang="en-US" sz="1600" b="0" i="0" u="none" strike="noStrike" cap="none" normalizeH="0" baseline="0" smtClean="0">
                          <a:ln>
                            <a:noFill/>
                          </a:ln>
                          <a:solidFill>
                            <a:srgbClr val="000000"/>
                          </a:solidFill>
                          <a:effectLst/>
                          <a:latin typeface="华文楷体" pitchFamily="2" charset="-122"/>
                          <a:ea typeface="华文楷体" pitchFamily="2" charset="-122"/>
                          <a:sym typeface="华文楷体" pitchFamily="2" charset="-122"/>
                        </a:rPr>
                        <a:t>原则，确保更改前后的数据均可见，确保追溯性。</a:t>
                      </a:r>
                    </a:p>
                  </a:txBody>
                  <a:tcP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381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r>
            </a:tbl>
          </a:graphicData>
        </a:graphic>
      </p:graphicFrame>
      <p:sp>
        <p:nvSpPr>
          <p:cNvPr id="51215" name="文本框 4"/>
          <p:cNvSpPr>
            <a:spLocks noChangeArrowheads="1"/>
          </p:cNvSpPr>
          <p:nvPr/>
        </p:nvSpPr>
        <p:spPr bwMode="auto">
          <a:xfrm>
            <a:off x="581025" y="6099175"/>
            <a:ext cx="82232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sym typeface="Arial" pitchFamily="34" charset="0"/>
              </a:rPr>
              <a:t>纸质记录的审计跟踪有哪些形式</a:t>
            </a:r>
            <a:r>
              <a:rPr lang="en-US" sz="2400" b="1">
                <a:solidFill>
                  <a:srgbClr val="000000"/>
                </a:solidFill>
                <a:sym typeface="Arial" pitchFamily="34" charset="0"/>
              </a:rPr>
              <a:t>——</a:t>
            </a:r>
            <a:r>
              <a:rPr lang="zh-CN" altLang="en-US" sz="2400" b="1">
                <a:solidFill>
                  <a:srgbClr val="000000"/>
                </a:solidFill>
                <a:sym typeface="Arial" pitchFamily="34" charset="0"/>
              </a:rPr>
              <a:t>各种使用日志以及相互关系、变更控制、记录版本控制等或其组合。</a:t>
            </a:r>
          </a:p>
        </p:txBody>
      </p:sp>
    </p:spTree>
  </p:cSld>
  <p:clrMapOvr>
    <a:masterClrMapping/>
  </p:clrMapOvr>
  <p:transition>
    <p:strips dir="ld"/>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标题 1"/>
          <p:cNvSpPr>
            <a:spLocks noChangeArrowheads="1"/>
          </p:cNvSpPr>
          <p:nvPr/>
        </p:nvSpPr>
        <p:spPr bwMode="auto">
          <a:xfrm>
            <a:off x="457200" y="6207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rgbClr val="FF0000"/>
              </a:solidFill>
              <a:latin typeface="Times New Roman" pitchFamily="18" charset="0"/>
              <a:ea typeface="华文楷体" pitchFamily="2" charset="-122"/>
              <a:sym typeface="Times New Roman" pitchFamily="18" charset="0"/>
            </a:endParaRPr>
          </a:p>
        </p:txBody>
      </p:sp>
      <p:sp>
        <p:nvSpPr>
          <p:cNvPr id="52227" name="文本框 2"/>
          <p:cNvSpPr>
            <a:spLocks noChangeArrowheads="1"/>
          </p:cNvSpPr>
          <p:nvPr/>
        </p:nvSpPr>
        <p:spPr bwMode="auto">
          <a:xfrm>
            <a:off x="1962150" y="965200"/>
            <a:ext cx="52197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4000" b="1">
                <a:solidFill>
                  <a:srgbClr val="000000"/>
                </a:solidFill>
                <a:latin typeface="华文楷体" pitchFamily="2" charset="-122"/>
                <a:ea typeface="华文楷体" pitchFamily="2" charset="-122"/>
                <a:sym typeface="华文楷体" pitchFamily="2" charset="-122"/>
              </a:rPr>
              <a:t>数据审核注意事项</a:t>
            </a:r>
          </a:p>
        </p:txBody>
      </p:sp>
      <p:sp>
        <p:nvSpPr>
          <p:cNvPr id="52228" name="文本框 3"/>
          <p:cNvSpPr>
            <a:spLocks noChangeArrowheads="1"/>
          </p:cNvSpPr>
          <p:nvPr/>
        </p:nvSpPr>
        <p:spPr bwMode="auto">
          <a:xfrm>
            <a:off x="252413" y="1765300"/>
            <a:ext cx="8639175"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342900" indent="-342900">
              <a:buFont typeface="宋体" pitchFamily="2" charset="-122"/>
              <a:buAutoNum type="arabicPeriod"/>
            </a:pPr>
            <a:r>
              <a:rPr lang="zh-CN" altLang="en-US" sz="2400" b="1">
                <a:solidFill>
                  <a:srgbClr val="000000"/>
                </a:solidFill>
                <a:latin typeface="华文楷体" pitchFamily="2" charset="-122"/>
                <a:ea typeface="华文楷体" pitchFamily="2" charset="-122"/>
                <a:sym typeface="华文楷体" pitchFamily="2" charset="-122"/>
              </a:rPr>
              <a:t>推荐对原始记录的</a:t>
            </a:r>
            <a:r>
              <a:rPr lang="zh-CN" altLang="en-US" sz="2400">
                <a:solidFill>
                  <a:srgbClr val="000000"/>
                </a:solidFill>
                <a:latin typeface="华文楷体" pitchFamily="2" charset="-122"/>
                <a:ea typeface="华文楷体" pitchFamily="2" charset="-122"/>
                <a:sym typeface="华文楷体" pitchFamily="2" charset="-122"/>
              </a:rPr>
              <a:t>审核采取基于风险的审核方式。</a:t>
            </a:r>
            <a:r>
              <a:rPr lang="zh-CN" altLang="en-US" sz="2400" b="1">
                <a:solidFill>
                  <a:srgbClr val="000000"/>
                </a:solidFill>
                <a:latin typeface="华文楷体" pitchFamily="2" charset="-122"/>
                <a:ea typeface="华文楷体" pitchFamily="2" charset="-122"/>
                <a:sym typeface="华文楷体" pitchFamily="2" charset="-122"/>
              </a:rPr>
              <a:t>选择该审核方式，需要对工艺的理解和关键质量风险的认知。若原始数据是电子的，基于风险的审核还应需要对该计算机化系统、数据、审计追踪和数据流的理解。</a:t>
            </a:r>
          </a:p>
          <a:p>
            <a:pPr marL="342900" indent="-342900">
              <a:buFont typeface="宋体" pitchFamily="2" charset="-122"/>
              <a:buAutoNum type="arabicPeriod"/>
            </a:pPr>
            <a:endParaRPr lang="zh-CN" altLang="en-US" sz="2400">
              <a:solidFill>
                <a:srgbClr val="000000"/>
              </a:solidFill>
              <a:latin typeface="华文楷体" pitchFamily="2" charset="-122"/>
              <a:ea typeface="华文楷体" pitchFamily="2" charset="-122"/>
              <a:sym typeface="华文楷体" pitchFamily="2" charset="-122"/>
            </a:endParaRPr>
          </a:p>
          <a:p>
            <a:pPr marL="342900" indent="-342900">
              <a:buFont typeface="宋体" pitchFamily="2" charset="-122"/>
              <a:buChar char="•"/>
            </a:pPr>
            <a:r>
              <a:rPr lang="zh-CN" altLang="en-US" sz="2400" b="1">
                <a:solidFill>
                  <a:srgbClr val="000000"/>
                </a:solidFill>
                <a:latin typeface="华文楷体" pitchFamily="2" charset="-122"/>
                <a:ea typeface="华文楷体" pitchFamily="2" charset="-122"/>
                <a:sym typeface="华文楷体" pitchFamily="2" charset="-122"/>
              </a:rPr>
              <a:t>由于软件命名不同</a:t>
            </a:r>
            <a:r>
              <a:rPr lang="zh-CN" altLang="en-US" sz="2400">
                <a:solidFill>
                  <a:srgbClr val="000000"/>
                </a:solidFill>
                <a:latin typeface="华文楷体" pitchFamily="2" charset="-122"/>
                <a:ea typeface="华文楷体" pitchFamily="2" charset="-122"/>
                <a:sym typeface="华文楷体" pitchFamily="2" charset="-122"/>
              </a:rPr>
              <a:t>，有些软件可能使用</a:t>
            </a:r>
            <a:r>
              <a:rPr lang="en-US" sz="2400">
                <a:solidFill>
                  <a:srgbClr val="000000"/>
                </a:solidFill>
                <a:latin typeface="华文楷体" pitchFamily="2" charset="-122"/>
                <a:ea typeface="华文楷体" pitchFamily="2" charset="-122"/>
                <a:sym typeface="华文楷体" pitchFamily="2" charset="-122"/>
              </a:rPr>
              <a:t>“</a:t>
            </a:r>
            <a:r>
              <a:rPr lang="zh-CN" altLang="en-US" sz="2400">
                <a:solidFill>
                  <a:srgbClr val="000000"/>
                </a:solidFill>
                <a:latin typeface="华文楷体" pitchFamily="2" charset="-122"/>
                <a:ea typeface="华文楷体" pitchFamily="2" charset="-122"/>
                <a:sym typeface="华文楷体" pitchFamily="2" charset="-122"/>
              </a:rPr>
              <a:t>历史事件</a:t>
            </a:r>
            <a:r>
              <a:rPr lang="en-US" sz="2400">
                <a:solidFill>
                  <a:srgbClr val="000000"/>
                </a:solidFill>
                <a:latin typeface="华文楷体" pitchFamily="2" charset="-122"/>
                <a:ea typeface="华文楷体" pitchFamily="2" charset="-122"/>
                <a:sym typeface="华文楷体" pitchFamily="2" charset="-122"/>
              </a:rPr>
              <a:t>”</a:t>
            </a:r>
            <a:r>
              <a:rPr lang="zh-CN" altLang="en-US" sz="2400">
                <a:solidFill>
                  <a:srgbClr val="000000"/>
                </a:solidFill>
                <a:latin typeface="华文楷体" pitchFamily="2" charset="-122"/>
                <a:ea typeface="华文楷体" pitchFamily="2" charset="-122"/>
                <a:sym typeface="华文楷体" pitchFamily="2" charset="-122"/>
              </a:rPr>
              <a:t>、</a:t>
            </a:r>
            <a:r>
              <a:rPr lang="en-US" sz="2400">
                <a:solidFill>
                  <a:srgbClr val="000000"/>
                </a:solidFill>
                <a:latin typeface="华文楷体" pitchFamily="2" charset="-122"/>
                <a:ea typeface="华文楷体" pitchFamily="2" charset="-122"/>
                <a:sym typeface="华文楷体" pitchFamily="2" charset="-122"/>
              </a:rPr>
              <a:t>“</a:t>
            </a:r>
            <a:r>
              <a:rPr lang="zh-CN" altLang="en-US" sz="2400">
                <a:solidFill>
                  <a:srgbClr val="000000"/>
                </a:solidFill>
                <a:latin typeface="华文楷体" pitchFamily="2" charset="-122"/>
                <a:ea typeface="华文楷体" pitchFamily="2" charset="-122"/>
                <a:sym typeface="华文楷体" pitchFamily="2" charset="-122"/>
              </a:rPr>
              <a:t>系统日志</a:t>
            </a:r>
            <a:r>
              <a:rPr lang="en-US" sz="2400">
                <a:solidFill>
                  <a:srgbClr val="000000"/>
                </a:solidFill>
                <a:latin typeface="华文楷体" pitchFamily="2" charset="-122"/>
                <a:ea typeface="华文楷体" pitchFamily="2" charset="-122"/>
                <a:sym typeface="华文楷体" pitchFamily="2" charset="-122"/>
              </a:rPr>
              <a:t>”</a:t>
            </a:r>
            <a:r>
              <a:rPr lang="zh-CN" altLang="en-US" sz="2400">
                <a:solidFill>
                  <a:srgbClr val="000000"/>
                </a:solidFill>
                <a:latin typeface="华文楷体" pitchFamily="2" charset="-122"/>
                <a:ea typeface="华文楷体" pitchFamily="2" charset="-122"/>
                <a:sym typeface="华文楷体" pitchFamily="2" charset="-122"/>
              </a:rPr>
              <a:t>等名称，</a:t>
            </a:r>
            <a:r>
              <a:rPr lang="zh-CN" altLang="en-US" sz="2400" b="1">
                <a:solidFill>
                  <a:srgbClr val="000000"/>
                </a:solidFill>
                <a:latin typeface="华文楷体" pitchFamily="2" charset="-122"/>
                <a:ea typeface="华文楷体" pitchFamily="2" charset="-122"/>
                <a:sym typeface="华文楷体" pitchFamily="2" charset="-122"/>
              </a:rPr>
              <a:t>而软件本身定义的审计追踪可能用于追踪计算机系统和文件维护活动。无论软件开发者如何命名，对电子数据、元数据基于风险的审核，要了解系统，才能保证有意义的元数据（审计追踪）得到审核。</a:t>
            </a:r>
          </a:p>
        </p:txBody>
      </p:sp>
    </p:spTree>
  </p:cSld>
  <p:clrMapOvr>
    <a:masterClrMapping/>
  </p:clrMapOvr>
  <p:transition>
    <p:strips dir="ld"/>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标题 1"/>
          <p:cNvSpPr>
            <a:spLocks noChangeArrowheads="1"/>
          </p:cNvSpPr>
          <p:nvPr/>
        </p:nvSpPr>
        <p:spPr bwMode="auto">
          <a:xfrm>
            <a:off x="457200" y="6207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rgbClr val="FF0000"/>
              </a:solidFill>
              <a:latin typeface="Times New Roman" pitchFamily="18" charset="0"/>
              <a:ea typeface="华文楷体" pitchFamily="2" charset="-122"/>
              <a:sym typeface="Times New Roman" pitchFamily="18" charset="0"/>
            </a:endParaRPr>
          </a:p>
        </p:txBody>
      </p:sp>
      <p:sp>
        <p:nvSpPr>
          <p:cNvPr id="53251" name="矩形 19"/>
          <p:cNvSpPr>
            <a:spLocks noChangeArrowheads="1"/>
          </p:cNvSpPr>
          <p:nvPr/>
        </p:nvSpPr>
        <p:spPr bwMode="auto">
          <a:xfrm>
            <a:off x="2760663" y="981075"/>
            <a:ext cx="4154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342900" indent="-342900" algn="ctr">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数据保留（分为存档或备份）</a:t>
            </a:r>
            <a:endParaRPr lang="en-US" sz="2400" b="1">
              <a:solidFill>
                <a:srgbClr val="000000"/>
              </a:solidFill>
              <a:latin typeface="Times New Roman" pitchFamily="18" charset="0"/>
              <a:ea typeface="华文楷体" pitchFamily="2" charset="-122"/>
              <a:sym typeface="Times New Roman" pitchFamily="18" charset="0"/>
            </a:endParaRPr>
          </a:p>
        </p:txBody>
      </p:sp>
      <p:pic>
        <p:nvPicPr>
          <p:cNvPr id="53252" name="图片 4" descr="u=1038293499,425345931&amp;fm=23&amp;g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900" y="1581150"/>
            <a:ext cx="1509713" cy="120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pic>
        <p:nvPicPr>
          <p:cNvPr id="53253" name="图片 5" descr="tim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3055938"/>
            <a:ext cx="126206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sp>
        <p:nvSpPr>
          <p:cNvPr id="53254" name="文本框 7"/>
          <p:cNvSpPr>
            <a:spLocks noChangeArrowheads="1"/>
          </p:cNvSpPr>
          <p:nvPr/>
        </p:nvSpPr>
        <p:spPr bwMode="auto">
          <a:xfrm>
            <a:off x="2487613" y="1795463"/>
            <a:ext cx="63515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华文楷体" pitchFamily="2" charset="-122"/>
                <a:ea typeface="华文楷体" pitchFamily="2" charset="-122"/>
                <a:sym typeface="华文楷体" pitchFamily="2" charset="-122"/>
              </a:rPr>
              <a:t>存档（</a:t>
            </a:r>
            <a:r>
              <a:rPr lang="en-US" sz="2400" b="1">
                <a:solidFill>
                  <a:srgbClr val="000000"/>
                </a:solidFill>
                <a:latin typeface="华文楷体" pitchFamily="2" charset="-122"/>
                <a:ea typeface="华文楷体" pitchFamily="2" charset="-122"/>
                <a:sym typeface="华文楷体" pitchFamily="2" charset="-122"/>
              </a:rPr>
              <a:t>Archiving</a:t>
            </a:r>
            <a:r>
              <a:rPr lang="zh-CN" altLang="en-US" sz="2400" b="1">
                <a:solidFill>
                  <a:srgbClr val="000000"/>
                </a:solidFill>
                <a:latin typeface="华文楷体" pitchFamily="2" charset="-122"/>
                <a:ea typeface="华文楷体" pitchFamily="2" charset="-122"/>
                <a:sym typeface="华文楷体" pitchFamily="2" charset="-122"/>
              </a:rPr>
              <a:t>）</a:t>
            </a:r>
            <a:r>
              <a:rPr lang="zh-CN" altLang="en-US" sz="2400">
                <a:solidFill>
                  <a:srgbClr val="000000"/>
                </a:solidFill>
                <a:latin typeface="华文楷体" pitchFamily="2" charset="-122"/>
                <a:ea typeface="华文楷体" pitchFamily="2" charset="-122"/>
                <a:sym typeface="华文楷体" pitchFamily="2" charset="-122"/>
              </a:rPr>
              <a:t>：将记录和数据转移到指定的位置和系统，使当前不可用。</a:t>
            </a:r>
          </a:p>
        </p:txBody>
      </p:sp>
      <p:sp>
        <p:nvSpPr>
          <p:cNvPr id="53255" name="文本框 8"/>
          <p:cNvSpPr>
            <a:spLocks noChangeArrowheads="1"/>
          </p:cNvSpPr>
          <p:nvPr/>
        </p:nvSpPr>
        <p:spPr bwMode="auto">
          <a:xfrm>
            <a:off x="2487613" y="3127375"/>
            <a:ext cx="6351587"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华文楷体" pitchFamily="2" charset="-122"/>
                <a:ea typeface="华文楷体" pitchFamily="2" charset="-122"/>
                <a:sym typeface="华文楷体" pitchFamily="2" charset="-122"/>
              </a:rPr>
              <a:t>备份（</a:t>
            </a:r>
            <a:r>
              <a:rPr lang="en-US" sz="2400" b="1">
                <a:solidFill>
                  <a:srgbClr val="000000"/>
                </a:solidFill>
                <a:latin typeface="华文楷体" pitchFamily="2" charset="-122"/>
                <a:ea typeface="华文楷体" pitchFamily="2" charset="-122"/>
                <a:sym typeface="华文楷体" pitchFamily="2" charset="-122"/>
              </a:rPr>
              <a:t>Backup</a:t>
            </a:r>
            <a:r>
              <a:rPr lang="zh-CN" altLang="en-US" sz="2400" b="1">
                <a:solidFill>
                  <a:srgbClr val="000000"/>
                </a:solidFill>
                <a:latin typeface="华文楷体" pitchFamily="2" charset="-122"/>
                <a:ea typeface="华文楷体" pitchFamily="2" charset="-122"/>
                <a:sym typeface="华文楷体" pitchFamily="2" charset="-122"/>
              </a:rPr>
              <a:t>）</a:t>
            </a:r>
            <a:r>
              <a:rPr lang="zh-CN" altLang="en-US" sz="2400">
                <a:solidFill>
                  <a:srgbClr val="000000"/>
                </a:solidFill>
                <a:latin typeface="华文楷体" pitchFamily="2" charset="-122"/>
                <a:ea typeface="华文楷体" pitchFamily="2" charset="-122"/>
                <a:sym typeface="华文楷体" pitchFamily="2" charset="-122"/>
              </a:rPr>
              <a:t>：指复制记录、数据和软件的过程，以防数据不完整或不可用。</a:t>
            </a:r>
          </a:p>
        </p:txBody>
      </p:sp>
      <p:sp>
        <p:nvSpPr>
          <p:cNvPr id="53256" name="文本框 9"/>
          <p:cNvSpPr>
            <a:spLocks noChangeArrowheads="1"/>
          </p:cNvSpPr>
          <p:nvPr/>
        </p:nvSpPr>
        <p:spPr bwMode="auto">
          <a:xfrm>
            <a:off x="2487613" y="4611688"/>
            <a:ext cx="6351587"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华文楷体" pitchFamily="2" charset="-122"/>
                <a:ea typeface="华文楷体" pitchFamily="2" charset="-122"/>
                <a:sym typeface="华文楷体" pitchFamily="2" charset="-122"/>
              </a:rPr>
              <a:t>恢复（</a:t>
            </a:r>
            <a:r>
              <a:rPr lang="en-US" sz="2400" b="1">
                <a:solidFill>
                  <a:srgbClr val="000000"/>
                </a:solidFill>
                <a:latin typeface="华文楷体" pitchFamily="2" charset="-122"/>
                <a:ea typeface="华文楷体" pitchFamily="2" charset="-122"/>
                <a:sym typeface="华文楷体" pitchFamily="2" charset="-122"/>
              </a:rPr>
              <a:t>Restore</a:t>
            </a:r>
            <a:r>
              <a:rPr lang="zh-CN" altLang="en-US" sz="2400" b="1">
                <a:solidFill>
                  <a:srgbClr val="000000"/>
                </a:solidFill>
                <a:latin typeface="华文楷体" pitchFamily="2" charset="-122"/>
                <a:ea typeface="华文楷体" pitchFamily="2" charset="-122"/>
                <a:sym typeface="华文楷体" pitchFamily="2" charset="-122"/>
              </a:rPr>
              <a:t>）</a:t>
            </a:r>
            <a:r>
              <a:rPr lang="zh-CN" altLang="en-US" sz="2400">
                <a:solidFill>
                  <a:srgbClr val="000000"/>
                </a:solidFill>
                <a:latin typeface="华文楷体" pitchFamily="2" charset="-122"/>
                <a:ea typeface="华文楷体" pitchFamily="2" charset="-122"/>
                <a:sym typeface="华文楷体" pitchFamily="2" charset="-122"/>
              </a:rPr>
              <a:t>：指在需要时复原已备份的记录、数据或软件。</a:t>
            </a:r>
          </a:p>
        </p:txBody>
      </p:sp>
      <p:sp>
        <p:nvSpPr>
          <p:cNvPr id="53257" name="文本框 10"/>
          <p:cNvSpPr>
            <a:spLocks noChangeArrowheads="1"/>
          </p:cNvSpPr>
          <p:nvPr/>
        </p:nvSpPr>
        <p:spPr bwMode="auto">
          <a:xfrm>
            <a:off x="609600" y="5783263"/>
            <a:ext cx="8229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华文楷体" pitchFamily="2" charset="-122"/>
                <a:ea typeface="华文楷体" pitchFamily="2" charset="-122"/>
                <a:sym typeface="华文楷体" pitchFamily="2" charset="-122"/>
              </a:rPr>
              <a:t>存档与备份也属于计算机化管理的内容，也是数据完整性管理的内容，我们合并一块来讲。</a:t>
            </a:r>
          </a:p>
        </p:txBody>
      </p:sp>
      <p:pic>
        <p:nvPicPr>
          <p:cNvPr id="53258" name="图片 11" descr="tim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4471988"/>
            <a:ext cx="1106487" cy="110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sp>
        <p:nvSpPr>
          <p:cNvPr id="53259" name="Rectangle 2"/>
          <p:cNvSpPr>
            <a:spLocks noChangeArrowheads="1"/>
          </p:cNvSpPr>
          <p:nvPr/>
        </p:nvSpPr>
        <p:spPr bwMode="auto">
          <a:xfrm>
            <a:off x="1174750" y="147638"/>
            <a:ext cx="822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节：数据完整性管控策略与基本要求</a:t>
            </a:r>
          </a:p>
        </p:txBody>
      </p:sp>
    </p:spTree>
  </p:cSld>
  <p:clrMapOvr>
    <a:masterClrMapping/>
  </p:clrMapOvr>
  <p:transition>
    <p:strips dir="ld"/>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标题 1"/>
          <p:cNvSpPr>
            <a:spLocks noChangeArrowheads="1"/>
          </p:cNvSpPr>
          <p:nvPr/>
        </p:nvSpPr>
        <p:spPr bwMode="auto">
          <a:xfrm>
            <a:off x="457200" y="6207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rgbClr val="FF0000"/>
              </a:solidFill>
              <a:latin typeface="Times New Roman" pitchFamily="18" charset="0"/>
              <a:ea typeface="华文楷体" pitchFamily="2" charset="-122"/>
              <a:sym typeface="Times New Roman" pitchFamily="18" charset="0"/>
            </a:endParaRPr>
          </a:p>
        </p:txBody>
      </p:sp>
      <p:sp>
        <p:nvSpPr>
          <p:cNvPr id="54275" name="矩形 19"/>
          <p:cNvSpPr>
            <a:spLocks noChangeArrowheads="1"/>
          </p:cNvSpPr>
          <p:nvPr/>
        </p:nvSpPr>
        <p:spPr bwMode="auto">
          <a:xfrm>
            <a:off x="3203575" y="873125"/>
            <a:ext cx="30321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342900" indent="-342900" algn="ctr">
              <a:spcBef>
                <a:spcPct val="20000"/>
              </a:spcBef>
            </a:pPr>
            <a:r>
              <a:rPr lang="zh-CN" altLang="en-US" sz="2800" b="1">
                <a:solidFill>
                  <a:srgbClr val="FF0000"/>
                </a:solidFill>
                <a:latin typeface="Times New Roman" pitchFamily="18" charset="0"/>
                <a:ea typeface="华文楷体" pitchFamily="2" charset="-122"/>
                <a:sym typeface="Times New Roman" pitchFamily="18" charset="0"/>
              </a:rPr>
              <a:t>存档与备份的定义</a:t>
            </a:r>
          </a:p>
        </p:txBody>
      </p:sp>
      <p:sp>
        <p:nvSpPr>
          <p:cNvPr id="54276" name="文本框 3"/>
          <p:cNvSpPr>
            <a:spLocks noChangeArrowheads="1"/>
          </p:cNvSpPr>
          <p:nvPr/>
        </p:nvSpPr>
        <p:spPr bwMode="auto">
          <a:xfrm>
            <a:off x="642938" y="1620838"/>
            <a:ext cx="8034337"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华文楷体" pitchFamily="2" charset="-122"/>
                <a:ea typeface="华文楷体" pitchFamily="2" charset="-122"/>
                <a:sym typeface="华文楷体" pitchFamily="2" charset="-122"/>
              </a:rPr>
              <a:t>存档（</a:t>
            </a:r>
            <a:r>
              <a:rPr lang="en-US" sz="2400" b="1">
                <a:solidFill>
                  <a:srgbClr val="000000"/>
                </a:solidFill>
                <a:latin typeface="华文楷体" pitchFamily="2" charset="-122"/>
                <a:ea typeface="华文楷体" pitchFamily="2" charset="-122"/>
                <a:sym typeface="华文楷体" pitchFamily="2" charset="-122"/>
              </a:rPr>
              <a:t>Archival</a:t>
            </a:r>
            <a:r>
              <a:rPr lang="zh-CN" altLang="en-US" sz="2400" b="1">
                <a:solidFill>
                  <a:srgbClr val="000000"/>
                </a:solidFill>
                <a:latin typeface="华文楷体" pitchFamily="2" charset="-122"/>
                <a:ea typeface="华文楷体" pitchFamily="2" charset="-122"/>
                <a:sym typeface="华文楷体" pitchFamily="2" charset="-122"/>
              </a:rPr>
              <a:t>或</a:t>
            </a:r>
            <a:r>
              <a:rPr lang="en-US" sz="2400" b="1">
                <a:solidFill>
                  <a:srgbClr val="000000"/>
                </a:solidFill>
                <a:latin typeface="华文楷体" pitchFamily="2" charset="-122"/>
                <a:ea typeface="华文楷体" pitchFamily="2" charset="-122"/>
                <a:sym typeface="华文楷体" pitchFamily="2" charset="-122"/>
              </a:rPr>
              <a:t>Archive</a:t>
            </a:r>
            <a:r>
              <a:rPr lang="zh-CN" altLang="en-US" sz="2400" b="1">
                <a:solidFill>
                  <a:srgbClr val="000000"/>
                </a:solidFill>
                <a:latin typeface="华文楷体" pitchFamily="2" charset="-122"/>
                <a:ea typeface="华文楷体" pitchFamily="2" charset="-122"/>
                <a:sym typeface="华文楷体" pitchFamily="2" charset="-122"/>
              </a:rPr>
              <a:t>）</a:t>
            </a:r>
            <a:r>
              <a:rPr lang="zh-CN" altLang="en-US" sz="2400">
                <a:solidFill>
                  <a:srgbClr val="000000"/>
                </a:solidFill>
                <a:latin typeface="华文楷体" pitchFamily="2" charset="-122"/>
                <a:ea typeface="华文楷体" pitchFamily="2" charset="-122"/>
                <a:sym typeface="华文楷体" pitchFamily="2" charset="-122"/>
              </a:rPr>
              <a:t>：</a:t>
            </a:r>
            <a:r>
              <a:rPr lang="zh-CN" altLang="en-US" b="1">
                <a:solidFill>
                  <a:srgbClr val="000000"/>
                </a:solidFill>
                <a:latin typeface="华文楷体" pitchFamily="2" charset="-122"/>
                <a:ea typeface="华文楷体" pitchFamily="2" charset="-122"/>
                <a:sym typeface="华文楷体" pitchFamily="2" charset="-122"/>
              </a:rPr>
              <a:t>在记录规定保存期限内，在专门人员的控制下保存记录，保护记录免于进一步被修改或删除，已存档的记录应被锁定，防止在无法觉察或者无审计追踪情况下被修改；存档方式的设计应确保数据和元数据在记录规定保存期间内可被调取。</a:t>
            </a:r>
          </a:p>
          <a:p>
            <a:endParaRPr lang="zh-CN" altLang="en-US" b="1">
              <a:solidFill>
                <a:srgbClr val="000000"/>
              </a:solidFill>
              <a:latin typeface="华文楷体" pitchFamily="2" charset="-122"/>
              <a:ea typeface="华文楷体" pitchFamily="2" charset="-122"/>
              <a:sym typeface="华文楷体" pitchFamily="2" charset="-122"/>
            </a:endParaRPr>
          </a:p>
          <a:p>
            <a:r>
              <a:rPr lang="zh-CN" altLang="en-US" sz="2400" b="1">
                <a:solidFill>
                  <a:srgbClr val="000000"/>
                </a:solidFill>
                <a:latin typeface="华文楷体" pitchFamily="2" charset="-122"/>
                <a:ea typeface="华文楷体" pitchFamily="2" charset="-122"/>
                <a:sym typeface="华文楷体" pitchFamily="2" charset="-122"/>
              </a:rPr>
              <a:t>备份（</a:t>
            </a:r>
            <a:r>
              <a:rPr lang="en-US" sz="2400" b="1">
                <a:solidFill>
                  <a:srgbClr val="000000"/>
                </a:solidFill>
                <a:latin typeface="华文楷体" pitchFamily="2" charset="-122"/>
                <a:ea typeface="华文楷体" pitchFamily="2" charset="-122"/>
                <a:sym typeface="华文楷体" pitchFamily="2" charset="-122"/>
              </a:rPr>
              <a:t>Backup</a:t>
            </a:r>
            <a:r>
              <a:rPr lang="zh-CN" altLang="en-US" sz="2400" b="1">
                <a:solidFill>
                  <a:srgbClr val="000000"/>
                </a:solidFill>
                <a:latin typeface="华文楷体" pitchFamily="2" charset="-122"/>
                <a:ea typeface="华文楷体" pitchFamily="2" charset="-122"/>
                <a:sym typeface="华文楷体" pitchFamily="2" charset="-122"/>
              </a:rPr>
              <a:t>）</a:t>
            </a:r>
            <a:r>
              <a:rPr lang="zh-CN" altLang="en-US" sz="2400">
                <a:solidFill>
                  <a:srgbClr val="000000"/>
                </a:solidFill>
                <a:latin typeface="华文楷体" pitchFamily="2" charset="-122"/>
                <a:ea typeface="华文楷体" pitchFamily="2" charset="-122"/>
                <a:sym typeface="华文楷体" pitchFamily="2" charset="-122"/>
              </a:rPr>
              <a:t>：</a:t>
            </a:r>
            <a:r>
              <a:rPr lang="zh-CN" altLang="en-US" b="1">
                <a:solidFill>
                  <a:srgbClr val="000000"/>
                </a:solidFill>
                <a:latin typeface="华文楷体" pitchFamily="2" charset="-122"/>
                <a:ea typeface="华文楷体" pitchFamily="2" charset="-122"/>
                <a:sym typeface="华文楷体" pitchFamily="2" charset="-122"/>
              </a:rPr>
              <a:t>对现行的（可编辑）</a:t>
            </a:r>
            <a:r>
              <a:rPr lang="zh-CN" altLang="en-US">
                <a:solidFill>
                  <a:srgbClr val="000000"/>
                </a:solidFill>
                <a:latin typeface="华文楷体" pitchFamily="2" charset="-122"/>
                <a:ea typeface="华文楷体" pitchFamily="2" charset="-122"/>
                <a:sym typeface="华文楷体" pitchFamily="2" charset="-122"/>
              </a:rPr>
              <a:t>数据</a:t>
            </a:r>
            <a:r>
              <a:rPr lang="zh-CN" altLang="en-US" b="1">
                <a:solidFill>
                  <a:srgbClr val="000000"/>
                </a:solidFill>
                <a:latin typeface="华文楷体" pitchFamily="2" charset="-122"/>
                <a:ea typeface="华文楷体" pitchFamily="2" charset="-122"/>
                <a:sym typeface="华文楷体" pitchFamily="2" charset="-122"/>
              </a:rPr>
              <a:t>（包括元数据）</a:t>
            </a:r>
            <a:r>
              <a:rPr lang="zh-CN" altLang="en-US">
                <a:solidFill>
                  <a:srgbClr val="000000"/>
                </a:solidFill>
                <a:latin typeface="华文楷体" pitchFamily="2" charset="-122"/>
                <a:ea typeface="华文楷体" pitchFamily="2" charset="-122"/>
                <a:sym typeface="华文楷体" pitchFamily="2" charset="-122"/>
              </a:rPr>
              <a:t>、系统</a:t>
            </a:r>
            <a:r>
              <a:rPr lang="zh-CN" altLang="en-US" b="1">
                <a:solidFill>
                  <a:srgbClr val="000000"/>
                </a:solidFill>
                <a:latin typeface="华文楷体" pitchFamily="2" charset="-122"/>
                <a:ea typeface="华文楷体" pitchFamily="2" charset="-122"/>
                <a:sym typeface="华文楷体" pitchFamily="2" charset="-122"/>
              </a:rPr>
              <a:t>（参数设置）</a:t>
            </a:r>
            <a:r>
              <a:rPr lang="zh-CN" altLang="en-US">
                <a:solidFill>
                  <a:srgbClr val="000000"/>
                </a:solidFill>
                <a:latin typeface="华文楷体" pitchFamily="2" charset="-122"/>
                <a:ea typeface="华文楷体" pitchFamily="2" charset="-122"/>
                <a:sym typeface="华文楷体" pitchFamily="2" charset="-122"/>
              </a:rPr>
              <a:t>和程序，</a:t>
            </a:r>
            <a:r>
              <a:rPr lang="zh-CN" altLang="en-US" b="1">
                <a:solidFill>
                  <a:srgbClr val="000000"/>
                </a:solidFill>
                <a:latin typeface="华文楷体" pitchFamily="2" charset="-122"/>
                <a:ea typeface="华文楷体" pitchFamily="2" charset="-122"/>
                <a:sym typeface="华文楷体" pitchFamily="2" charset="-122"/>
              </a:rPr>
              <a:t>为了灾难恢复的目的而创建的一个或多个电子文件的替代副本</a:t>
            </a:r>
            <a:r>
              <a:rPr lang="zh-CN" altLang="en-US">
                <a:solidFill>
                  <a:srgbClr val="000000"/>
                </a:solidFill>
                <a:latin typeface="华文楷体" pitchFamily="2" charset="-122"/>
                <a:ea typeface="华文楷体" pitchFamily="2" charset="-122"/>
                <a:sym typeface="华文楷体" pitchFamily="2" charset="-122"/>
              </a:rPr>
              <a:t>。灾难常指原始数据丢失或者系统不可用（例如：系统崩溃或磁盘损坏）。电子记录的备份仅作为灾难恢复目的，通常只是暂时存储，可能会定期覆盖。</a:t>
            </a:r>
          </a:p>
          <a:p>
            <a:endParaRPr lang="zh-CN" altLang="en-US">
              <a:solidFill>
                <a:srgbClr val="000000"/>
              </a:solidFill>
              <a:latin typeface="华文楷体" pitchFamily="2" charset="-122"/>
              <a:ea typeface="华文楷体" pitchFamily="2" charset="-122"/>
              <a:sym typeface="华文楷体" pitchFamily="2" charset="-122"/>
            </a:endParaRPr>
          </a:p>
          <a:p>
            <a:r>
              <a:rPr lang="zh-CN" altLang="en-US">
                <a:solidFill>
                  <a:srgbClr val="000000"/>
                </a:solidFill>
                <a:latin typeface="华文楷体" pitchFamily="2" charset="-122"/>
                <a:ea typeface="华文楷体" pitchFamily="2" charset="-122"/>
                <a:sym typeface="华文楷体" pitchFamily="2" charset="-122"/>
              </a:rPr>
              <a:t>举例：保留（</a:t>
            </a:r>
            <a:r>
              <a:rPr lang="en-US">
                <a:solidFill>
                  <a:srgbClr val="000000"/>
                </a:solidFill>
                <a:latin typeface="华文楷体" pitchFamily="2" charset="-122"/>
                <a:ea typeface="华文楷体" pitchFamily="2" charset="-122"/>
                <a:sym typeface="华文楷体" pitchFamily="2" charset="-122"/>
              </a:rPr>
              <a:t>Retention</a:t>
            </a:r>
            <a:r>
              <a:rPr lang="zh-CN" altLang="en-US">
                <a:solidFill>
                  <a:srgbClr val="000000"/>
                </a:solidFill>
                <a:latin typeface="华文楷体" pitchFamily="2" charset="-122"/>
                <a:ea typeface="华文楷体" pitchFamily="2" charset="-122"/>
                <a:sym typeface="华文楷体" pitchFamily="2" charset="-122"/>
              </a:rPr>
              <a:t>）包括存档与备份</a:t>
            </a:r>
          </a:p>
          <a:p>
            <a:r>
              <a:rPr lang="zh-CN" altLang="en-US" sz="2400" b="1">
                <a:solidFill>
                  <a:srgbClr val="FF0000"/>
                </a:solidFill>
                <a:latin typeface="华文楷体" pitchFamily="2" charset="-122"/>
                <a:ea typeface="华文楷体" pitchFamily="2" charset="-122"/>
                <a:sym typeface="华文楷体" pitchFamily="2" charset="-122"/>
              </a:rPr>
              <a:t>单机版：</a:t>
            </a:r>
            <a:r>
              <a:rPr lang="en-US" b="1">
                <a:solidFill>
                  <a:srgbClr val="000000"/>
                </a:solidFill>
                <a:latin typeface="华文楷体" pitchFamily="2" charset="-122"/>
                <a:ea typeface="华文楷体" pitchFamily="2" charset="-122"/>
                <a:sym typeface="华文楷体" pitchFamily="2" charset="-122"/>
              </a:rPr>
              <a:t>HPLC</a:t>
            </a:r>
            <a:r>
              <a:rPr lang="zh-CN" altLang="en-US" b="1">
                <a:solidFill>
                  <a:srgbClr val="000000"/>
                </a:solidFill>
                <a:latin typeface="华文楷体" pitchFamily="2" charset="-122"/>
                <a:ea typeface="华文楷体" pitchFamily="2" charset="-122"/>
                <a:sym typeface="华文楷体" pitchFamily="2" charset="-122"/>
              </a:rPr>
              <a:t>产生的电子图谱，存档在当地盘上</a:t>
            </a:r>
            <a:r>
              <a:rPr lang="zh-CN" altLang="en-US">
                <a:solidFill>
                  <a:srgbClr val="000000"/>
                </a:solidFill>
                <a:latin typeface="华文楷体" pitchFamily="2" charset="-122"/>
                <a:ea typeface="华文楷体" pitchFamily="2" charset="-122"/>
                <a:sym typeface="华文楷体" pitchFamily="2" charset="-122"/>
              </a:rPr>
              <a:t>；</a:t>
            </a:r>
            <a:r>
              <a:rPr lang="zh-CN" altLang="en-US" b="1">
                <a:solidFill>
                  <a:srgbClr val="000000"/>
                </a:solidFill>
                <a:latin typeface="华文楷体" pitchFamily="2" charset="-122"/>
                <a:ea typeface="华文楷体" pitchFamily="2" charset="-122"/>
                <a:sym typeface="华文楷体" pitchFamily="2" charset="-122"/>
              </a:rPr>
              <a:t>定期备份保留到光盘、计算机硬盘或另外的计算机中。</a:t>
            </a:r>
          </a:p>
          <a:p>
            <a:r>
              <a:rPr lang="zh-CN" altLang="en-US" sz="2400" b="1">
                <a:solidFill>
                  <a:srgbClr val="FF0000"/>
                </a:solidFill>
                <a:latin typeface="华文楷体" pitchFamily="2" charset="-122"/>
                <a:ea typeface="华文楷体" pitchFamily="2" charset="-122"/>
                <a:sym typeface="华文楷体" pitchFamily="2" charset="-122"/>
              </a:rPr>
              <a:t>网络版：</a:t>
            </a:r>
            <a:r>
              <a:rPr lang="en-US" b="1">
                <a:solidFill>
                  <a:srgbClr val="000000"/>
                </a:solidFill>
                <a:latin typeface="华文楷体" pitchFamily="2" charset="-122"/>
                <a:ea typeface="华文楷体" pitchFamily="2" charset="-122"/>
                <a:sym typeface="华文楷体" pitchFamily="2" charset="-122"/>
              </a:rPr>
              <a:t>HPLC</a:t>
            </a:r>
            <a:r>
              <a:rPr lang="zh-CN" altLang="en-US" b="1">
                <a:solidFill>
                  <a:srgbClr val="000000"/>
                </a:solidFill>
                <a:latin typeface="华文楷体" pitchFamily="2" charset="-122"/>
                <a:ea typeface="华文楷体" pitchFamily="2" charset="-122"/>
                <a:sym typeface="华文楷体" pitchFamily="2" charset="-122"/>
              </a:rPr>
              <a:t>一产生电子图谱，就上传到服务器上进行了存档，定期异地备份保留到其它的计算机中、磁带机中。</a:t>
            </a:r>
            <a:r>
              <a:rPr lang="zh-CN" altLang="en-US" b="1">
                <a:solidFill>
                  <a:srgbClr val="FF0000"/>
                </a:solidFill>
                <a:latin typeface="华文楷体" pitchFamily="2" charset="-122"/>
                <a:ea typeface="华文楷体" pitchFamily="2" charset="-122"/>
                <a:sym typeface="华文楷体" pitchFamily="2" charset="-122"/>
              </a:rPr>
              <a:t>备份到另外的服务器中是一种没有必要的浪费。</a:t>
            </a:r>
          </a:p>
        </p:txBody>
      </p:sp>
    </p:spTree>
  </p:cSld>
  <p:clrMapOvr>
    <a:masterClrMapping/>
  </p:clrMapOvr>
  <p:transition>
    <p:strips dir="ld"/>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标题 1"/>
          <p:cNvSpPr>
            <a:spLocks noChangeArrowheads="1"/>
          </p:cNvSpPr>
          <p:nvPr/>
        </p:nvSpPr>
        <p:spPr bwMode="auto">
          <a:xfrm>
            <a:off x="457200" y="6207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rgbClr val="FF0000"/>
              </a:solidFill>
              <a:latin typeface="Times New Roman" pitchFamily="18" charset="0"/>
              <a:ea typeface="华文楷体" pitchFamily="2" charset="-122"/>
              <a:sym typeface="Times New Roman" pitchFamily="18" charset="0"/>
            </a:endParaRPr>
          </a:p>
        </p:txBody>
      </p:sp>
      <p:sp>
        <p:nvSpPr>
          <p:cNvPr id="55299" name="矩形 19"/>
          <p:cNvSpPr>
            <a:spLocks noChangeArrowheads="1"/>
          </p:cNvSpPr>
          <p:nvPr/>
        </p:nvSpPr>
        <p:spPr bwMode="auto">
          <a:xfrm>
            <a:off x="3067050" y="1125538"/>
            <a:ext cx="3541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342900" indent="-342900" algn="ctr">
              <a:spcBef>
                <a:spcPct val="20000"/>
              </a:spcBef>
            </a:pPr>
            <a:r>
              <a:rPr lang="zh-CN" altLang="en-US" sz="2400" b="1">
                <a:solidFill>
                  <a:srgbClr val="000000"/>
                </a:solidFill>
                <a:latin typeface="Times New Roman" pitchFamily="18" charset="0"/>
                <a:ea typeface="华文楷体" pitchFamily="2" charset="-122"/>
                <a:sym typeface="Times New Roman" pitchFamily="18" charset="0"/>
              </a:rPr>
              <a:t>备份与存档的特点与区别</a:t>
            </a:r>
          </a:p>
        </p:txBody>
      </p:sp>
      <p:graphicFrame>
        <p:nvGraphicFramePr>
          <p:cNvPr id="55300" name="表格 2"/>
          <p:cNvGraphicFramePr>
            <a:graphicFrameLocks noGrp="1"/>
          </p:cNvGraphicFramePr>
          <p:nvPr/>
        </p:nvGraphicFramePr>
        <p:xfrm>
          <a:off x="252413" y="1857375"/>
          <a:ext cx="8710612" cy="4594225"/>
        </p:xfrm>
        <a:graphic>
          <a:graphicData uri="http://schemas.openxmlformats.org/drawingml/2006/table">
            <a:tbl>
              <a:tblPr/>
              <a:tblGrid>
                <a:gridCol w="1455737"/>
                <a:gridCol w="3773488"/>
                <a:gridCol w="3481387"/>
              </a:tblGrid>
              <a:tr h="534988">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1" i="0" u="none" strike="noStrike" cap="none" normalizeH="0" baseline="0" smtClean="0">
                          <a:ln>
                            <a:noFill/>
                          </a:ln>
                          <a:solidFill>
                            <a:srgbClr val="FFFFFF"/>
                          </a:solidFill>
                          <a:effectLst/>
                          <a:latin typeface="Arial" pitchFamily="34" charset="0"/>
                          <a:ea typeface="宋体" pitchFamily="2" charset="-122"/>
                          <a:sym typeface="Arial" pitchFamily="34" charset="0"/>
                        </a:rPr>
                        <a:t>特点</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38100" cap="flat" cmpd="sng" algn="ctr">
                      <a:solidFill>
                        <a:srgbClr val="FFFFFF"/>
                      </a:solidFill>
                      <a:prstDash val="solid"/>
                      <a:bevel/>
                      <a:headEnd type="none" w="med" len="med"/>
                      <a:tailEnd type="none" w="med" len="med"/>
                    </a:lnB>
                    <a:lnTlToBr>
                      <a:noFill/>
                    </a:lnTlToBr>
                    <a:lnBlToTr>
                      <a:noFill/>
                    </a:lnBlToTr>
                    <a:solidFill>
                      <a:srgbClr val="4F81BD"/>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1" i="0" u="none" strike="noStrike" cap="none" normalizeH="0" baseline="0" smtClean="0">
                          <a:ln>
                            <a:noFill/>
                          </a:ln>
                          <a:solidFill>
                            <a:srgbClr val="FFFFFF"/>
                          </a:solidFill>
                          <a:effectLst/>
                          <a:latin typeface="Arial" pitchFamily="34" charset="0"/>
                          <a:ea typeface="宋体" pitchFamily="2" charset="-122"/>
                          <a:sym typeface="Arial" pitchFamily="34" charset="0"/>
                        </a:rPr>
                        <a:t>存档</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38100" cap="flat" cmpd="sng" algn="ctr">
                      <a:solidFill>
                        <a:srgbClr val="FFFFFF"/>
                      </a:solidFill>
                      <a:prstDash val="solid"/>
                      <a:bevel/>
                      <a:headEnd type="none" w="med" len="med"/>
                      <a:tailEnd type="none" w="med" len="med"/>
                    </a:lnB>
                    <a:lnTlToBr>
                      <a:noFill/>
                    </a:lnTlToBr>
                    <a:lnBlToTr>
                      <a:noFill/>
                    </a:lnBlToTr>
                    <a:solidFill>
                      <a:srgbClr val="4F81BD"/>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1" i="0" u="none" strike="noStrike" cap="none" normalizeH="0" baseline="0" smtClean="0">
                          <a:ln>
                            <a:noFill/>
                          </a:ln>
                          <a:solidFill>
                            <a:srgbClr val="FFFFFF"/>
                          </a:solidFill>
                          <a:effectLst/>
                          <a:latin typeface="Arial" pitchFamily="34" charset="0"/>
                          <a:ea typeface="宋体" pitchFamily="2" charset="-122"/>
                          <a:sym typeface="Arial" pitchFamily="34" charset="0"/>
                        </a:rPr>
                        <a:t>备份</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38100" cap="flat" cmpd="sng" algn="ctr">
                      <a:solidFill>
                        <a:srgbClr val="FFFFFF"/>
                      </a:solidFill>
                      <a:prstDash val="solid"/>
                      <a:bevel/>
                      <a:headEnd type="none" w="med" len="med"/>
                      <a:tailEnd type="none" w="med" len="med"/>
                    </a:lnB>
                    <a:lnTlToBr>
                      <a:noFill/>
                    </a:lnTlToBr>
                    <a:lnBlToTr>
                      <a:noFill/>
                    </a:lnBlToTr>
                    <a:solidFill>
                      <a:srgbClr val="4F81BD"/>
                    </a:solidFill>
                  </a:tcPr>
                </a:tc>
              </a:tr>
              <a:tr h="8112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目的</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381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防止更改</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381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用于恢复</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381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r>
              <a:tr h="8128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操作</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E9ECF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转移（从当前工作环境进行转移，并使当前状态不可用）</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E9ECF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复制</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E9ECF4"/>
                    </a:solidFill>
                  </a:tcPr>
                </a:tc>
              </a:tr>
              <a:tr h="812800">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安全</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不可以再更改数据</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可再更改数据或覆盖数据</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r>
              <a:tr h="8112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内容</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E9ECF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通常指数据</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E9ECF4"/>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通常包括数据，系统和程序</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E9ECF4"/>
                    </a:solidFill>
                  </a:tcPr>
                </a:tc>
              </a:tr>
              <a:tr h="8112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使用</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000" b="0" i="0" u="none" strike="noStrike" cap="none" normalizeH="0" baseline="0" smtClean="0">
                          <a:ln>
                            <a:noFill/>
                          </a:ln>
                          <a:solidFill>
                            <a:srgbClr val="000000"/>
                          </a:solidFill>
                          <a:effectLst/>
                          <a:latin typeface="Arial" pitchFamily="34" charset="0"/>
                          <a:ea typeface="宋体" pitchFamily="2" charset="-122"/>
                          <a:sym typeface="Arial" pitchFamily="34" charset="0"/>
                        </a:rPr>
                        <a:t>存档与备份有时是相同的</a:t>
                      </a:r>
                    </a:p>
                  </a:txBody>
                  <a:tcPr anchor="ctr" horzOverflow="overflow">
                    <a:lnL w="12700" cap="flat" cmpd="sng" algn="ctr">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CFD8E7"/>
                    </a:solidFill>
                  </a:tcPr>
                </a:tc>
                <a:tc hMerge="1">
                  <a:txBody>
                    <a:bodyPr/>
                    <a:lstStyle/>
                    <a:p>
                      <a:endParaRPr lang="zh-CN" altLang="en-US"/>
                    </a:p>
                  </a:txBody>
                  <a:tcPr/>
                </a:tc>
              </a:tr>
            </a:tbl>
          </a:graphicData>
        </a:graphic>
      </p:graphicFrame>
      <p:sp>
        <p:nvSpPr>
          <p:cNvPr id="55329" name="Rectangle 2"/>
          <p:cNvSpPr>
            <a:spLocks noChangeArrowheads="1"/>
          </p:cNvSpPr>
          <p:nvPr/>
        </p:nvSpPr>
        <p:spPr bwMode="auto">
          <a:xfrm>
            <a:off x="1174750" y="147638"/>
            <a:ext cx="822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节：数据完整性管控策略与基本要求</a:t>
            </a:r>
          </a:p>
        </p:txBody>
      </p:sp>
    </p:spTree>
  </p:cSld>
  <p:clrMapOvr>
    <a:masterClrMapping/>
  </p:clrMapOvr>
  <p:transition>
    <p:strips dir="ld"/>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标题 1"/>
          <p:cNvSpPr>
            <a:spLocks noChangeArrowheads="1"/>
          </p:cNvSpPr>
          <p:nvPr/>
        </p:nvSpPr>
        <p:spPr bwMode="auto">
          <a:xfrm>
            <a:off x="457200" y="6207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rgbClr val="FF0000"/>
              </a:solidFill>
              <a:latin typeface="Times New Roman" pitchFamily="18" charset="0"/>
              <a:ea typeface="华文楷体" pitchFamily="2" charset="-122"/>
              <a:sym typeface="Times New Roman" pitchFamily="18" charset="0"/>
            </a:endParaRPr>
          </a:p>
        </p:txBody>
      </p:sp>
      <p:sp>
        <p:nvSpPr>
          <p:cNvPr id="56323" name="矩形 19"/>
          <p:cNvSpPr>
            <a:spLocks noChangeArrowheads="1"/>
          </p:cNvSpPr>
          <p:nvPr/>
        </p:nvSpPr>
        <p:spPr bwMode="auto">
          <a:xfrm>
            <a:off x="3024188" y="873125"/>
            <a:ext cx="33893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342900" indent="-342900" algn="ctr">
              <a:spcBef>
                <a:spcPct val="20000"/>
              </a:spcBef>
            </a:pPr>
            <a:r>
              <a:rPr lang="zh-CN" altLang="en-US" sz="2800" b="1">
                <a:solidFill>
                  <a:srgbClr val="FF0000"/>
                </a:solidFill>
                <a:latin typeface="Times New Roman" pitchFamily="18" charset="0"/>
                <a:ea typeface="华文楷体" pitchFamily="2" charset="-122"/>
                <a:sym typeface="Times New Roman" pitchFamily="18" charset="0"/>
              </a:rPr>
              <a:t>原始记录保留的要求</a:t>
            </a:r>
          </a:p>
        </p:txBody>
      </p:sp>
      <p:sp>
        <p:nvSpPr>
          <p:cNvPr id="56324" name="文本框 3"/>
          <p:cNvSpPr>
            <a:spLocks noChangeArrowheads="1"/>
          </p:cNvSpPr>
          <p:nvPr/>
        </p:nvSpPr>
        <p:spPr bwMode="auto">
          <a:xfrm>
            <a:off x="273050" y="1476375"/>
            <a:ext cx="8731250"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342900" indent="-342900">
              <a:buFont typeface="宋体" pitchFamily="2" charset="-122"/>
              <a:buAutoNum type="arabicPeriod"/>
            </a:pPr>
            <a:r>
              <a:rPr lang="zh-CN" altLang="en-US" sz="2000">
                <a:solidFill>
                  <a:srgbClr val="000000"/>
                </a:solidFill>
                <a:latin typeface="Times New Roman" pitchFamily="18" charset="0"/>
                <a:ea typeface="华文楷体" pitchFamily="2" charset="-122"/>
                <a:sym typeface="Times New Roman" pitchFamily="18" charset="0"/>
              </a:rPr>
              <a:t>存档记录应上锁或控制，</a:t>
            </a:r>
            <a:r>
              <a:rPr lang="zh-CN" altLang="en-US" sz="2000" b="1">
                <a:solidFill>
                  <a:srgbClr val="000000"/>
                </a:solidFill>
                <a:latin typeface="Times New Roman" pitchFamily="18" charset="0"/>
                <a:ea typeface="华文楷体" pitchFamily="2" charset="-122"/>
                <a:sym typeface="Times New Roman" pitchFamily="18" charset="0"/>
              </a:rPr>
              <a:t>以防止被无意和有意的篡改或删除</a:t>
            </a:r>
            <a:r>
              <a:rPr lang="zh-CN" altLang="en-US" sz="2000">
                <a:solidFill>
                  <a:srgbClr val="000000"/>
                </a:solidFill>
                <a:latin typeface="Times New Roman" pitchFamily="18" charset="0"/>
                <a:ea typeface="华文楷体" pitchFamily="2" charset="-122"/>
                <a:sym typeface="Times New Roman" pitchFamily="18" charset="0"/>
              </a:rPr>
              <a:t>。</a:t>
            </a:r>
          </a:p>
          <a:p>
            <a:pPr marL="342900" indent="-342900">
              <a:buFont typeface="宋体" pitchFamily="2" charset="-122"/>
              <a:buAutoNum type="arabicPeriod"/>
            </a:pPr>
            <a:r>
              <a:rPr lang="zh-CN" altLang="en-US" sz="2000" b="1">
                <a:solidFill>
                  <a:srgbClr val="000000"/>
                </a:solidFill>
                <a:latin typeface="Times New Roman" pitchFamily="18" charset="0"/>
                <a:ea typeface="华文楷体" pitchFamily="2" charset="-122"/>
                <a:sym typeface="Times New Roman" pitchFamily="18" charset="0"/>
              </a:rPr>
              <a:t>记录在整个保留期间</a:t>
            </a:r>
            <a:r>
              <a:rPr lang="zh-CN" altLang="en-US" sz="2000">
                <a:solidFill>
                  <a:srgbClr val="000000"/>
                </a:solidFill>
                <a:latin typeface="Times New Roman" pitchFamily="18" charset="0"/>
                <a:ea typeface="华文楷体" pitchFamily="2" charset="-122"/>
                <a:sym typeface="Times New Roman" pitchFamily="18" charset="0"/>
              </a:rPr>
              <a:t>应有安全措施</a:t>
            </a:r>
            <a:r>
              <a:rPr lang="zh-CN" altLang="en-US" sz="2000" b="1">
                <a:solidFill>
                  <a:srgbClr val="000000"/>
                </a:solidFill>
                <a:latin typeface="Times New Roman" pitchFamily="18" charset="0"/>
                <a:ea typeface="华文楷体" pitchFamily="2" charset="-122"/>
                <a:sym typeface="Times New Roman" pitchFamily="18" charset="0"/>
              </a:rPr>
              <a:t>保证数据的完整性</a:t>
            </a:r>
            <a:r>
              <a:rPr lang="zh-CN" altLang="en-US" sz="2000">
                <a:solidFill>
                  <a:srgbClr val="000000"/>
                </a:solidFill>
                <a:latin typeface="Times New Roman" pitchFamily="18" charset="0"/>
                <a:ea typeface="华文楷体" pitchFamily="2" charset="-122"/>
                <a:sym typeface="Times New Roman" pitchFamily="18" charset="0"/>
              </a:rPr>
              <a:t>，</a:t>
            </a:r>
            <a:r>
              <a:rPr lang="zh-CN" altLang="en-US" sz="2000" b="1">
                <a:solidFill>
                  <a:srgbClr val="000000"/>
                </a:solidFill>
                <a:latin typeface="Times New Roman" pitchFamily="18" charset="0"/>
                <a:ea typeface="华文楷体" pitchFamily="2" charset="-122"/>
                <a:sym typeface="Times New Roman" pitchFamily="18" charset="0"/>
              </a:rPr>
              <a:t>并便于调档或恢复和读取。</a:t>
            </a:r>
          </a:p>
          <a:p>
            <a:pPr marL="342900" indent="-342900">
              <a:buFont typeface="宋体" pitchFamily="2" charset="-122"/>
              <a:buAutoNum type="arabicPeriod"/>
            </a:pPr>
            <a:r>
              <a:rPr lang="zh-CN" altLang="en-US" sz="2000" b="1">
                <a:solidFill>
                  <a:srgbClr val="000000"/>
                </a:solidFill>
                <a:latin typeface="Times New Roman" pitchFamily="18" charset="0"/>
                <a:ea typeface="华文楷体" pitchFamily="2" charset="-122"/>
                <a:sym typeface="Times New Roman" pitchFamily="18" charset="0"/>
              </a:rPr>
              <a:t>应有措施</a:t>
            </a:r>
            <a:r>
              <a:rPr lang="zh-CN" altLang="en-US" sz="2000">
                <a:solidFill>
                  <a:srgbClr val="000000"/>
                </a:solidFill>
                <a:latin typeface="Times New Roman" pitchFamily="18" charset="0"/>
                <a:ea typeface="华文楷体" pitchFamily="2" charset="-122"/>
                <a:sym typeface="Times New Roman" pitchFamily="18" charset="0"/>
              </a:rPr>
              <a:t>防止软件或系统升级后</a:t>
            </a:r>
            <a:r>
              <a:rPr lang="zh-CN" altLang="en-US" sz="2000" b="1">
                <a:solidFill>
                  <a:srgbClr val="000000"/>
                </a:solidFill>
                <a:latin typeface="Times New Roman" pitchFamily="18" charset="0"/>
                <a:ea typeface="华文楷体" pitchFamily="2" charset="-122"/>
                <a:sym typeface="Times New Roman" pitchFamily="18" charset="0"/>
              </a:rPr>
              <a:t>导致历史数据</a:t>
            </a:r>
            <a:r>
              <a:rPr lang="zh-CN" altLang="en-US" sz="2000">
                <a:solidFill>
                  <a:srgbClr val="000000"/>
                </a:solidFill>
                <a:latin typeface="Times New Roman" pitchFamily="18" charset="0"/>
                <a:ea typeface="华文楷体" pitchFamily="2" charset="-122"/>
                <a:sym typeface="Times New Roman" pitchFamily="18" charset="0"/>
              </a:rPr>
              <a:t>无法读取。</a:t>
            </a:r>
          </a:p>
          <a:p>
            <a:pPr marL="342900" indent="-342900">
              <a:buFont typeface="宋体" pitchFamily="2" charset="-122"/>
              <a:buAutoNum type="arabicPeriod"/>
            </a:pPr>
            <a:r>
              <a:rPr lang="zh-CN" altLang="en-US" sz="2000">
                <a:solidFill>
                  <a:srgbClr val="000000"/>
                </a:solidFill>
                <a:latin typeface="Times New Roman" pitchFamily="18" charset="0"/>
                <a:ea typeface="华文楷体" pitchFamily="2" charset="-122"/>
                <a:sym typeface="Times New Roman" pitchFamily="18" charset="0"/>
              </a:rPr>
              <a:t>对于计算机系统产生的数据，可采用True Copy（如：纸质版或PDF版）形式保存，但电子数据必须保存。</a:t>
            </a:r>
          </a:p>
          <a:p>
            <a:pPr marL="342900" indent="-342900">
              <a:buFont typeface="宋体" pitchFamily="2" charset="-122"/>
              <a:buAutoNum type="arabicPeriod"/>
            </a:pPr>
            <a:r>
              <a:rPr lang="zh-CN" altLang="en-US" sz="2000" b="1">
                <a:solidFill>
                  <a:srgbClr val="000000"/>
                </a:solidFill>
                <a:latin typeface="Times New Roman" pitchFamily="18" charset="0"/>
                <a:ea typeface="华文楷体" pitchFamily="2" charset="-122"/>
                <a:sym typeface="Times New Roman" pitchFamily="18" charset="0"/>
              </a:rPr>
              <a:t>如果原始纸质记录的真实副本通过对原始文件扫描并转化为电子图像</a:t>
            </a:r>
            <a:r>
              <a:rPr lang="zh-CN" altLang="en-US" sz="2000">
                <a:solidFill>
                  <a:srgbClr val="000000"/>
                </a:solidFill>
                <a:latin typeface="Times New Roman" pitchFamily="18" charset="0"/>
                <a:ea typeface="华文楷体" pitchFamily="2" charset="-122"/>
                <a:sym typeface="Times New Roman" pitchFamily="18" charset="0"/>
              </a:rPr>
              <a:t>，如</a:t>
            </a:r>
            <a:r>
              <a:rPr lang="zh-CN" altLang="en-US" sz="2000" b="1">
                <a:solidFill>
                  <a:srgbClr val="000000"/>
                </a:solidFill>
                <a:latin typeface="Times New Roman" pitchFamily="18" charset="0"/>
                <a:ea typeface="华文楷体" pitchFamily="2" charset="-122"/>
                <a:sym typeface="Times New Roman" pitchFamily="18" charset="0"/>
              </a:rPr>
              <a:t>pdf文件</a:t>
            </a:r>
            <a:r>
              <a:rPr lang="zh-CN" altLang="en-US" sz="2000">
                <a:solidFill>
                  <a:srgbClr val="000000"/>
                </a:solidFill>
                <a:latin typeface="Times New Roman" pitchFamily="18" charset="0"/>
                <a:ea typeface="华文楷体" pitchFamily="2" charset="-122"/>
                <a:sym typeface="Times New Roman" pitchFamily="18" charset="0"/>
              </a:rPr>
              <a:t>，那么需要采取额外的措施以保护电子图像免受进一步的更改</a:t>
            </a:r>
            <a:r>
              <a:rPr lang="zh-CN" altLang="en-US" sz="2000" b="1">
                <a:solidFill>
                  <a:srgbClr val="000000"/>
                </a:solidFill>
                <a:latin typeface="Times New Roman" pitchFamily="18" charset="0"/>
                <a:ea typeface="华文楷体" pitchFamily="2" charset="-122"/>
                <a:sym typeface="Times New Roman" pitchFamily="18" charset="0"/>
              </a:rPr>
              <a:t>（例如，储存在网络盘，限定仅电子归档人员的访问权限，采取措施避免潜在的更改）。</a:t>
            </a:r>
          </a:p>
          <a:p>
            <a:pPr marL="342900" indent="-342900">
              <a:buFont typeface="宋体" pitchFamily="2" charset="-122"/>
              <a:buAutoNum type="arabicPeriod"/>
            </a:pPr>
            <a:r>
              <a:rPr lang="zh-CN" altLang="en-US" sz="2000" b="1">
                <a:solidFill>
                  <a:srgbClr val="000000"/>
                </a:solidFill>
                <a:latin typeface="Times New Roman" pitchFamily="18" charset="0"/>
                <a:ea typeface="华文楷体" pitchFamily="2" charset="-122"/>
                <a:sym typeface="Times New Roman" pitchFamily="18" charset="0"/>
              </a:rPr>
              <a:t>应保留原始电子记录数据的动态格式</a:t>
            </a:r>
            <a:r>
              <a:rPr lang="zh-CN" altLang="en-US" sz="2000">
                <a:solidFill>
                  <a:srgbClr val="000000"/>
                </a:solidFill>
                <a:latin typeface="Times New Roman" pitchFamily="18" charset="0"/>
                <a:ea typeface="华文楷体" pitchFamily="2" charset="-122"/>
                <a:sym typeface="Times New Roman" pitchFamily="18" charset="0"/>
              </a:rPr>
              <a:t>，这对保存原始电子数据的含义至关重要。例如，FI-IR，UV/Vis，色谱系统或其他仪器生成的</a:t>
            </a:r>
            <a:r>
              <a:rPr lang="zh-CN" altLang="en-US" sz="2000" b="1">
                <a:solidFill>
                  <a:srgbClr val="000000"/>
                </a:solidFill>
                <a:latin typeface="Times New Roman" pitchFamily="18" charset="0"/>
                <a:ea typeface="华文楷体" pitchFamily="2" charset="-122"/>
                <a:sym typeface="Times New Roman" pitchFamily="18" charset="0"/>
              </a:rPr>
              <a:t>原始动态电子图谱文件</a:t>
            </a:r>
            <a:r>
              <a:rPr lang="zh-CN" altLang="en-US" sz="2000">
                <a:solidFill>
                  <a:srgbClr val="000000"/>
                </a:solidFill>
                <a:latin typeface="Times New Roman" pitchFamily="18" charset="0"/>
                <a:ea typeface="华文楷体" pitchFamily="2" charset="-122"/>
                <a:sym typeface="Times New Roman" pitchFamily="18" charset="0"/>
              </a:rPr>
              <a:t>，</a:t>
            </a:r>
            <a:r>
              <a:rPr lang="zh-CN" altLang="en-US" sz="2000" b="1">
                <a:solidFill>
                  <a:srgbClr val="000000"/>
                </a:solidFill>
                <a:latin typeface="Times New Roman" pitchFamily="18" charset="0"/>
                <a:ea typeface="华文楷体" pitchFamily="2" charset="-122"/>
                <a:sym typeface="Times New Roman" pitchFamily="18" charset="0"/>
              </a:rPr>
              <a:t>可以重新处理，但pdf或打印输出是固定的或静态的</a:t>
            </a:r>
            <a:r>
              <a:rPr lang="zh-CN" altLang="en-US" sz="2000">
                <a:solidFill>
                  <a:srgbClr val="000000"/>
                </a:solidFill>
                <a:latin typeface="Times New Roman" pitchFamily="18" charset="0"/>
                <a:ea typeface="华文楷体" pitchFamily="2" charset="-122"/>
                <a:sym typeface="Times New Roman" pitchFamily="18" charset="0"/>
              </a:rPr>
              <a:t>，将会失去扩展基线，查看图谱，重新处理数据及与数据的动态交互等能力。</a:t>
            </a:r>
          </a:p>
          <a:p>
            <a:pPr marL="342900" indent="-342900">
              <a:buFont typeface="宋体" pitchFamily="2" charset="-122"/>
              <a:buAutoNum type="arabicPeriod"/>
            </a:pPr>
            <a:r>
              <a:rPr lang="zh-CN" altLang="en-US" sz="2000" b="1">
                <a:solidFill>
                  <a:srgbClr val="000000"/>
                </a:solidFill>
                <a:latin typeface="Times New Roman" pitchFamily="18" charset="0"/>
                <a:ea typeface="华文楷体" pitchFamily="2" charset="-122"/>
                <a:sym typeface="Times New Roman" pitchFamily="18" charset="0"/>
              </a:rPr>
              <a:t>动态格式的数据有助于后续过程更好地使用这些数据</a:t>
            </a:r>
            <a:r>
              <a:rPr lang="zh-CN" altLang="en-US" sz="2000">
                <a:solidFill>
                  <a:srgbClr val="000000"/>
                </a:solidFill>
                <a:latin typeface="Times New Roman" pitchFamily="18" charset="0"/>
                <a:ea typeface="华文楷体" pitchFamily="2" charset="-122"/>
                <a:sym typeface="Times New Roman" pitchFamily="18" charset="0"/>
              </a:rPr>
              <a:t>，例如，以电子方式保存的温度记录数据利于对温度的后续跟踪、趋势分析及监测（采用统计分析控制图）。</a:t>
            </a:r>
          </a:p>
        </p:txBody>
      </p:sp>
    </p:spTree>
  </p:cSld>
  <p:clrMapOvr>
    <a:masterClrMapping/>
  </p:clrMapOvr>
  <p:transition>
    <p:strips dir="ld"/>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标题 1"/>
          <p:cNvSpPr>
            <a:spLocks noChangeArrowheads="1"/>
          </p:cNvSpPr>
          <p:nvPr/>
        </p:nvSpPr>
        <p:spPr bwMode="auto">
          <a:xfrm>
            <a:off x="457200" y="6207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endParaRPr lang="zh-CN" altLang="zh-CN" sz="2800" b="1">
              <a:solidFill>
                <a:srgbClr val="FF0000"/>
              </a:solidFill>
              <a:latin typeface="Times New Roman" pitchFamily="18" charset="0"/>
              <a:ea typeface="华文楷体" pitchFamily="2" charset="-122"/>
              <a:sym typeface="Times New Roman" pitchFamily="18" charset="0"/>
            </a:endParaRPr>
          </a:p>
        </p:txBody>
      </p:sp>
      <p:sp>
        <p:nvSpPr>
          <p:cNvPr id="57347" name="矩形 19"/>
          <p:cNvSpPr>
            <a:spLocks noChangeArrowheads="1"/>
          </p:cNvSpPr>
          <p:nvPr/>
        </p:nvSpPr>
        <p:spPr bwMode="auto">
          <a:xfrm>
            <a:off x="3024188" y="873125"/>
            <a:ext cx="33893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342900" indent="-342900" algn="ctr">
              <a:spcBef>
                <a:spcPct val="20000"/>
              </a:spcBef>
            </a:pPr>
            <a:r>
              <a:rPr lang="zh-CN" altLang="en-US" sz="2800" b="1">
                <a:solidFill>
                  <a:srgbClr val="FF0000"/>
                </a:solidFill>
                <a:latin typeface="Times New Roman" pitchFamily="18" charset="0"/>
                <a:ea typeface="华文楷体" pitchFamily="2" charset="-122"/>
                <a:sym typeface="Times New Roman" pitchFamily="18" charset="0"/>
              </a:rPr>
              <a:t>原始记录保留的要求</a:t>
            </a:r>
          </a:p>
        </p:txBody>
      </p:sp>
      <p:sp>
        <p:nvSpPr>
          <p:cNvPr id="57348" name="文本框 3"/>
          <p:cNvSpPr>
            <a:spLocks noChangeArrowheads="1"/>
          </p:cNvSpPr>
          <p:nvPr/>
        </p:nvSpPr>
        <p:spPr bwMode="auto">
          <a:xfrm>
            <a:off x="273050" y="1620838"/>
            <a:ext cx="8731250" cy="411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457200" indent="-457200">
              <a:buFont typeface="宋体" pitchFamily="2" charset="-122"/>
              <a:buAutoNum type="arabicPeriod" startAt="8"/>
            </a:pPr>
            <a:r>
              <a:rPr lang="zh-CN" altLang="en-US" sz="2400" b="1">
                <a:solidFill>
                  <a:srgbClr val="000000"/>
                </a:solidFill>
                <a:latin typeface="Times New Roman" pitchFamily="18" charset="0"/>
                <a:ea typeface="华文楷体" pitchFamily="2" charset="-122"/>
                <a:sym typeface="Times New Roman" pitchFamily="18" charset="0"/>
              </a:rPr>
              <a:t>记录存档的另外一个选择</a:t>
            </a:r>
            <a:r>
              <a:rPr lang="zh-CN" altLang="en-US" sz="2400">
                <a:solidFill>
                  <a:srgbClr val="000000"/>
                </a:solidFill>
                <a:latin typeface="Times New Roman" pitchFamily="18" charset="0"/>
                <a:ea typeface="华文楷体" pitchFamily="2" charset="-122"/>
                <a:sym typeface="Times New Roman" pitchFamily="18" charset="0"/>
              </a:rPr>
              <a:t>，将原始电子数据从一个系统转移到其他系统，并确认和记录经验证的数据转移过程可保证所有的数据没有丢失。</a:t>
            </a:r>
          </a:p>
          <a:p>
            <a:pPr marL="457200" indent="-457200">
              <a:buFont typeface="宋体" pitchFamily="2" charset="-122"/>
              <a:buAutoNum type="arabicPeriod" startAt="8"/>
            </a:pPr>
            <a:r>
              <a:rPr lang="zh-CN" altLang="en-US" sz="2400">
                <a:solidFill>
                  <a:srgbClr val="000000"/>
                </a:solidFill>
                <a:latin typeface="Times New Roman" pitchFamily="18" charset="0"/>
                <a:ea typeface="华文楷体" pitchFamily="2" charset="-122"/>
                <a:sym typeface="Times New Roman" pitchFamily="18" charset="0"/>
              </a:rPr>
              <a:t>对于</a:t>
            </a:r>
            <a:r>
              <a:rPr lang="zh-CN" altLang="en-US" sz="2400" b="1">
                <a:solidFill>
                  <a:srgbClr val="000000"/>
                </a:solidFill>
                <a:latin typeface="Times New Roman" pitchFamily="18" charset="0"/>
                <a:ea typeface="华文楷体" pitchFamily="2" charset="-122"/>
                <a:sym typeface="Times New Roman" pitchFamily="18" charset="0"/>
              </a:rPr>
              <a:t>有数据存储功能的复杂仪器或设备</a:t>
            </a:r>
            <a:r>
              <a:rPr lang="zh-CN" altLang="en-US" sz="2400">
                <a:solidFill>
                  <a:srgbClr val="000000"/>
                </a:solidFill>
                <a:latin typeface="Times New Roman" pitchFamily="18" charset="0"/>
                <a:ea typeface="华文楷体" pitchFamily="2" charset="-122"/>
                <a:sym typeface="Times New Roman" pitchFamily="18" charset="0"/>
              </a:rPr>
              <a:t>，电子数据（包括相关的元数据及审计追踪）均要求进行保留，</a:t>
            </a:r>
            <a:r>
              <a:rPr lang="zh-CN" altLang="en-US" sz="2400" b="1">
                <a:solidFill>
                  <a:srgbClr val="000000"/>
                </a:solidFill>
                <a:latin typeface="Times New Roman" pitchFamily="18" charset="0"/>
                <a:ea typeface="华文楷体" pitchFamily="2" charset="-122"/>
                <a:sym typeface="Times New Roman" pitchFamily="18" charset="0"/>
              </a:rPr>
              <a:t>保留方式应根据风险评估来确定。</a:t>
            </a:r>
          </a:p>
          <a:p>
            <a:pPr marL="457200" indent="-457200">
              <a:buFont typeface="宋体" pitchFamily="2" charset="-122"/>
              <a:buAutoNum type="arabicPeriod" startAt="8"/>
            </a:pPr>
            <a:r>
              <a:rPr lang="zh-CN" altLang="en-US" sz="2400" b="1">
                <a:solidFill>
                  <a:srgbClr val="000000"/>
                </a:solidFill>
                <a:latin typeface="Times New Roman" pitchFamily="18" charset="0"/>
                <a:ea typeface="华文楷体" pitchFamily="2" charset="-122"/>
                <a:sym typeface="Times New Roman" pitchFamily="18" charset="0"/>
              </a:rPr>
              <a:t>电子数据</a:t>
            </a:r>
            <a:r>
              <a:rPr lang="zh-CN" altLang="en-US" sz="2400">
                <a:solidFill>
                  <a:srgbClr val="000000"/>
                </a:solidFill>
                <a:latin typeface="Times New Roman" pitchFamily="18" charset="0"/>
                <a:ea typeface="华文楷体" pitchFamily="2" charset="-122"/>
                <a:sym typeface="Times New Roman" pitchFamily="18" charset="0"/>
              </a:rPr>
              <a:t>的</a:t>
            </a:r>
            <a:r>
              <a:rPr lang="zh-CN" altLang="en-US" sz="2400" b="1">
                <a:solidFill>
                  <a:srgbClr val="000000"/>
                </a:solidFill>
                <a:latin typeface="Times New Roman" pitchFamily="18" charset="0"/>
                <a:ea typeface="华文楷体" pitchFamily="2" charset="-122"/>
                <a:sym typeface="Times New Roman" pitchFamily="18" charset="0"/>
              </a:rPr>
              <a:t>保存期限应与其相应</a:t>
            </a:r>
            <a:r>
              <a:rPr lang="zh-CN" altLang="en-US" sz="2400">
                <a:solidFill>
                  <a:srgbClr val="000000"/>
                </a:solidFill>
                <a:latin typeface="Times New Roman" pitchFamily="18" charset="0"/>
                <a:ea typeface="华文楷体" pitchFamily="2" charset="-122"/>
                <a:sym typeface="Times New Roman" pitchFamily="18" charset="0"/>
              </a:rPr>
              <a:t>的纸质</a:t>
            </a:r>
            <a:r>
              <a:rPr lang="zh-CN" altLang="en-US" sz="2400" b="1">
                <a:solidFill>
                  <a:srgbClr val="000000"/>
                </a:solidFill>
                <a:latin typeface="Times New Roman" pitchFamily="18" charset="0"/>
                <a:ea typeface="华文楷体" pitchFamily="2" charset="-122"/>
                <a:sym typeface="Times New Roman" pitchFamily="18" charset="0"/>
              </a:rPr>
              <a:t>真实副本</a:t>
            </a:r>
            <a:r>
              <a:rPr lang="zh-CN" altLang="en-US" sz="2400">
                <a:solidFill>
                  <a:srgbClr val="000000"/>
                </a:solidFill>
                <a:latin typeface="Times New Roman" pitchFamily="18" charset="0"/>
                <a:ea typeface="华文楷体" pitchFamily="2" charset="-122"/>
                <a:sym typeface="Times New Roman" pitchFamily="18" charset="0"/>
              </a:rPr>
              <a:t>一致。</a:t>
            </a:r>
          </a:p>
          <a:p>
            <a:pPr marL="457200" indent="-457200">
              <a:buFont typeface="宋体" pitchFamily="2" charset="-122"/>
              <a:buAutoNum type="arabicPeriod" startAt="8"/>
            </a:pPr>
            <a:r>
              <a:rPr lang="zh-CN" altLang="en-US" sz="2400">
                <a:solidFill>
                  <a:srgbClr val="000000"/>
                </a:solidFill>
                <a:latin typeface="Times New Roman" pitchFamily="18" charset="0"/>
                <a:ea typeface="华文楷体" pitchFamily="2" charset="-122"/>
                <a:sym typeface="Times New Roman" pitchFamily="18" charset="0"/>
              </a:rPr>
              <a:t>在记录保存期内，</a:t>
            </a:r>
            <a:r>
              <a:rPr lang="zh-CN" altLang="en-US" sz="2400" b="1">
                <a:solidFill>
                  <a:srgbClr val="000000"/>
                </a:solidFill>
                <a:latin typeface="Times New Roman" pitchFamily="18" charset="0"/>
                <a:ea typeface="华文楷体" pitchFamily="2" charset="-122"/>
                <a:sym typeface="Times New Roman" pitchFamily="18" charset="0"/>
              </a:rPr>
              <a:t>原始记录应当完整、持久而且容易获得、易读。</a:t>
            </a:r>
          </a:p>
          <a:p>
            <a:pPr marL="457200" indent="-457200">
              <a:buFont typeface="宋体" pitchFamily="2" charset="-122"/>
              <a:buAutoNum type="arabicPeriod" startAt="8"/>
            </a:pPr>
            <a:r>
              <a:rPr lang="zh-CN" altLang="en-US" sz="2400" b="1">
                <a:solidFill>
                  <a:srgbClr val="000000"/>
                </a:solidFill>
                <a:latin typeface="Times New Roman" pitchFamily="18" charset="0"/>
                <a:ea typeface="华文楷体" pitchFamily="2" charset="-122"/>
                <a:sym typeface="Times New Roman" pitchFamily="18" charset="0"/>
              </a:rPr>
              <a:t>任何预期结果的</a:t>
            </a:r>
            <a:r>
              <a:rPr lang="zh-CN" altLang="en-US" sz="2400">
                <a:solidFill>
                  <a:srgbClr val="000000"/>
                </a:solidFill>
                <a:latin typeface="Times New Roman" pitchFamily="18" charset="0"/>
                <a:ea typeface="华文楷体" pitchFamily="2" charset="-122"/>
                <a:sym typeface="Times New Roman" pitchFamily="18" charset="0"/>
              </a:rPr>
              <a:t>严重偏差</a:t>
            </a:r>
            <a:r>
              <a:rPr lang="zh-CN" altLang="en-US" sz="2400" b="1">
                <a:solidFill>
                  <a:srgbClr val="000000"/>
                </a:solidFill>
                <a:latin typeface="Times New Roman" pitchFamily="18" charset="0"/>
                <a:ea typeface="华文楷体" pitchFamily="2" charset="-122"/>
                <a:sym typeface="Times New Roman" pitchFamily="18" charset="0"/>
              </a:rPr>
              <a:t>应被完整记录和全面调查</a:t>
            </a:r>
            <a:r>
              <a:rPr lang="zh-CN" altLang="en-US" sz="2400">
                <a:solidFill>
                  <a:srgbClr val="000000"/>
                </a:solidFill>
                <a:latin typeface="Times New Roman" pitchFamily="18" charset="0"/>
                <a:ea typeface="华文楷体" pitchFamily="2" charset="-122"/>
                <a:sym typeface="Times New Roman" pitchFamily="18" charset="0"/>
              </a:rPr>
              <a:t>。</a:t>
            </a:r>
          </a:p>
          <a:p>
            <a:pPr marL="457200" indent="-457200">
              <a:buFont typeface="宋体" pitchFamily="2" charset="-122"/>
              <a:buAutoNum type="arabicPeriod" startAt="8"/>
            </a:pPr>
            <a:r>
              <a:rPr lang="zh-CN" altLang="en-US" sz="2400">
                <a:solidFill>
                  <a:srgbClr val="000000"/>
                </a:solidFill>
                <a:latin typeface="Times New Roman" pitchFamily="18" charset="0"/>
                <a:ea typeface="华文楷体" pitchFamily="2" charset="-122"/>
                <a:sym typeface="Times New Roman" pitchFamily="18" charset="0"/>
              </a:rPr>
              <a:t>备份和恢复过程必须经过</a:t>
            </a:r>
            <a:r>
              <a:rPr lang="zh-CN" altLang="en-US" sz="2400" b="1">
                <a:solidFill>
                  <a:srgbClr val="000000"/>
                </a:solidFill>
                <a:latin typeface="Times New Roman" pitchFamily="18" charset="0"/>
                <a:ea typeface="华文楷体" pitchFamily="2" charset="-122"/>
                <a:sym typeface="Times New Roman" pitchFamily="18" charset="0"/>
              </a:rPr>
              <a:t>验证</a:t>
            </a:r>
            <a:r>
              <a:rPr lang="zh-CN" altLang="en-US" sz="2400">
                <a:solidFill>
                  <a:srgbClr val="000000"/>
                </a:solidFill>
                <a:latin typeface="Times New Roman" pitchFamily="18" charset="0"/>
                <a:ea typeface="华文楷体" pitchFamily="2" charset="-122"/>
                <a:sym typeface="Times New Roman" pitchFamily="18" charset="0"/>
              </a:rPr>
              <a:t>。。</a:t>
            </a:r>
          </a:p>
        </p:txBody>
      </p:sp>
    </p:spTree>
  </p:cSld>
  <p:clrMapOvr>
    <a:masterClrMapping/>
  </p:clrMapOvr>
  <p:transition>
    <p:strips dir="ld"/>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矩形 7"/>
          <p:cNvSpPr>
            <a:spLocks noChangeArrowheads="1"/>
          </p:cNvSpPr>
          <p:nvPr/>
        </p:nvSpPr>
        <p:spPr bwMode="auto">
          <a:xfrm>
            <a:off x="395288" y="1228725"/>
            <a:ext cx="8424862"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2800" b="1">
                <a:solidFill>
                  <a:srgbClr val="000000"/>
                </a:solidFill>
                <a:latin typeface="华文楷体" pitchFamily="2" charset="-122"/>
                <a:ea typeface="华文楷体" pitchFamily="2" charset="-122"/>
                <a:sym typeface="华文楷体" pitchFamily="2" charset="-122"/>
              </a:rPr>
              <a:t>1、完全备份、增量备份与差异备份的区别与应用</a:t>
            </a:r>
          </a:p>
          <a:p>
            <a:r>
              <a:rPr lang="en-US" sz="2800" b="1">
                <a:solidFill>
                  <a:srgbClr val="000000"/>
                </a:solidFill>
                <a:latin typeface="华文楷体" pitchFamily="2" charset="-122"/>
                <a:ea typeface="华文楷体" pitchFamily="2" charset="-122"/>
                <a:sym typeface="华文楷体" pitchFamily="2" charset="-122"/>
              </a:rPr>
              <a:t>2、不同备份类型组合应用</a:t>
            </a:r>
          </a:p>
          <a:p>
            <a:pPr marL="0" lvl="1">
              <a:buFont typeface="Wingdings" pitchFamily="2" charset="2"/>
              <a:buChar char="Ø"/>
            </a:pPr>
            <a:r>
              <a:rPr lang="en-US" sz="2400">
                <a:solidFill>
                  <a:srgbClr val="000000"/>
                </a:solidFill>
                <a:latin typeface="华文楷体" pitchFamily="2" charset="-122"/>
                <a:ea typeface="华文楷体" pitchFamily="2" charset="-122"/>
                <a:sym typeface="华文楷体" pitchFamily="2" charset="-122"/>
              </a:rPr>
              <a:t>完全备份与差异备份结合</a:t>
            </a:r>
          </a:p>
          <a:p>
            <a:pPr marL="0" lvl="1">
              <a:buFont typeface="Wingdings" pitchFamily="2" charset="2"/>
              <a:buChar char="Ø"/>
            </a:pPr>
            <a:r>
              <a:rPr lang="en-US" sz="2400">
                <a:solidFill>
                  <a:srgbClr val="000000"/>
                </a:solidFill>
                <a:latin typeface="华文楷体" pitchFamily="2" charset="-122"/>
                <a:ea typeface="华文楷体" pitchFamily="2" charset="-122"/>
                <a:sym typeface="华文楷体" pitchFamily="2" charset="-122"/>
              </a:rPr>
              <a:t>完全备份与增量备份结合</a:t>
            </a:r>
          </a:p>
          <a:p>
            <a:r>
              <a:rPr lang="en-US" sz="2400">
                <a:solidFill>
                  <a:srgbClr val="000000"/>
                </a:solidFill>
                <a:latin typeface="华文楷体" pitchFamily="2" charset="-122"/>
                <a:ea typeface="华文楷体" pitchFamily="2" charset="-122"/>
                <a:sym typeface="华文楷体" pitchFamily="2" charset="-122"/>
              </a:rPr>
              <a:t> </a:t>
            </a:r>
          </a:p>
          <a:p>
            <a:r>
              <a:rPr lang="en-US" sz="2400">
                <a:solidFill>
                  <a:srgbClr val="000000"/>
                </a:solidFill>
                <a:latin typeface="华文楷体" pitchFamily="2" charset="-122"/>
                <a:ea typeface="华文楷体" pitchFamily="2" charset="-122"/>
                <a:sym typeface="华文楷体" pitchFamily="2" charset="-122"/>
              </a:rPr>
              <a:t> </a:t>
            </a:r>
          </a:p>
        </p:txBody>
      </p:sp>
      <p:pic>
        <p:nvPicPr>
          <p:cNvPr id="5837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97200"/>
            <a:ext cx="9144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sp>
        <p:nvSpPr>
          <p:cNvPr id="58372" name="矩形 9"/>
          <p:cNvSpPr>
            <a:spLocks noChangeArrowheads="1"/>
          </p:cNvSpPr>
          <p:nvPr/>
        </p:nvSpPr>
        <p:spPr bwMode="auto">
          <a:xfrm>
            <a:off x="539750" y="4870450"/>
            <a:ext cx="1698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buFont typeface="Wingdings" pitchFamily="2" charset="2"/>
              <a:buChar char="ü"/>
            </a:pPr>
            <a:r>
              <a:rPr lang="en-US" sz="1600" b="1">
                <a:solidFill>
                  <a:srgbClr val="000000"/>
                </a:solidFill>
                <a:latin typeface="华文楷体" pitchFamily="2" charset="-122"/>
                <a:ea typeface="华文楷体" pitchFamily="2" charset="-122"/>
                <a:sym typeface="华文楷体" pitchFamily="2" charset="-122"/>
              </a:rPr>
              <a:t>每天全备份</a:t>
            </a:r>
            <a:endParaRPr lang="zh-CN" altLang="en-US" sz="1600" b="1">
              <a:solidFill>
                <a:srgbClr val="000000"/>
              </a:solidFill>
              <a:latin typeface="华文楷体" pitchFamily="2" charset="-122"/>
              <a:ea typeface="华文楷体" pitchFamily="2" charset="-122"/>
              <a:sym typeface="华文楷体" pitchFamily="2" charset="-122"/>
            </a:endParaRPr>
          </a:p>
        </p:txBody>
      </p:sp>
      <p:sp>
        <p:nvSpPr>
          <p:cNvPr id="58373" name="矩形 10"/>
          <p:cNvSpPr>
            <a:spLocks noChangeArrowheads="1"/>
          </p:cNvSpPr>
          <p:nvPr/>
        </p:nvSpPr>
        <p:spPr bwMode="auto">
          <a:xfrm>
            <a:off x="3419475" y="4870450"/>
            <a:ext cx="30241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buFont typeface="Wingdings" pitchFamily="2" charset="2"/>
              <a:buChar char="ü"/>
            </a:pPr>
            <a:r>
              <a:rPr lang="en-US" sz="1600" b="1">
                <a:solidFill>
                  <a:srgbClr val="000000"/>
                </a:solidFill>
                <a:latin typeface="华文楷体" pitchFamily="2" charset="-122"/>
                <a:ea typeface="华文楷体" pitchFamily="2" charset="-122"/>
                <a:sym typeface="华文楷体" pitchFamily="2" charset="-122"/>
              </a:rPr>
              <a:t>每周一次全备份</a:t>
            </a:r>
          </a:p>
          <a:p>
            <a:pPr>
              <a:buFont typeface="Wingdings" pitchFamily="2" charset="2"/>
              <a:buChar char="ü"/>
            </a:pPr>
            <a:r>
              <a:rPr lang="en-US" sz="1600" b="1">
                <a:solidFill>
                  <a:srgbClr val="000000"/>
                </a:solidFill>
                <a:latin typeface="华文楷体" pitchFamily="2" charset="-122"/>
                <a:ea typeface="华文楷体" pitchFamily="2" charset="-122"/>
                <a:sym typeface="华文楷体" pitchFamily="2" charset="-122"/>
              </a:rPr>
              <a:t>本周其余每天备份与全备份的差异部分</a:t>
            </a:r>
          </a:p>
        </p:txBody>
      </p:sp>
      <p:sp>
        <p:nvSpPr>
          <p:cNvPr id="58374" name="矩形 11"/>
          <p:cNvSpPr>
            <a:spLocks noChangeArrowheads="1"/>
          </p:cNvSpPr>
          <p:nvPr/>
        </p:nvSpPr>
        <p:spPr bwMode="auto">
          <a:xfrm>
            <a:off x="6732588" y="4870450"/>
            <a:ext cx="24114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buFont typeface="Wingdings" pitchFamily="2" charset="2"/>
              <a:buChar char="ü"/>
            </a:pPr>
            <a:r>
              <a:rPr lang="en-US" sz="1600" b="1">
                <a:solidFill>
                  <a:srgbClr val="000000"/>
                </a:solidFill>
                <a:latin typeface="华文楷体" pitchFamily="2" charset="-122"/>
                <a:ea typeface="华文楷体" pitchFamily="2" charset="-122"/>
                <a:sym typeface="华文楷体" pitchFamily="2" charset="-122"/>
              </a:rPr>
              <a:t>每周一次全备份</a:t>
            </a:r>
          </a:p>
          <a:p>
            <a:pPr>
              <a:buFont typeface="Wingdings" pitchFamily="2" charset="2"/>
              <a:buChar char="ü"/>
            </a:pPr>
            <a:r>
              <a:rPr lang="en-US" sz="1600" b="1">
                <a:solidFill>
                  <a:srgbClr val="000000"/>
                </a:solidFill>
                <a:latin typeface="华文楷体" pitchFamily="2" charset="-122"/>
                <a:ea typeface="华文楷体" pitchFamily="2" charset="-122"/>
                <a:sym typeface="华文楷体" pitchFamily="2" charset="-122"/>
              </a:rPr>
              <a:t>本周其余每天备份与上次备份的差异部分</a:t>
            </a:r>
          </a:p>
        </p:txBody>
      </p:sp>
      <p:sp>
        <p:nvSpPr>
          <p:cNvPr id="58375" name="矩形 12"/>
          <p:cNvSpPr>
            <a:spLocks noChangeArrowheads="1"/>
          </p:cNvSpPr>
          <p:nvPr/>
        </p:nvSpPr>
        <p:spPr bwMode="auto">
          <a:xfrm>
            <a:off x="1258888" y="5949950"/>
            <a:ext cx="66484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800" b="1">
                <a:solidFill>
                  <a:srgbClr val="000000"/>
                </a:solidFill>
                <a:latin typeface="华文楷体" pitchFamily="2" charset="-122"/>
                <a:ea typeface="华文楷体" pitchFamily="2" charset="-122"/>
                <a:sym typeface="华文楷体" pitchFamily="2" charset="-122"/>
              </a:rPr>
              <a:t>请讨论：采用哪种备份组合更安全简捷？</a:t>
            </a:r>
          </a:p>
        </p:txBody>
      </p:sp>
      <p:sp>
        <p:nvSpPr>
          <p:cNvPr id="58376" name="Rectangle 2"/>
          <p:cNvSpPr>
            <a:spLocks noChangeArrowheads="1"/>
          </p:cNvSpPr>
          <p:nvPr/>
        </p:nvSpPr>
        <p:spPr bwMode="auto">
          <a:xfrm>
            <a:off x="1174750" y="147638"/>
            <a:ext cx="822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节：数据完整性管控策略与基本要求</a:t>
            </a:r>
          </a:p>
        </p:txBody>
      </p:sp>
    </p:spTree>
  </p:cSld>
  <p:clrMapOvr>
    <a:masterClrMapping/>
  </p:clrMapOvr>
  <p:transition>
    <p:strips dir="ld"/>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TextBox 1"/>
          <p:cNvSpPr>
            <a:spLocks noChangeArrowheads="1"/>
          </p:cNvSpPr>
          <p:nvPr/>
        </p:nvSpPr>
        <p:spPr bwMode="auto">
          <a:xfrm>
            <a:off x="611188" y="1555750"/>
            <a:ext cx="8064500" cy="464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2400" b="1">
                <a:solidFill>
                  <a:srgbClr val="000000"/>
                </a:solidFill>
                <a:latin typeface="华文楷体" pitchFamily="2" charset="-122"/>
                <a:ea typeface="华文楷体" pitchFamily="2" charset="-122"/>
                <a:sym typeface="华文楷体" pitchFamily="2" charset="-122"/>
              </a:rPr>
              <a:t>1.</a:t>
            </a:r>
            <a:r>
              <a:rPr lang="zh-CN" altLang="en-US" sz="2400" b="1">
                <a:solidFill>
                  <a:srgbClr val="000000"/>
                </a:solidFill>
                <a:latin typeface="华文楷体" pitchFamily="2" charset="-122"/>
                <a:ea typeface="华文楷体" pitchFamily="2" charset="-122"/>
                <a:sym typeface="华文楷体" pitchFamily="2" charset="-122"/>
              </a:rPr>
              <a:t>完全备份、增量备份与差异备份的区别</a:t>
            </a:r>
            <a:endParaRPr lang="en-US" sz="2400" b="1">
              <a:solidFill>
                <a:srgbClr val="000000"/>
              </a:solidFill>
              <a:latin typeface="华文楷体" pitchFamily="2" charset="-122"/>
              <a:ea typeface="华文楷体" pitchFamily="2" charset="-122"/>
              <a:sym typeface="华文楷体" pitchFamily="2" charset="-122"/>
            </a:endParaRPr>
          </a:p>
          <a:p>
            <a:r>
              <a:rPr lang="en-US" sz="2400" b="1">
                <a:solidFill>
                  <a:srgbClr val="FF0000"/>
                </a:solidFill>
                <a:latin typeface="华文楷体" pitchFamily="2" charset="-122"/>
                <a:ea typeface="华文楷体" pitchFamily="2" charset="-122"/>
                <a:sym typeface="华文楷体" pitchFamily="2" charset="-122"/>
              </a:rPr>
              <a:t>1.1</a:t>
            </a:r>
            <a:r>
              <a:rPr lang="zh-CN" altLang="en-US" sz="2400" b="1">
                <a:solidFill>
                  <a:srgbClr val="FF0000"/>
                </a:solidFill>
                <a:latin typeface="华文楷体" pitchFamily="2" charset="-122"/>
                <a:ea typeface="华文楷体" pitchFamily="2" charset="-122"/>
                <a:sym typeface="华文楷体" pitchFamily="2" charset="-122"/>
              </a:rPr>
              <a:t>完全备份（</a:t>
            </a:r>
            <a:r>
              <a:rPr lang="en-US" sz="2400" b="1">
                <a:solidFill>
                  <a:srgbClr val="FF0000"/>
                </a:solidFill>
                <a:latin typeface="华文楷体" pitchFamily="2" charset="-122"/>
                <a:ea typeface="华文楷体" pitchFamily="2" charset="-122"/>
                <a:sym typeface="华文楷体" pitchFamily="2" charset="-122"/>
              </a:rPr>
              <a:t>Full Backup</a:t>
            </a:r>
            <a:r>
              <a:rPr lang="zh-CN" altLang="en-US" sz="2400" b="1">
                <a:solidFill>
                  <a:srgbClr val="FF0000"/>
                </a:solidFill>
                <a:latin typeface="华文楷体" pitchFamily="2" charset="-122"/>
                <a:ea typeface="华文楷体" pitchFamily="2" charset="-122"/>
                <a:sym typeface="华文楷体" pitchFamily="2" charset="-122"/>
              </a:rPr>
              <a:t>）</a:t>
            </a:r>
            <a:r>
              <a:rPr lang="zh-CN" altLang="en-US" sz="2000" b="1">
                <a:solidFill>
                  <a:srgbClr val="000000"/>
                </a:solidFill>
                <a:latin typeface="华文楷体" pitchFamily="2" charset="-122"/>
                <a:ea typeface="华文楷体" pitchFamily="2" charset="-122"/>
                <a:sym typeface="华文楷体" pitchFamily="2" charset="-122"/>
              </a:rPr>
              <a:t>：</a:t>
            </a:r>
            <a:r>
              <a:rPr lang="zh-CN" altLang="en-US" sz="2400" b="1">
                <a:solidFill>
                  <a:srgbClr val="FF0000"/>
                </a:solidFill>
                <a:latin typeface="华文楷体" pitchFamily="2" charset="-122"/>
                <a:ea typeface="华文楷体" pitchFamily="2" charset="-122"/>
                <a:sym typeface="华文楷体" pitchFamily="2" charset="-122"/>
              </a:rPr>
              <a:t>就是用对整个系统进行完全备份，包括数据、操作系统与应用程序。</a:t>
            </a:r>
            <a:r>
              <a:rPr lang="zh-CN" altLang="en-US" sz="2000" b="1">
                <a:solidFill>
                  <a:srgbClr val="000000"/>
                </a:solidFill>
                <a:latin typeface="华文楷体" pitchFamily="2" charset="-122"/>
                <a:ea typeface="华文楷体" pitchFamily="2" charset="-122"/>
                <a:sym typeface="华文楷体" pitchFamily="2" charset="-122"/>
              </a:rPr>
              <a:t>这种备份方式的优点就是很直观，容易被人理解。而且当发生数据丢失的灾难时，只要用一硬盘（即灾难发生之前一天的备份硬盘），就可以恢复丢失的数据。它的不足之处：备份数据中有大量的重复，例如操作系统与应用程序。这些重复的数据占用了大量的重复，例如操作系统与应用程序。这些重复的数据占用了大量的磁带空间；其次备份所需时间较长。</a:t>
            </a:r>
            <a:endParaRPr lang="en-US" sz="2000" b="1">
              <a:solidFill>
                <a:srgbClr val="000000"/>
              </a:solidFill>
              <a:latin typeface="华文楷体" pitchFamily="2" charset="-122"/>
              <a:ea typeface="华文楷体" pitchFamily="2" charset="-122"/>
              <a:sym typeface="华文楷体" pitchFamily="2" charset="-122"/>
            </a:endParaRPr>
          </a:p>
          <a:p>
            <a:r>
              <a:rPr lang="en-US" sz="2400" b="1">
                <a:solidFill>
                  <a:srgbClr val="FF0000"/>
                </a:solidFill>
                <a:latin typeface="华文楷体" pitchFamily="2" charset="-122"/>
                <a:ea typeface="华文楷体" pitchFamily="2" charset="-122"/>
                <a:sym typeface="华文楷体" pitchFamily="2" charset="-122"/>
              </a:rPr>
              <a:t>1.2</a:t>
            </a:r>
            <a:r>
              <a:rPr lang="zh-CN" altLang="en-US" sz="2400" b="1">
                <a:solidFill>
                  <a:srgbClr val="FF0000"/>
                </a:solidFill>
                <a:latin typeface="华文楷体" pitchFamily="2" charset="-122"/>
                <a:ea typeface="华文楷体" pitchFamily="2" charset="-122"/>
                <a:sym typeface="华文楷体" pitchFamily="2" charset="-122"/>
              </a:rPr>
              <a:t>差异备份（</a:t>
            </a:r>
            <a:r>
              <a:rPr lang="en-US" sz="2400" b="1">
                <a:solidFill>
                  <a:srgbClr val="FF0000"/>
                </a:solidFill>
                <a:latin typeface="华文楷体" pitchFamily="2" charset="-122"/>
                <a:ea typeface="华文楷体" pitchFamily="2" charset="-122"/>
                <a:sym typeface="华文楷体" pitchFamily="2" charset="-122"/>
              </a:rPr>
              <a:t>Differential Backup</a:t>
            </a:r>
            <a:r>
              <a:rPr lang="zh-CN" altLang="en-US" sz="2400" b="1">
                <a:solidFill>
                  <a:srgbClr val="FF0000"/>
                </a:solidFill>
                <a:latin typeface="华文楷体" pitchFamily="2" charset="-122"/>
                <a:ea typeface="华文楷体" pitchFamily="2" charset="-122"/>
                <a:sym typeface="华文楷体" pitchFamily="2" charset="-122"/>
              </a:rPr>
              <a:t>）：</a:t>
            </a:r>
            <a:r>
              <a:rPr lang="zh-CN" altLang="en-US" sz="2000" b="1">
                <a:solidFill>
                  <a:srgbClr val="000000"/>
                </a:solidFill>
                <a:latin typeface="华文楷体" pitchFamily="2" charset="-122"/>
                <a:ea typeface="华文楷体" pitchFamily="2" charset="-122"/>
                <a:sym typeface="华文楷体" pitchFamily="2" charset="-122"/>
              </a:rPr>
              <a:t>差异备份是自上一次完全备份之后有变化另一种表现形式。在进行恢复时只需对第一次全备份和最后一次差异备份进行恢复。优点是有部分重复的备份内容。差异备份在避免了另外两种备份策略缺陷的同时，有具备了它们各自的优点。首先它具有了增量备份需要时间段、节省空间的优势；其次它又具有了全备份恢复所需磁盘少、恢复时间短的特点。</a:t>
            </a:r>
          </a:p>
        </p:txBody>
      </p:sp>
      <p:sp>
        <p:nvSpPr>
          <p:cNvPr id="59395" name="标题 1"/>
          <p:cNvSpPr>
            <a:spLocks noChangeArrowheads="1"/>
          </p:cNvSpPr>
          <p:nvPr/>
        </p:nvSpPr>
        <p:spPr bwMode="auto">
          <a:xfrm>
            <a:off x="457200" y="908050"/>
            <a:ext cx="82296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r>
              <a:rPr lang="zh-CN" altLang="en-US" sz="2800" b="1">
                <a:solidFill>
                  <a:srgbClr val="FF0000"/>
                </a:solidFill>
                <a:latin typeface="Times New Roman" pitchFamily="18" charset="0"/>
                <a:ea typeface="华文楷体" pitchFamily="2" charset="-122"/>
                <a:sym typeface="Times New Roman" pitchFamily="18" charset="0"/>
              </a:rPr>
              <a:t>完全备份、增量备份与差异备份的区别与应用</a:t>
            </a:r>
          </a:p>
        </p:txBody>
      </p:sp>
    </p:spTree>
  </p:cSld>
  <p:clrMapOvr>
    <a:masterClrMapping/>
  </p:clrMapOvr>
  <p:transition>
    <p:strips dir="ld"/>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标题 1"/>
          <p:cNvSpPr>
            <a:spLocks noChangeArrowheads="1"/>
          </p:cNvSpPr>
          <p:nvPr/>
        </p:nvSpPr>
        <p:spPr bwMode="auto">
          <a:xfrm>
            <a:off x="457200" y="979488"/>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r>
              <a:rPr lang="zh-CN" altLang="en-US" sz="2800" b="1">
                <a:solidFill>
                  <a:srgbClr val="FF0000"/>
                </a:solidFill>
                <a:latin typeface="Times New Roman" pitchFamily="18" charset="0"/>
                <a:ea typeface="华文楷体" pitchFamily="2" charset="-122"/>
                <a:sym typeface="Times New Roman" pitchFamily="18" charset="0"/>
              </a:rPr>
              <a:t>完全备份、增量备份与差异备份的区别与应用</a:t>
            </a:r>
          </a:p>
        </p:txBody>
      </p:sp>
      <p:sp>
        <p:nvSpPr>
          <p:cNvPr id="60419" name="矩形 3"/>
          <p:cNvSpPr>
            <a:spLocks noChangeArrowheads="1"/>
          </p:cNvSpPr>
          <p:nvPr/>
        </p:nvSpPr>
        <p:spPr bwMode="auto">
          <a:xfrm>
            <a:off x="323850" y="1843088"/>
            <a:ext cx="8640763" cy="335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en-US" sz="2400" b="1">
                <a:solidFill>
                  <a:srgbClr val="000000"/>
                </a:solidFill>
                <a:latin typeface="华文楷体" pitchFamily="2" charset="-122"/>
                <a:ea typeface="华文楷体" pitchFamily="2" charset="-122"/>
                <a:sym typeface="华文楷体" pitchFamily="2" charset="-122"/>
              </a:rPr>
              <a:t>1.</a:t>
            </a:r>
            <a:r>
              <a:rPr lang="zh-CN" altLang="en-US" sz="2400" b="1">
                <a:solidFill>
                  <a:srgbClr val="000000"/>
                </a:solidFill>
                <a:latin typeface="华文楷体" pitchFamily="2" charset="-122"/>
                <a:ea typeface="华文楷体" pitchFamily="2" charset="-122"/>
                <a:sym typeface="华文楷体" pitchFamily="2" charset="-122"/>
              </a:rPr>
              <a:t>完全备份、增量备份与差异备份的区别</a:t>
            </a:r>
            <a:endParaRPr lang="en-US" sz="2400" b="1">
              <a:solidFill>
                <a:srgbClr val="000000"/>
              </a:solidFill>
              <a:latin typeface="华文楷体" pitchFamily="2" charset="-122"/>
              <a:ea typeface="华文楷体" pitchFamily="2" charset="-122"/>
              <a:sym typeface="华文楷体" pitchFamily="2" charset="-122"/>
            </a:endParaRPr>
          </a:p>
          <a:p>
            <a:endParaRPr lang="zh-CN" altLang="en-US" sz="2400" b="1">
              <a:solidFill>
                <a:srgbClr val="000000"/>
              </a:solidFill>
              <a:latin typeface="华文楷体" pitchFamily="2" charset="-122"/>
              <a:ea typeface="华文楷体" pitchFamily="2" charset="-122"/>
              <a:sym typeface="华文楷体" pitchFamily="2" charset="-122"/>
            </a:endParaRPr>
          </a:p>
          <a:p>
            <a:r>
              <a:rPr lang="en-US" sz="2400" b="1">
                <a:solidFill>
                  <a:srgbClr val="000000"/>
                </a:solidFill>
                <a:latin typeface="华文楷体" pitchFamily="2" charset="-122"/>
                <a:ea typeface="华文楷体" pitchFamily="2" charset="-122"/>
                <a:sym typeface="华文楷体" pitchFamily="2" charset="-122"/>
              </a:rPr>
              <a:t>1.3</a:t>
            </a:r>
            <a:r>
              <a:rPr lang="zh-CN" altLang="en-US" sz="2400" b="1">
                <a:solidFill>
                  <a:srgbClr val="FF0000"/>
                </a:solidFill>
                <a:latin typeface="华文楷体" pitchFamily="2" charset="-122"/>
                <a:ea typeface="华文楷体" pitchFamily="2" charset="-122"/>
                <a:sym typeface="华文楷体" pitchFamily="2" charset="-122"/>
              </a:rPr>
              <a:t>增量备份（</a:t>
            </a:r>
            <a:r>
              <a:rPr lang="en-US" sz="2400" b="1">
                <a:solidFill>
                  <a:srgbClr val="FF0000"/>
                </a:solidFill>
                <a:latin typeface="华文楷体" pitchFamily="2" charset="-122"/>
                <a:ea typeface="华文楷体" pitchFamily="2" charset="-122"/>
                <a:sym typeface="华文楷体" pitchFamily="2" charset="-122"/>
              </a:rPr>
              <a:t>Incremental Backup</a:t>
            </a:r>
            <a:r>
              <a:rPr lang="zh-CN" altLang="en-US" sz="2400" b="1">
                <a:solidFill>
                  <a:srgbClr val="FF0000"/>
                </a:solidFill>
                <a:latin typeface="华文楷体" pitchFamily="2" charset="-122"/>
                <a:ea typeface="华文楷体" pitchFamily="2" charset="-122"/>
                <a:sym typeface="华文楷体" pitchFamily="2" charset="-122"/>
              </a:rPr>
              <a:t>）</a:t>
            </a:r>
            <a:r>
              <a:rPr lang="zh-CN" altLang="en-US" sz="2400" b="1">
                <a:solidFill>
                  <a:srgbClr val="000000"/>
                </a:solidFill>
                <a:latin typeface="华文楷体" pitchFamily="2" charset="-122"/>
                <a:ea typeface="华文楷体" pitchFamily="2" charset="-122"/>
                <a:sym typeface="华文楷体" pitchFamily="2" charset="-122"/>
              </a:rPr>
              <a:t>：</a:t>
            </a:r>
            <a:r>
              <a:rPr lang="zh-CN" altLang="en-US" sz="2000" b="1">
                <a:solidFill>
                  <a:srgbClr val="000000"/>
                </a:solidFill>
                <a:latin typeface="华文楷体" pitchFamily="2" charset="-122"/>
                <a:ea typeface="华文楷体" pitchFamily="2" charset="-122"/>
                <a:sym typeface="华文楷体" pitchFamily="2" charset="-122"/>
              </a:rPr>
              <a:t>指的是在自上一次备份（包含完全备份、差异备份、增量备份）之后有变化的数据。只对新添加或改变过的数据进行备份。这种备份方式最显著的优点就是：没有重复的备份数据，因此备份的数据量不大，备份所需的时间很短。但增量备份的数据恢复是比较麻烦的。不足之处：您必须具有上一次全备份和所有增量备份硬盘（一旦丢失或损坏其中的一盘硬盘，就会造成恢复的失败），并且它们必须沿着从全备份到依次增量备份的时间顺序逐个恢复。恢复时需要对第一次全备份恢复、还要对每一天的增量备份进行恢复。</a:t>
            </a:r>
            <a:endParaRPr lang="en-US" sz="2000" b="1">
              <a:solidFill>
                <a:srgbClr val="000000"/>
              </a:solidFill>
              <a:latin typeface="华文楷体" pitchFamily="2" charset="-122"/>
              <a:ea typeface="华文楷体" pitchFamily="2" charset="-122"/>
              <a:sym typeface="华文楷体" pitchFamily="2" charset="-122"/>
            </a:endParaRPr>
          </a:p>
        </p:txBody>
      </p:sp>
    </p:spTree>
  </p:cSld>
  <p:clrMapOvr>
    <a:masterClrMapping/>
  </p:clrMapOvr>
  <p:transition>
    <p:strips dir="ld"/>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42" name="Picture 2" descr="http://pic.58pic.com/58pic/15/65/02/07F58PICjZr_10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565400"/>
            <a:ext cx="1925637"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pic>
      <p:sp>
        <p:nvSpPr>
          <p:cNvPr id="61443" name="流程图: 可选过程 4"/>
          <p:cNvSpPr>
            <a:spLocks/>
          </p:cNvSpPr>
          <p:nvPr/>
        </p:nvSpPr>
        <p:spPr bwMode="auto">
          <a:xfrm>
            <a:off x="250825" y="1198563"/>
            <a:ext cx="8497888" cy="5416550"/>
          </a:xfrm>
          <a:prstGeom prst="flowChartAlternateProcess">
            <a:avLst/>
          </a:prstGeom>
          <a:noFill/>
          <a:ln w="9525" cap="flat" cmpd="sng">
            <a:solidFill>
              <a:schemeClr val="tx1"/>
            </a:solidFill>
            <a:bevel/>
            <a:headEnd/>
            <a:tailEnd/>
          </a:ln>
          <a:extLst>
            <a:ext uri="{909E8E84-426E-40DD-AFC4-6F175D3DCCD1}">
              <a14:hiddenFill xmlns:a14="http://schemas.microsoft.com/office/drawing/2010/main">
                <a:solidFill>
                  <a:srgbClr val="FFFFFF"/>
                </a:solidFill>
              </a14:hiddenFill>
            </a:ext>
          </a:extLst>
        </p:spPr>
        <p:txBody>
          <a:bodyPr/>
          <a:lstStyle/>
          <a:p>
            <a:pPr>
              <a:buFont typeface="Wingdings" pitchFamily="2" charset="2"/>
              <a:buChar char="Ø"/>
            </a:pPr>
            <a:endParaRPr lang="zh-CN" altLang="zh-CN" b="1" i="1">
              <a:sym typeface="Arial" pitchFamily="34" charset="0"/>
            </a:endParaRPr>
          </a:p>
        </p:txBody>
      </p:sp>
      <p:sp>
        <p:nvSpPr>
          <p:cNvPr id="61444" name="TextBox 5"/>
          <p:cNvSpPr>
            <a:spLocks noChangeArrowheads="1"/>
          </p:cNvSpPr>
          <p:nvPr/>
        </p:nvSpPr>
        <p:spPr bwMode="auto">
          <a:xfrm>
            <a:off x="2320925" y="1384300"/>
            <a:ext cx="6335713" cy="512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spcAft>
                <a:spcPts val="1200"/>
              </a:spcAft>
              <a:buFont typeface="Wingdings" pitchFamily="2" charset="2"/>
              <a:buChar char="Ø"/>
            </a:pPr>
            <a:r>
              <a:rPr lang="zh-CN" altLang="en-US" sz="2000" b="1">
                <a:solidFill>
                  <a:srgbClr val="000000"/>
                </a:solidFill>
                <a:latin typeface="Times New Roman" pitchFamily="18" charset="0"/>
                <a:ea typeface="华文楷体" pitchFamily="2" charset="-122"/>
                <a:sym typeface="Times New Roman" pitchFamily="18" charset="0"/>
              </a:rPr>
              <a:t>程序中应明确备份的方式、媒介、</a:t>
            </a:r>
            <a:r>
              <a:rPr lang="zh-CN" altLang="en-US" sz="2000" b="1">
                <a:solidFill>
                  <a:srgbClr val="FF0000"/>
                </a:solidFill>
                <a:latin typeface="Times New Roman" pitchFamily="18" charset="0"/>
                <a:ea typeface="华文楷体" pitchFamily="2" charset="-122"/>
                <a:sym typeface="Times New Roman" pitchFamily="18" charset="0"/>
              </a:rPr>
              <a:t>频率（举例见解释）</a:t>
            </a:r>
            <a:r>
              <a:rPr lang="zh-CN" altLang="en-US" sz="2000" b="1">
                <a:solidFill>
                  <a:srgbClr val="000000"/>
                </a:solidFill>
                <a:latin typeface="Times New Roman" pitchFamily="18" charset="0"/>
                <a:ea typeface="华文楷体" pitchFamily="2" charset="-122"/>
                <a:sym typeface="Times New Roman" pitchFamily="18" charset="0"/>
              </a:rPr>
              <a:t>、位置、所要求的响应时间、保存期限及定期检查等要求。</a:t>
            </a:r>
            <a:endParaRPr lang="en-US" sz="2000" b="1">
              <a:solidFill>
                <a:srgbClr val="000000"/>
              </a:solidFill>
              <a:latin typeface="Times New Roman" pitchFamily="18" charset="0"/>
              <a:ea typeface="华文楷体" pitchFamily="2" charset="-122"/>
              <a:sym typeface="Times New Roman" pitchFamily="18" charset="0"/>
            </a:endParaRPr>
          </a:p>
          <a:p>
            <a:pPr>
              <a:spcAft>
                <a:spcPts val="1200"/>
              </a:spcAft>
              <a:buFont typeface="Wingdings" pitchFamily="2" charset="2"/>
              <a:buChar char="Ø"/>
            </a:pPr>
            <a:r>
              <a:rPr lang="zh-CN" altLang="en-US" sz="2000" b="1">
                <a:solidFill>
                  <a:srgbClr val="000000"/>
                </a:solidFill>
                <a:latin typeface="Times New Roman" pitchFamily="18" charset="0"/>
                <a:ea typeface="华文楷体" pitchFamily="2" charset="-122"/>
                <a:sym typeface="Times New Roman" pitchFamily="18" charset="0"/>
              </a:rPr>
              <a:t>包括操作系统、应用软件和数据三方面。</a:t>
            </a:r>
            <a:endParaRPr lang="en-US" sz="2000" b="1">
              <a:solidFill>
                <a:srgbClr val="000000"/>
              </a:solidFill>
              <a:latin typeface="Times New Roman" pitchFamily="18" charset="0"/>
              <a:ea typeface="华文楷体" pitchFamily="2" charset="-122"/>
              <a:sym typeface="Times New Roman" pitchFamily="18" charset="0"/>
            </a:endParaRPr>
          </a:p>
          <a:p>
            <a:pPr>
              <a:spcAft>
                <a:spcPts val="1200"/>
              </a:spcAft>
              <a:buFont typeface="Wingdings" pitchFamily="2" charset="2"/>
              <a:buChar char="Ø"/>
            </a:pPr>
            <a:r>
              <a:rPr lang="zh-CN" altLang="en-US" sz="2000" b="1">
                <a:solidFill>
                  <a:srgbClr val="000000"/>
                </a:solidFill>
                <a:latin typeface="Times New Roman" pitchFamily="18" charset="0"/>
                <a:ea typeface="华文楷体" pitchFamily="2" charset="-122"/>
                <a:sym typeface="Times New Roman" pitchFamily="18" charset="0"/>
              </a:rPr>
              <a:t>关键数据应常规备份，软件和系统定期检查，有升级时备份。</a:t>
            </a:r>
            <a:endParaRPr lang="en-US" sz="2000" b="1">
              <a:solidFill>
                <a:srgbClr val="000000"/>
              </a:solidFill>
              <a:latin typeface="Times New Roman" pitchFamily="18" charset="0"/>
              <a:ea typeface="华文楷体" pitchFamily="2" charset="-122"/>
              <a:sym typeface="Times New Roman" pitchFamily="18" charset="0"/>
            </a:endParaRPr>
          </a:p>
          <a:p>
            <a:pPr>
              <a:spcAft>
                <a:spcPts val="1200"/>
              </a:spcAft>
              <a:buFont typeface="Wingdings" pitchFamily="2" charset="2"/>
              <a:buChar char="Ø"/>
            </a:pPr>
            <a:r>
              <a:rPr lang="zh-CN" altLang="en-US" sz="2000" b="1">
                <a:solidFill>
                  <a:srgbClr val="000000"/>
                </a:solidFill>
                <a:latin typeface="Times New Roman" pitchFamily="18" charset="0"/>
                <a:ea typeface="华文楷体" pitchFamily="2" charset="-122"/>
                <a:sym typeface="Times New Roman" pitchFamily="18" charset="0"/>
              </a:rPr>
              <a:t>独立于系统，远程保存，至少保留</a:t>
            </a:r>
            <a:r>
              <a:rPr lang="en-US" sz="2000" b="1">
                <a:solidFill>
                  <a:srgbClr val="000000"/>
                </a:solidFill>
                <a:latin typeface="Times New Roman" pitchFamily="18" charset="0"/>
                <a:ea typeface="华文楷体" pitchFamily="2" charset="-122"/>
                <a:sym typeface="Times New Roman" pitchFamily="18" charset="0"/>
              </a:rPr>
              <a:t>2</a:t>
            </a:r>
            <a:r>
              <a:rPr lang="zh-CN" altLang="en-US" sz="2000" b="1">
                <a:solidFill>
                  <a:srgbClr val="000000"/>
                </a:solidFill>
                <a:latin typeface="Times New Roman" pitchFamily="18" charset="0"/>
                <a:ea typeface="华文楷体" pitchFamily="2" charset="-122"/>
                <a:sym typeface="Times New Roman" pitchFamily="18" charset="0"/>
              </a:rPr>
              <a:t>份。</a:t>
            </a:r>
            <a:endParaRPr lang="en-US" sz="2000" b="1">
              <a:solidFill>
                <a:srgbClr val="000000"/>
              </a:solidFill>
              <a:latin typeface="Times New Roman" pitchFamily="18" charset="0"/>
              <a:ea typeface="华文楷体" pitchFamily="2" charset="-122"/>
              <a:sym typeface="Times New Roman" pitchFamily="18" charset="0"/>
            </a:endParaRPr>
          </a:p>
          <a:p>
            <a:pPr>
              <a:spcAft>
                <a:spcPts val="1200"/>
              </a:spcAft>
              <a:buFont typeface="Wingdings" pitchFamily="2" charset="2"/>
              <a:buChar char="Ø"/>
            </a:pPr>
            <a:r>
              <a:rPr lang="zh-CN" altLang="en-US" sz="2000" b="1">
                <a:solidFill>
                  <a:srgbClr val="000000"/>
                </a:solidFill>
                <a:latin typeface="Times New Roman" pitchFamily="18" charset="0"/>
                <a:ea typeface="华文楷体" pitchFamily="2" charset="-122"/>
                <a:sym typeface="Times New Roman" pitchFamily="18" charset="0"/>
              </a:rPr>
              <a:t>选择和使用储存媒介应考虑供应商推荐的使用寿命、储存环境条件、储存容量等。</a:t>
            </a:r>
            <a:endParaRPr lang="en-US" sz="2000" b="1">
              <a:solidFill>
                <a:srgbClr val="000000"/>
              </a:solidFill>
              <a:latin typeface="Times New Roman" pitchFamily="18" charset="0"/>
              <a:ea typeface="华文楷体" pitchFamily="2" charset="-122"/>
              <a:sym typeface="Times New Roman" pitchFamily="18" charset="0"/>
            </a:endParaRPr>
          </a:p>
          <a:p>
            <a:pPr>
              <a:spcAft>
                <a:spcPts val="1200"/>
              </a:spcAft>
              <a:buFont typeface="Wingdings" pitchFamily="2" charset="2"/>
              <a:buChar char="Ø"/>
            </a:pPr>
            <a:r>
              <a:rPr lang="zh-CN" altLang="en-US" sz="2000" b="1">
                <a:solidFill>
                  <a:srgbClr val="000000"/>
                </a:solidFill>
                <a:latin typeface="Times New Roman" pitchFamily="18" charset="0"/>
                <a:ea typeface="华文楷体" pitchFamily="2" charset="-122"/>
                <a:sym typeface="Times New Roman" pitchFamily="18" charset="0"/>
              </a:rPr>
              <a:t>备份上应有标识或采用唯一标识码</a:t>
            </a:r>
            <a:endParaRPr lang="en-US" sz="2000" b="1">
              <a:solidFill>
                <a:srgbClr val="000000"/>
              </a:solidFill>
              <a:latin typeface="Times New Roman" pitchFamily="18" charset="0"/>
              <a:ea typeface="华文楷体" pitchFamily="2" charset="-122"/>
              <a:sym typeface="Times New Roman" pitchFamily="18" charset="0"/>
            </a:endParaRPr>
          </a:p>
          <a:p>
            <a:pPr>
              <a:spcAft>
                <a:spcPts val="1200"/>
              </a:spcAft>
              <a:buFont typeface="Wingdings" pitchFamily="2" charset="2"/>
              <a:buChar char="Ø"/>
            </a:pPr>
            <a:r>
              <a:rPr lang="zh-CN" altLang="en-US" sz="2000" b="1">
                <a:solidFill>
                  <a:srgbClr val="000000"/>
                </a:solidFill>
                <a:latin typeface="Times New Roman" pitchFamily="18" charset="0"/>
                <a:ea typeface="华文楷体" pitchFamily="2" charset="-122"/>
                <a:sym typeface="Times New Roman" pitchFamily="18" charset="0"/>
              </a:rPr>
              <a:t>应定期检查备份的可访问性、耐久性和准确性，关键系统至少每年检查一次。</a:t>
            </a:r>
            <a:endParaRPr lang="en-US" sz="2000" b="1">
              <a:solidFill>
                <a:srgbClr val="000000"/>
              </a:solidFill>
              <a:latin typeface="Times New Roman" pitchFamily="18" charset="0"/>
              <a:ea typeface="华文楷体" pitchFamily="2" charset="-122"/>
              <a:sym typeface="Times New Roman" pitchFamily="18" charset="0"/>
            </a:endParaRPr>
          </a:p>
          <a:p>
            <a:pPr>
              <a:spcAft>
                <a:spcPts val="1200"/>
              </a:spcAft>
              <a:buFont typeface="Wingdings" pitchFamily="2" charset="2"/>
              <a:buChar char="Ø"/>
            </a:pPr>
            <a:r>
              <a:rPr lang="zh-CN" altLang="en-US" sz="2000" b="1">
                <a:solidFill>
                  <a:srgbClr val="000000"/>
                </a:solidFill>
                <a:latin typeface="Times New Roman" pitchFamily="18" charset="0"/>
                <a:ea typeface="华文楷体" pitchFamily="2" charset="-122"/>
                <a:sym typeface="Times New Roman" pitchFamily="18" charset="0"/>
              </a:rPr>
              <a:t>备份流程需经过核实，可与灾难性恢复结合来做</a:t>
            </a:r>
          </a:p>
        </p:txBody>
      </p:sp>
      <p:sp>
        <p:nvSpPr>
          <p:cNvPr id="61445" name="TextBox 6"/>
          <p:cNvSpPr>
            <a:spLocks noChangeArrowheads="1"/>
          </p:cNvSpPr>
          <p:nvPr/>
        </p:nvSpPr>
        <p:spPr bwMode="auto">
          <a:xfrm>
            <a:off x="684213" y="4437063"/>
            <a:ext cx="1295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ctr"/>
            <a:r>
              <a:rPr lang="zh-CN" altLang="en-US" sz="3200">
                <a:solidFill>
                  <a:srgbClr val="000000"/>
                </a:solidFill>
                <a:latin typeface="华文楷体" pitchFamily="2" charset="-122"/>
                <a:ea typeface="华文楷体" pitchFamily="2" charset="-122"/>
                <a:sym typeface="华文楷体" pitchFamily="2" charset="-122"/>
              </a:rPr>
              <a:t>备份</a:t>
            </a:r>
          </a:p>
        </p:txBody>
      </p:sp>
      <p:sp>
        <p:nvSpPr>
          <p:cNvPr id="61446" name="Rectangle 2"/>
          <p:cNvSpPr>
            <a:spLocks noChangeArrowheads="1"/>
          </p:cNvSpPr>
          <p:nvPr/>
        </p:nvSpPr>
        <p:spPr bwMode="auto">
          <a:xfrm>
            <a:off x="1174750" y="147638"/>
            <a:ext cx="822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节：数据完整性管控策略与基本要求</a:t>
            </a:r>
          </a:p>
        </p:txBody>
      </p:sp>
    </p:spTree>
  </p:cSld>
  <p:clrMapOvr>
    <a:masterClrMapping/>
  </p:clrMapOvr>
  <p:transition>
    <p:strips dir="ld"/>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Text Box 3"/>
          <p:cNvSpPr>
            <a:spLocks noChangeArrowheads="1"/>
          </p:cNvSpPr>
          <p:nvPr/>
        </p:nvSpPr>
        <p:spPr bwMode="auto">
          <a:xfrm>
            <a:off x="1792288" y="2465388"/>
            <a:ext cx="13398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a:solidFill>
                  <a:srgbClr val="000000"/>
                </a:solidFill>
                <a:sym typeface="Arial" pitchFamily="34" charset="0"/>
              </a:rPr>
              <a:t>    </a:t>
            </a:r>
          </a:p>
        </p:txBody>
      </p:sp>
      <p:sp>
        <p:nvSpPr>
          <p:cNvPr id="62467" name="Text Box 4"/>
          <p:cNvSpPr>
            <a:spLocks noChangeArrowheads="1"/>
          </p:cNvSpPr>
          <p:nvPr/>
        </p:nvSpPr>
        <p:spPr bwMode="auto">
          <a:xfrm>
            <a:off x="3851275" y="98107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a:solidFill>
                  <a:srgbClr val="000000"/>
                </a:solidFill>
                <a:latin typeface="楷体_GB2312" pitchFamily="1" charset="-122"/>
                <a:ea typeface="楷体_GB2312" pitchFamily="1" charset="-122"/>
                <a:sym typeface="楷体_GB2312" pitchFamily="1" charset="-122"/>
              </a:rPr>
              <a:t>审计追踪</a:t>
            </a:r>
          </a:p>
        </p:txBody>
      </p:sp>
      <p:sp>
        <p:nvSpPr>
          <p:cNvPr id="62468" name="Line 5"/>
          <p:cNvSpPr>
            <a:spLocks noChangeShapeType="1"/>
          </p:cNvSpPr>
          <p:nvPr/>
        </p:nvSpPr>
        <p:spPr bwMode="auto">
          <a:xfrm>
            <a:off x="5508625" y="1731963"/>
            <a:ext cx="0" cy="4968875"/>
          </a:xfrm>
          <a:prstGeom prst="line">
            <a:avLst/>
          </a:prstGeom>
          <a:noFill/>
          <a:ln w="9525" cap="flat" cmpd="sng">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itchFamily="34" charset="0"/>
            </a:endParaRPr>
          </a:p>
        </p:txBody>
      </p:sp>
      <p:sp>
        <p:nvSpPr>
          <p:cNvPr id="62469" name="Line 6"/>
          <p:cNvSpPr>
            <a:spLocks noChangeShapeType="1"/>
          </p:cNvSpPr>
          <p:nvPr/>
        </p:nvSpPr>
        <p:spPr bwMode="auto">
          <a:xfrm>
            <a:off x="5508625" y="2492375"/>
            <a:ext cx="1944688" cy="1588"/>
          </a:xfrm>
          <a:prstGeom prst="line">
            <a:avLst/>
          </a:prstGeom>
          <a:noFill/>
          <a:ln w="9525" cap="flat" cmpd="sng">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itchFamily="34" charset="0"/>
            </a:endParaRPr>
          </a:p>
        </p:txBody>
      </p:sp>
      <p:sp>
        <p:nvSpPr>
          <p:cNvPr id="62470" name="Line 7"/>
          <p:cNvSpPr>
            <a:spLocks noChangeShapeType="1"/>
          </p:cNvSpPr>
          <p:nvPr/>
        </p:nvSpPr>
        <p:spPr bwMode="auto">
          <a:xfrm flipH="1">
            <a:off x="3060700" y="2997200"/>
            <a:ext cx="2447925" cy="0"/>
          </a:xfrm>
          <a:prstGeom prst="line">
            <a:avLst/>
          </a:prstGeom>
          <a:noFill/>
          <a:ln w="9525" cap="flat" cmpd="sng">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itchFamily="34" charset="0"/>
            </a:endParaRPr>
          </a:p>
        </p:txBody>
      </p:sp>
      <p:sp>
        <p:nvSpPr>
          <p:cNvPr id="62471" name="Line 8"/>
          <p:cNvSpPr>
            <a:spLocks noChangeShapeType="1"/>
          </p:cNvSpPr>
          <p:nvPr/>
        </p:nvSpPr>
        <p:spPr bwMode="auto">
          <a:xfrm>
            <a:off x="5508625" y="4510088"/>
            <a:ext cx="1944688" cy="1587"/>
          </a:xfrm>
          <a:prstGeom prst="line">
            <a:avLst/>
          </a:prstGeom>
          <a:noFill/>
          <a:ln w="9525" cap="flat" cmpd="sng">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itchFamily="34" charset="0"/>
            </a:endParaRPr>
          </a:p>
        </p:txBody>
      </p:sp>
      <p:sp>
        <p:nvSpPr>
          <p:cNvPr id="62472" name="Line 9"/>
          <p:cNvSpPr>
            <a:spLocks noChangeShapeType="1"/>
          </p:cNvSpPr>
          <p:nvPr/>
        </p:nvSpPr>
        <p:spPr bwMode="auto">
          <a:xfrm>
            <a:off x="5508625" y="5949950"/>
            <a:ext cx="1944688" cy="0"/>
          </a:xfrm>
          <a:prstGeom prst="line">
            <a:avLst/>
          </a:prstGeom>
          <a:noFill/>
          <a:ln w="9525" cap="flat" cmpd="sng">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itchFamily="34" charset="0"/>
            </a:endParaRPr>
          </a:p>
        </p:txBody>
      </p:sp>
      <p:sp>
        <p:nvSpPr>
          <p:cNvPr id="62473" name="Line 10"/>
          <p:cNvSpPr>
            <a:spLocks noChangeShapeType="1"/>
          </p:cNvSpPr>
          <p:nvPr/>
        </p:nvSpPr>
        <p:spPr bwMode="auto">
          <a:xfrm flipH="1">
            <a:off x="3060700" y="5229225"/>
            <a:ext cx="2447925" cy="1588"/>
          </a:xfrm>
          <a:prstGeom prst="line">
            <a:avLst/>
          </a:prstGeom>
          <a:noFill/>
          <a:ln w="9525" cap="flat" cmpd="sng">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zh-CN">
              <a:solidFill>
                <a:srgbClr val="000000"/>
              </a:solidFill>
              <a:sym typeface="Arial" pitchFamily="34" charset="0"/>
            </a:endParaRPr>
          </a:p>
        </p:txBody>
      </p:sp>
      <p:sp>
        <p:nvSpPr>
          <p:cNvPr id="62474" name="Text Box 11"/>
          <p:cNvSpPr>
            <a:spLocks noChangeArrowheads="1"/>
          </p:cNvSpPr>
          <p:nvPr/>
        </p:nvSpPr>
        <p:spPr bwMode="auto">
          <a:xfrm>
            <a:off x="176213" y="1885950"/>
            <a:ext cx="52625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000000"/>
                </a:solidFill>
                <a:latin typeface="楷体_GB2312" pitchFamily="1" charset="-122"/>
                <a:ea typeface="楷体_GB2312" pitchFamily="1" charset="-122"/>
                <a:sym typeface="楷体_GB2312" pitchFamily="1" charset="-122"/>
              </a:rPr>
              <a:t>1 何时需要？</a:t>
            </a:r>
            <a:r>
              <a:rPr lang="zh-CN" altLang="en-US" sz="2000">
                <a:solidFill>
                  <a:srgbClr val="000000"/>
                </a:solidFill>
                <a:latin typeface="楷体_GB2312" pitchFamily="1" charset="-122"/>
                <a:ea typeface="楷体_GB2312" pitchFamily="1" charset="-122"/>
                <a:sym typeface="楷体_GB2312" pitchFamily="1" charset="-122"/>
              </a:rPr>
              <a:t>用于采集、处理、报告或保存原</a:t>
            </a:r>
          </a:p>
          <a:p>
            <a:r>
              <a:rPr lang="zh-CN" altLang="en-US" sz="2000">
                <a:solidFill>
                  <a:srgbClr val="000000"/>
                </a:solidFill>
                <a:latin typeface="楷体_GB2312" pitchFamily="1" charset="-122"/>
                <a:ea typeface="楷体_GB2312" pitchFamily="1" charset="-122"/>
                <a:sym typeface="楷体_GB2312" pitchFamily="1" charset="-122"/>
              </a:rPr>
              <a:t>始电子数据的计算机化系统；暂不具备的，应</a:t>
            </a:r>
          </a:p>
          <a:p>
            <a:r>
              <a:rPr lang="zh-CN" altLang="en-US" sz="2000">
                <a:solidFill>
                  <a:srgbClr val="000000"/>
                </a:solidFill>
                <a:latin typeface="楷体_GB2312" pitchFamily="1" charset="-122"/>
                <a:ea typeface="楷体_GB2312" pitchFamily="1" charset="-122"/>
                <a:sym typeface="楷体_GB2312" pitchFamily="1" charset="-122"/>
              </a:rPr>
              <a:t>采取措施，并尽早升级</a:t>
            </a:r>
          </a:p>
        </p:txBody>
      </p:sp>
      <p:grpSp>
        <p:nvGrpSpPr>
          <p:cNvPr id="62475" name="Group 12"/>
          <p:cNvGrpSpPr>
            <a:grpSpLocks/>
          </p:cNvGrpSpPr>
          <p:nvPr/>
        </p:nvGrpSpPr>
        <p:grpSpPr bwMode="auto">
          <a:xfrm>
            <a:off x="2197100" y="2852738"/>
            <a:ext cx="914400" cy="457200"/>
            <a:chOff x="0" y="0"/>
            <a:chExt cx="1440" cy="720"/>
          </a:xfrm>
        </p:grpSpPr>
        <p:sp>
          <p:nvSpPr>
            <p:cNvPr id="62476" name="Oval 13"/>
            <p:cNvSpPr>
              <a:spLocks noChangeArrowheads="1"/>
            </p:cNvSpPr>
            <p:nvPr/>
          </p:nvSpPr>
          <p:spPr bwMode="auto">
            <a:xfrm>
              <a:off x="0" y="10"/>
              <a:ext cx="1440" cy="680"/>
            </a:xfrm>
            <a:prstGeom prst="ellipse">
              <a:avLst/>
            </a:prstGeom>
            <a:solidFill>
              <a:schemeClr val="accent1"/>
            </a:solidFill>
            <a:ln>
              <a:noFill/>
            </a:ln>
            <a:extLst>
              <a:ext uri="{91240B29-F687-4F45-9708-019B960494DF}">
                <a14:hiddenLine xmlns:a14="http://schemas.microsoft.com/office/drawing/2010/main" w="9525" cmpd="sng">
                  <a:solidFill>
                    <a:srgbClr val="000000"/>
                  </a:solidFill>
                  <a:bevel/>
                  <a:headEnd/>
                  <a:tailEnd/>
                </a14:hiddenLine>
              </a:ext>
            </a:extLst>
          </p:spPr>
          <p:txBody>
            <a:bodyPr anchor="ctr"/>
            <a:lstStyle/>
            <a:p>
              <a:endParaRPr lang="zh-CN" altLang="zh-CN">
                <a:solidFill>
                  <a:srgbClr val="000000"/>
                </a:solidFill>
                <a:sym typeface="Arial" pitchFamily="34" charset="0"/>
              </a:endParaRPr>
            </a:p>
          </p:txBody>
        </p:sp>
        <p:sp>
          <p:nvSpPr>
            <p:cNvPr id="62477" name="Text Box 14"/>
            <p:cNvSpPr>
              <a:spLocks noChangeArrowheads="1"/>
            </p:cNvSpPr>
            <p:nvPr/>
          </p:nvSpPr>
          <p:spPr bwMode="auto">
            <a:xfrm>
              <a:off x="359" y="0"/>
              <a:ext cx="768"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b="1">
                  <a:solidFill>
                    <a:schemeClr val="bg1"/>
                  </a:solidFill>
                  <a:latin typeface="楷体_GB2312" pitchFamily="1" charset="-122"/>
                  <a:ea typeface="楷体_GB2312" pitchFamily="1" charset="-122"/>
                  <a:sym typeface="楷体_GB2312" pitchFamily="1" charset="-122"/>
                </a:rPr>
                <a:t>02</a:t>
              </a:r>
            </a:p>
          </p:txBody>
        </p:sp>
      </p:grpSp>
      <p:grpSp>
        <p:nvGrpSpPr>
          <p:cNvPr id="62478" name="Group 15"/>
          <p:cNvGrpSpPr>
            <a:grpSpLocks/>
          </p:cNvGrpSpPr>
          <p:nvPr/>
        </p:nvGrpSpPr>
        <p:grpSpPr bwMode="auto">
          <a:xfrm>
            <a:off x="7453313" y="2276475"/>
            <a:ext cx="914400" cy="457200"/>
            <a:chOff x="0" y="0"/>
            <a:chExt cx="1440" cy="720"/>
          </a:xfrm>
        </p:grpSpPr>
        <p:sp>
          <p:nvSpPr>
            <p:cNvPr id="62479" name="Oval 16"/>
            <p:cNvSpPr>
              <a:spLocks noChangeArrowheads="1"/>
            </p:cNvSpPr>
            <p:nvPr/>
          </p:nvSpPr>
          <p:spPr bwMode="auto">
            <a:xfrm>
              <a:off x="0" y="10"/>
              <a:ext cx="1440" cy="680"/>
            </a:xfrm>
            <a:prstGeom prst="ellipse">
              <a:avLst/>
            </a:prstGeom>
            <a:solidFill>
              <a:schemeClr val="accent1"/>
            </a:solidFill>
            <a:ln>
              <a:noFill/>
            </a:ln>
            <a:extLst>
              <a:ext uri="{91240B29-F687-4F45-9708-019B960494DF}">
                <a14:hiddenLine xmlns:a14="http://schemas.microsoft.com/office/drawing/2010/main" w="9525" cmpd="sng">
                  <a:solidFill>
                    <a:srgbClr val="000000"/>
                  </a:solidFill>
                  <a:bevel/>
                  <a:headEnd/>
                  <a:tailEnd/>
                </a14:hiddenLine>
              </a:ext>
            </a:extLst>
          </p:spPr>
          <p:txBody>
            <a:bodyPr anchor="ctr"/>
            <a:lstStyle/>
            <a:p>
              <a:endParaRPr lang="zh-CN" altLang="zh-CN">
                <a:solidFill>
                  <a:srgbClr val="000000"/>
                </a:solidFill>
                <a:sym typeface="Arial" pitchFamily="34" charset="0"/>
              </a:endParaRPr>
            </a:p>
          </p:txBody>
        </p:sp>
        <p:sp>
          <p:nvSpPr>
            <p:cNvPr id="62480" name="Text Box 17"/>
            <p:cNvSpPr>
              <a:spLocks noChangeArrowheads="1"/>
            </p:cNvSpPr>
            <p:nvPr/>
          </p:nvSpPr>
          <p:spPr bwMode="auto">
            <a:xfrm>
              <a:off x="359" y="0"/>
              <a:ext cx="768"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b="1">
                  <a:solidFill>
                    <a:schemeClr val="bg1"/>
                  </a:solidFill>
                  <a:latin typeface="楷体_GB2312" pitchFamily="1" charset="-122"/>
                  <a:ea typeface="楷体_GB2312" pitchFamily="1" charset="-122"/>
                  <a:sym typeface="楷体_GB2312" pitchFamily="1" charset="-122"/>
                </a:rPr>
                <a:t>01</a:t>
              </a:r>
            </a:p>
          </p:txBody>
        </p:sp>
      </p:grpSp>
      <p:grpSp>
        <p:nvGrpSpPr>
          <p:cNvPr id="62481" name="Group 18"/>
          <p:cNvGrpSpPr>
            <a:grpSpLocks/>
          </p:cNvGrpSpPr>
          <p:nvPr/>
        </p:nvGrpSpPr>
        <p:grpSpPr bwMode="auto">
          <a:xfrm>
            <a:off x="7453313" y="4292600"/>
            <a:ext cx="914400" cy="457200"/>
            <a:chOff x="0" y="0"/>
            <a:chExt cx="1440" cy="720"/>
          </a:xfrm>
        </p:grpSpPr>
        <p:sp>
          <p:nvSpPr>
            <p:cNvPr id="62482" name="Oval 19"/>
            <p:cNvSpPr>
              <a:spLocks noChangeArrowheads="1"/>
            </p:cNvSpPr>
            <p:nvPr/>
          </p:nvSpPr>
          <p:spPr bwMode="auto">
            <a:xfrm>
              <a:off x="0" y="10"/>
              <a:ext cx="1440" cy="680"/>
            </a:xfrm>
            <a:prstGeom prst="ellipse">
              <a:avLst/>
            </a:prstGeom>
            <a:solidFill>
              <a:schemeClr val="accent1"/>
            </a:solidFill>
            <a:ln>
              <a:noFill/>
            </a:ln>
            <a:extLst>
              <a:ext uri="{91240B29-F687-4F45-9708-019B960494DF}">
                <a14:hiddenLine xmlns:a14="http://schemas.microsoft.com/office/drawing/2010/main" w="9525" cmpd="sng">
                  <a:solidFill>
                    <a:srgbClr val="000000"/>
                  </a:solidFill>
                  <a:bevel/>
                  <a:headEnd/>
                  <a:tailEnd/>
                </a14:hiddenLine>
              </a:ext>
            </a:extLst>
          </p:spPr>
          <p:txBody>
            <a:bodyPr anchor="ctr"/>
            <a:lstStyle/>
            <a:p>
              <a:endParaRPr lang="zh-CN" altLang="zh-CN">
                <a:solidFill>
                  <a:srgbClr val="000000"/>
                </a:solidFill>
                <a:sym typeface="Arial" pitchFamily="34" charset="0"/>
              </a:endParaRPr>
            </a:p>
          </p:txBody>
        </p:sp>
        <p:sp>
          <p:nvSpPr>
            <p:cNvPr id="62483" name="Text Box 20"/>
            <p:cNvSpPr>
              <a:spLocks noChangeArrowheads="1"/>
            </p:cNvSpPr>
            <p:nvPr/>
          </p:nvSpPr>
          <p:spPr bwMode="auto">
            <a:xfrm>
              <a:off x="359" y="0"/>
              <a:ext cx="768"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b="1">
                  <a:solidFill>
                    <a:schemeClr val="bg1"/>
                  </a:solidFill>
                  <a:latin typeface="楷体_GB2312" pitchFamily="1" charset="-122"/>
                  <a:ea typeface="楷体_GB2312" pitchFamily="1" charset="-122"/>
                  <a:sym typeface="楷体_GB2312" pitchFamily="1" charset="-122"/>
                </a:rPr>
                <a:t>03</a:t>
              </a:r>
              <a:endParaRPr lang="zh-CN" altLang="en-US">
                <a:solidFill>
                  <a:srgbClr val="000000"/>
                </a:solidFill>
                <a:sym typeface="Arial" pitchFamily="34" charset="0"/>
              </a:endParaRPr>
            </a:p>
          </p:txBody>
        </p:sp>
      </p:grpSp>
      <p:sp>
        <p:nvSpPr>
          <p:cNvPr id="62484" name="Text Box 21"/>
          <p:cNvSpPr>
            <a:spLocks noChangeArrowheads="1"/>
          </p:cNvSpPr>
          <p:nvPr/>
        </p:nvSpPr>
        <p:spPr bwMode="auto">
          <a:xfrm>
            <a:off x="5508625" y="2709863"/>
            <a:ext cx="3484563"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000000"/>
                </a:solidFill>
                <a:latin typeface="楷体_GB2312" pitchFamily="1" charset="-122"/>
                <a:ea typeface="楷体_GB2312" pitchFamily="1" charset="-122"/>
                <a:sym typeface="楷体_GB2312" pitchFamily="1" charset="-122"/>
              </a:rPr>
              <a:t>追踪内容？</a:t>
            </a:r>
            <a:r>
              <a:rPr lang="zh-CN" altLang="en-US" sz="2000">
                <a:solidFill>
                  <a:srgbClr val="000000"/>
                </a:solidFill>
                <a:latin typeface="楷体_GB2312" pitchFamily="1" charset="-122"/>
                <a:ea typeface="楷体_GB2312" pitchFamily="1" charset="-122"/>
                <a:sym typeface="楷体_GB2312" pitchFamily="1" charset="-122"/>
              </a:rPr>
              <a:t>谁、何时、原因、</a:t>
            </a:r>
          </a:p>
          <a:p>
            <a:r>
              <a:rPr lang="zh-CN" altLang="en-US" sz="2000">
                <a:solidFill>
                  <a:srgbClr val="000000"/>
                </a:solidFill>
                <a:latin typeface="楷体_GB2312" pitchFamily="1" charset="-122"/>
                <a:ea typeface="楷体_GB2312" pitchFamily="1" charset="-122"/>
                <a:sym typeface="楷体_GB2312" pitchFamily="1" charset="-122"/>
              </a:rPr>
              <a:t>更改内容；与过程或活动重视</a:t>
            </a:r>
          </a:p>
          <a:p>
            <a:r>
              <a:rPr lang="zh-CN" altLang="en-US" sz="2000">
                <a:solidFill>
                  <a:srgbClr val="000000"/>
                </a:solidFill>
                <a:latin typeface="楷体_GB2312" pitchFamily="1" charset="-122"/>
                <a:ea typeface="楷体_GB2312" pitchFamily="1" charset="-122"/>
                <a:sym typeface="楷体_GB2312" pitchFamily="1" charset="-122"/>
              </a:rPr>
              <a:t>相关，重点在数据的删除和修</a:t>
            </a:r>
          </a:p>
          <a:p>
            <a:r>
              <a:rPr lang="zh-CN" altLang="en-US" sz="2000">
                <a:solidFill>
                  <a:srgbClr val="000000"/>
                </a:solidFill>
                <a:latin typeface="楷体_GB2312" pitchFamily="1" charset="-122"/>
                <a:ea typeface="楷体_GB2312" pitchFamily="1" charset="-122"/>
                <a:sym typeface="楷体_GB2312" pitchFamily="1" charset="-122"/>
              </a:rPr>
              <a:t>改。</a:t>
            </a:r>
          </a:p>
        </p:txBody>
      </p:sp>
      <p:sp>
        <p:nvSpPr>
          <p:cNvPr id="62485" name="Text Box 22"/>
          <p:cNvSpPr>
            <a:spLocks noChangeArrowheads="1"/>
          </p:cNvSpPr>
          <p:nvPr/>
        </p:nvSpPr>
        <p:spPr bwMode="auto">
          <a:xfrm>
            <a:off x="5580063" y="4848225"/>
            <a:ext cx="34845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000000"/>
                </a:solidFill>
                <a:latin typeface="楷体_GB2312" pitchFamily="1" charset="-122"/>
                <a:ea typeface="楷体_GB2312" pitchFamily="1" charset="-122"/>
                <a:sym typeface="楷体_GB2312" pitchFamily="1" charset="-122"/>
              </a:rPr>
              <a:t>审计追踪验证？</a:t>
            </a:r>
            <a:r>
              <a:rPr lang="zh-CN" altLang="en-US" sz="2000">
                <a:solidFill>
                  <a:srgbClr val="000000"/>
                </a:solidFill>
                <a:latin typeface="楷体_GB2312" pitchFamily="1" charset="-122"/>
                <a:ea typeface="楷体_GB2312" pitchFamily="1" charset="-122"/>
                <a:sym typeface="楷体_GB2312" pitchFamily="1" charset="-122"/>
              </a:rPr>
              <a:t>应基于用途进</a:t>
            </a:r>
          </a:p>
          <a:p>
            <a:r>
              <a:rPr lang="zh-CN" altLang="en-US" sz="2000">
                <a:solidFill>
                  <a:srgbClr val="000000"/>
                </a:solidFill>
                <a:latin typeface="楷体_GB2312" pitchFamily="1" charset="-122"/>
                <a:ea typeface="楷体_GB2312" pitchFamily="1" charset="-122"/>
                <a:sym typeface="楷体_GB2312" pitchFamily="1" charset="-122"/>
              </a:rPr>
              <a:t>行验证（或</a:t>
            </a:r>
            <a:r>
              <a:rPr lang="zh-CN" altLang="en-US" sz="2000" b="1">
                <a:solidFill>
                  <a:srgbClr val="FF66FF"/>
                </a:solidFill>
                <a:latin typeface="楷体_GB2312" pitchFamily="1" charset="-122"/>
                <a:ea typeface="楷体_GB2312" pitchFamily="1" charset="-122"/>
                <a:sym typeface="楷体_GB2312" pitchFamily="1" charset="-122"/>
              </a:rPr>
              <a:t>确认</a:t>
            </a:r>
            <a:r>
              <a:rPr lang="zh-CN" altLang="en-US" sz="2000">
                <a:solidFill>
                  <a:srgbClr val="000000"/>
                </a:solidFill>
                <a:latin typeface="楷体_GB2312" pitchFamily="1" charset="-122"/>
                <a:ea typeface="楷体_GB2312" pitchFamily="1" charset="-122"/>
                <a:sym typeface="楷体_GB2312" pitchFamily="1" charset="-122"/>
              </a:rPr>
              <a:t>）</a:t>
            </a:r>
            <a:endParaRPr lang="zh-CN" altLang="en-US">
              <a:solidFill>
                <a:srgbClr val="000000"/>
              </a:solidFill>
              <a:sym typeface="Arial" pitchFamily="34" charset="0"/>
            </a:endParaRPr>
          </a:p>
        </p:txBody>
      </p:sp>
      <p:grpSp>
        <p:nvGrpSpPr>
          <p:cNvPr id="62486" name="Group 23"/>
          <p:cNvGrpSpPr>
            <a:grpSpLocks/>
          </p:cNvGrpSpPr>
          <p:nvPr/>
        </p:nvGrpSpPr>
        <p:grpSpPr bwMode="auto">
          <a:xfrm>
            <a:off x="7481888" y="5734050"/>
            <a:ext cx="914400" cy="457200"/>
            <a:chOff x="0" y="0"/>
            <a:chExt cx="1440" cy="720"/>
          </a:xfrm>
        </p:grpSpPr>
        <p:sp>
          <p:nvSpPr>
            <p:cNvPr id="62487" name="Oval 24"/>
            <p:cNvSpPr>
              <a:spLocks noChangeArrowheads="1"/>
            </p:cNvSpPr>
            <p:nvPr/>
          </p:nvSpPr>
          <p:spPr bwMode="auto">
            <a:xfrm>
              <a:off x="0" y="10"/>
              <a:ext cx="1440" cy="680"/>
            </a:xfrm>
            <a:prstGeom prst="ellipse">
              <a:avLst/>
            </a:prstGeom>
            <a:solidFill>
              <a:schemeClr val="accent1"/>
            </a:solidFill>
            <a:ln>
              <a:noFill/>
            </a:ln>
            <a:extLst>
              <a:ext uri="{91240B29-F687-4F45-9708-019B960494DF}">
                <a14:hiddenLine xmlns:a14="http://schemas.microsoft.com/office/drawing/2010/main" w="9525" cmpd="sng">
                  <a:solidFill>
                    <a:srgbClr val="000000"/>
                  </a:solidFill>
                  <a:bevel/>
                  <a:headEnd/>
                  <a:tailEnd/>
                </a14:hiddenLine>
              </a:ext>
            </a:extLst>
          </p:spPr>
          <p:txBody>
            <a:bodyPr anchor="ctr"/>
            <a:lstStyle/>
            <a:p>
              <a:endParaRPr lang="zh-CN" altLang="zh-CN">
                <a:solidFill>
                  <a:srgbClr val="000000"/>
                </a:solidFill>
                <a:sym typeface="Arial" pitchFamily="34" charset="0"/>
              </a:endParaRPr>
            </a:p>
          </p:txBody>
        </p:sp>
        <p:sp>
          <p:nvSpPr>
            <p:cNvPr id="62488" name="Text Box 25"/>
            <p:cNvSpPr>
              <a:spLocks noChangeArrowheads="1"/>
            </p:cNvSpPr>
            <p:nvPr/>
          </p:nvSpPr>
          <p:spPr bwMode="auto">
            <a:xfrm>
              <a:off x="359" y="0"/>
              <a:ext cx="768"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b="1">
                  <a:solidFill>
                    <a:schemeClr val="bg1"/>
                  </a:solidFill>
                  <a:latin typeface="楷体_GB2312" pitchFamily="1" charset="-122"/>
                  <a:ea typeface="楷体_GB2312" pitchFamily="1" charset="-122"/>
                  <a:sym typeface="楷体_GB2312" pitchFamily="1" charset="-122"/>
                </a:rPr>
                <a:t>05</a:t>
              </a:r>
              <a:endParaRPr lang="zh-CN" altLang="en-US">
                <a:solidFill>
                  <a:srgbClr val="000000"/>
                </a:solidFill>
                <a:sym typeface="Arial" pitchFamily="34" charset="0"/>
              </a:endParaRPr>
            </a:p>
          </p:txBody>
        </p:sp>
      </p:grpSp>
      <p:grpSp>
        <p:nvGrpSpPr>
          <p:cNvPr id="62489" name="Group 26"/>
          <p:cNvGrpSpPr>
            <a:grpSpLocks/>
          </p:cNvGrpSpPr>
          <p:nvPr/>
        </p:nvGrpSpPr>
        <p:grpSpPr bwMode="auto">
          <a:xfrm>
            <a:off x="2243138" y="4992688"/>
            <a:ext cx="914400" cy="457200"/>
            <a:chOff x="0" y="0"/>
            <a:chExt cx="1440" cy="720"/>
          </a:xfrm>
        </p:grpSpPr>
        <p:sp>
          <p:nvSpPr>
            <p:cNvPr id="62490" name="Oval 27"/>
            <p:cNvSpPr>
              <a:spLocks noChangeArrowheads="1"/>
            </p:cNvSpPr>
            <p:nvPr/>
          </p:nvSpPr>
          <p:spPr bwMode="auto">
            <a:xfrm>
              <a:off x="0" y="10"/>
              <a:ext cx="1440" cy="680"/>
            </a:xfrm>
            <a:prstGeom prst="ellipse">
              <a:avLst/>
            </a:prstGeom>
            <a:solidFill>
              <a:schemeClr val="accent1"/>
            </a:solidFill>
            <a:ln>
              <a:noFill/>
            </a:ln>
            <a:extLst>
              <a:ext uri="{91240B29-F687-4F45-9708-019B960494DF}">
                <a14:hiddenLine xmlns:a14="http://schemas.microsoft.com/office/drawing/2010/main" w="9525" cmpd="sng">
                  <a:solidFill>
                    <a:srgbClr val="000000"/>
                  </a:solidFill>
                  <a:bevel/>
                  <a:headEnd/>
                  <a:tailEnd/>
                </a14:hiddenLine>
              </a:ext>
            </a:extLst>
          </p:spPr>
          <p:txBody>
            <a:bodyPr anchor="ctr"/>
            <a:lstStyle/>
            <a:p>
              <a:endParaRPr lang="zh-CN" altLang="zh-CN">
                <a:solidFill>
                  <a:srgbClr val="000000"/>
                </a:solidFill>
                <a:sym typeface="Arial" pitchFamily="34" charset="0"/>
              </a:endParaRPr>
            </a:p>
          </p:txBody>
        </p:sp>
        <p:sp>
          <p:nvSpPr>
            <p:cNvPr id="62491" name="Text Box 28"/>
            <p:cNvSpPr>
              <a:spLocks noChangeArrowheads="1"/>
            </p:cNvSpPr>
            <p:nvPr/>
          </p:nvSpPr>
          <p:spPr bwMode="auto">
            <a:xfrm>
              <a:off x="359" y="0"/>
              <a:ext cx="768"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b="1">
                  <a:solidFill>
                    <a:schemeClr val="bg1"/>
                  </a:solidFill>
                  <a:latin typeface="楷体_GB2312" pitchFamily="1" charset="-122"/>
                  <a:ea typeface="楷体_GB2312" pitchFamily="1" charset="-122"/>
                  <a:sym typeface="楷体_GB2312" pitchFamily="1" charset="-122"/>
                </a:rPr>
                <a:t>04</a:t>
              </a:r>
              <a:endParaRPr lang="zh-CN" altLang="en-US">
                <a:solidFill>
                  <a:srgbClr val="000000"/>
                </a:solidFill>
                <a:sym typeface="Arial" pitchFamily="34" charset="0"/>
              </a:endParaRPr>
            </a:p>
          </p:txBody>
        </p:sp>
      </p:grpSp>
      <p:sp>
        <p:nvSpPr>
          <p:cNvPr id="62492" name="Text Box 29"/>
          <p:cNvSpPr>
            <a:spLocks noChangeArrowheads="1"/>
          </p:cNvSpPr>
          <p:nvPr/>
        </p:nvSpPr>
        <p:spPr bwMode="auto">
          <a:xfrm>
            <a:off x="192088" y="3689350"/>
            <a:ext cx="52625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000000"/>
                </a:solidFill>
                <a:latin typeface="楷体_GB2312" pitchFamily="1" charset="-122"/>
                <a:ea typeface="楷体_GB2312" pitchFamily="1" charset="-122"/>
                <a:sym typeface="楷体_GB2312" pitchFamily="1" charset="-122"/>
              </a:rPr>
              <a:t>审计追踪审核？</a:t>
            </a:r>
            <a:r>
              <a:rPr lang="zh-CN" altLang="en-US" sz="2000">
                <a:solidFill>
                  <a:srgbClr val="000000"/>
                </a:solidFill>
                <a:latin typeface="楷体_GB2312" pitchFamily="1" charset="-122"/>
                <a:ea typeface="楷体_GB2312" pitchFamily="1" charset="-122"/>
                <a:sym typeface="楷体_GB2312" pitchFamily="1" charset="-122"/>
              </a:rPr>
              <a:t>数据产生部门日常应对审计追</a:t>
            </a:r>
          </a:p>
          <a:p>
            <a:r>
              <a:rPr lang="zh-CN" altLang="en-US" sz="2000">
                <a:solidFill>
                  <a:srgbClr val="000000"/>
                </a:solidFill>
                <a:latin typeface="楷体_GB2312" pitchFamily="1" charset="-122"/>
                <a:ea typeface="楷体_GB2312" pitchFamily="1" charset="-122"/>
                <a:sym typeface="楷体_GB2312" pitchFamily="1" charset="-122"/>
              </a:rPr>
              <a:t>踪对审计追踪进行审核；质量部门建立审核的</a:t>
            </a:r>
          </a:p>
          <a:p>
            <a:r>
              <a:rPr lang="zh-CN" altLang="en-US" sz="2000">
                <a:solidFill>
                  <a:srgbClr val="000000"/>
                </a:solidFill>
                <a:latin typeface="楷体_GB2312" pitchFamily="1" charset="-122"/>
                <a:ea typeface="楷体_GB2312" pitchFamily="1" charset="-122"/>
                <a:sym typeface="楷体_GB2312" pitchFamily="1" charset="-122"/>
              </a:rPr>
              <a:t>指导程序。</a:t>
            </a:r>
          </a:p>
        </p:txBody>
      </p:sp>
      <p:sp>
        <p:nvSpPr>
          <p:cNvPr id="62493" name="Text Box 30"/>
          <p:cNvSpPr>
            <a:spLocks noChangeArrowheads="1"/>
          </p:cNvSpPr>
          <p:nvPr/>
        </p:nvSpPr>
        <p:spPr bwMode="auto">
          <a:xfrm>
            <a:off x="165100" y="5535613"/>
            <a:ext cx="5389563"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000000"/>
                </a:solidFill>
                <a:latin typeface="楷体_GB2312" pitchFamily="1" charset="-122"/>
                <a:ea typeface="楷体_GB2312" pitchFamily="1" charset="-122"/>
                <a:sym typeface="楷体_GB2312" pitchFamily="1" charset="-122"/>
              </a:rPr>
              <a:t>审计追踪数据：</a:t>
            </a:r>
            <a:r>
              <a:rPr lang="zh-CN" altLang="en-US" sz="2000">
                <a:solidFill>
                  <a:srgbClr val="000000"/>
                </a:solidFill>
                <a:latin typeface="楷体_GB2312" pitchFamily="1" charset="-122"/>
                <a:ea typeface="楷体_GB2312" pitchFamily="1" charset="-122"/>
                <a:sym typeface="楷体_GB2312" pitchFamily="1" charset="-122"/>
              </a:rPr>
              <a:t>要保存，备份和销毁按GMP数据</a:t>
            </a:r>
          </a:p>
          <a:p>
            <a:r>
              <a:rPr lang="zh-CN" altLang="en-US" sz="2000">
                <a:solidFill>
                  <a:srgbClr val="000000"/>
                </a:solidFill>
                <a:latin typeface="楷体_GB2312" pitchFamily="1" charset="-122"/>
                <a:ea typeface="楷体_GB2312" pitchFamily="1" charset="-122"/>
                <a:sym typeface="楷体_GB2312" pitchFamily="1" charset="-122"/>
              </a:rPr>
              <a:t>来管理来管理</a:t>
            </a:r>
            <a:endParaRPr lang="zh-CN" altLang="en-US">
              <a:solidFill>
                <a:srgbClr val="000000"/>
              </a:solidFill>
              <a:sym typeface="Arial" pitchFamily="34" charset="0"/>
            </a:endParaRPr>
          </a:p>
        </p:txBody>
      </p:sp>
      <p:sp>
        <p:nvSpPr>
          <p:cNvPr id="62494" name="Rectangle 2"/>
          <p:cNvSpPr>
            <a:spLocks noChangeArrowheads="1"/>
          </p:cNvSpPr>
          <p:nvPr/>
        </p:nvSpPr>
        <p:spPr bwMode="auto">
          <a:xfrm>
            <a:off x="1174750" y="147638"/>
            <a:ext cx="822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节：数据完整性管控策略与基本要求</a:t>
            </a:r>
          </a:p>
        </p:txBody>
      </p:sp>
    </p:spTree>
  </p:cSld>
  <p:clrMapOvr>
    <a:masterClrMapping/>
  </p:clrMapOvr>
  <p:transition>
    <p:strips dir="ld"/>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Text Box 3"/>
          <p:cNvSpPr>
            <a:spLocks noChangeArrowheads="1"/>
          </p:cNvSpPr>
          <p:nvPr/>
        </p:nvSpPr>
        <p:spPr bwMode="auto">
          <a:xfrm>
            <a:off x="1792288" y="2465388"/>
            <a:ext cx="13398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a:solidFill>
                  <a:srgbClr val="000000"/>
                </a:solidFill>
                <a:sym typeface="Arial" pitchFamily="34" charset="0"/>
              </a:rPr>
              <a:t>    </a:t>
            </a:r>
          </a:p>
        </p:txBody>
      </p:sp>
      <p:sp>
        <p:nvSpPr>
          <p:cNvPr id="63491" name="Text Box 4"/>
          <p:cNvSpPr>
            <a:spLocks noChangeArrowheads="1"/>
          </p:cNvSpPr>
          <p:nvPr/>
        </p:nvSpPr>
        <p:spPr bwMode="auto">
          <a:xfrm>
            <a:off x="431800" y="1751013"/>
            <a:ext cx="8716963" cy="26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b="1">
                <a:solidFill>
                  <a:srgbClr val="FF66FF"/>
                </a:solidFill>
                <a:latin typeface="楷体_GB2312" pitchFamily="1" charset="-122"/>
                <a:ea typeface="楷体_GB2312" pitchFamily="1" charset="-122"/>
                <a:sym typeface="楷体_GB2312" pitchFamily="1" charset="-122"/>
              </a:rPr>
              <a:t>1、审计追踪什么时候开始？</a:t>
            </a:r>
          </a:p>
          <a:p>
            <a:r>
              <a:rPr lang="zh-CN" altLang="en-US" sz="2400">
                <a:solidFill>
                  <a:srgbClr val="1216D4"/>
                </a:solidFill>
                <a:latin typeface="楷体_GB2312" pitchFamily="1" charset="-122"/>
                <a:ea typeface="楷体_GB2312" pitchFamily="1" charset="-122"/>
                <a:sym typeface="楷体_GB2312" pitchFamily="1" charset="-122"/>
              </a:rPr>
              <a:t>答：从数据录入持久媒介的一刻。</a:t>
            </a:r>
          </a:p>
          <a:p>
            <a:endParaRPr lang="zh-CN" altLang="en-US" sz="2400">
              <a:solidFill>
                <a:srgbClr val="1216D4"/>
              </a:solidFill>
              <a:latin typeface="楷体_GB2312" pitchFamily="1" charset="-122"/>
              <a:ea typeface="楷体_GB2312" pitchFamily="1" charset="-122"/>
              <a:sym typeface="楷体_GB2312" pitchFamily="1" charset="-122"/>
            </a:endParaRPr>
          </a:p>
          <a:p>
            <a:r>
              <a:rPr lang="zh-CN" altLang="en-US" sz="2400" b="1">
                <a:solidFill>
                  <a:srgbClr val="FF66FF"/>
                </a:solidFill>
                <a:latin typeface="楷体_GB2312" pitchFamily="1" charset="-122"/>
                <a:ea typeface="楷体_GB2312" pitchFamily="1" charset="-122"/>
                <a:sym typeface="楷体_GB2312" pitchFamily="1" charset="-122"/>
              </a:rPr>
              <a:t>2、审计追踪应包括什么？</a:t>
            </a:r>
          </a:p>
          <a:p>
            <a:r>
              <a:rPr lang="zh-CN" altLang="en-US" sz="2400">
                <a:solidFill>
                  <a:srgbClr val="1216D4"/>
                </a:solidFill>
                <a:latin typeface="楷体_GB2312" pitchFamily="1" charset="-122"/>
                <a:ea typeface="楷体_GB2312" pitchFamily="1" charset="-122"/>
                <a:sym typeface="楷体_GB2312" pitchFamily="1" charset="-122"/>
              </a:rPr>
              <a:t>答：审计追踪最少应包括：</a:t>
            </a:r>
            <a:r>
              <a:rPr lang="zh-CN" altLang="en-US" sz="2400">
                <a:solidFill>
                  <a:srgbClr val="FF66FF"/>
                </a:solidFill>
                <a:latin typeface="楷体_GB2312" pitchFamily="1" charset="-122"/>
                <a:ea typeface="楷体_GB2312" pitchFamily="1" charset="-122"/>
                <a:sym typeface="楷体_GB2312" pitchFamily="1" charset="-122"/>
              </a:rPr>
              <a:t>除了</a:t>
            </a:r>
            <a:r>
              <a:rPr lang="zh-CN" altLang="en-US" sz="2400">
                <a:solidFill>
                  <a:srgbClr val="1216D4"/>
                </a:solidFill>
                <a:latin typeface="楷体_GB2312" pitchFamily="1" charset="-122"/>
                <a:ea typeface="楷体_GB2312" pitchFamily="1" charset="-122"/>
                <a:sym typeface="楷体_GB2312" pitchFamily="1" charset="-122"/>
              </a:rPr>
              <a:t>操作员身份（用户ID）、日期和</a:t>
            </a:r>
          </a:p>
          <a:p>
            <a:r>
              <a:rPr lang="zh-CN" altLang="en-US" sz="2400">
                <a:solidFill>
                  <a:srgbClr val="1216D4"/>
                </a:solidFill>
                <a:latin typeface="楷体_GB2312" pitchFamily="1" charset="-122"/>
                <a:ea typeface="楷体_GB2312" pitchFamily="1" charset="-122"/>
                <a:sym typeface="楷体_GB2312" pitchFamily="1" charset="-122"/>
              </a:rPr>
              <a:t>时间、更改内容、更改前后的数据值和理由</a:t>
            </a:r>
            <a:r>
              <a:rPr lang="zh-CN" altLang="en-US" sz="2400">
                <a:solidFill>
                  <a:srgbClr val="FF66FF"/>
                </a:solidFill>
                <a:latin typeface="楷体_GB2312" pitchFamily="1" charset="-122"/>
                <a:ea typeface="楷体_GB2312" pitchFamily="1" charset="-122"/>
                <a:sym typeface="楷体_GB2312" pitchFamily="1" charset="-122"/>
              </a:rPr>
              <a:t>外</a:t>
            </a:r>
            <a:r>
              <a:rPr lang="zh-CN" altLang="en-US" sz="2400">
                <a:solidFill>
                  <a:srgbClr val="1216D4"/>
                </a:solidFill>
                <a:latin typeface="楷体_GB2312" pitchFamily="1" charset="-122"/>
                <a:ea typeface="楷体_GB2312" pitchFamily="1" charset="-122"/>
                <a:sym typeface="楷体_GB2312" pitchFamily="1" charset="-122"/>
              </a:rPr>
              <a:t>，</a:t>
            </a:r>
            <a:r>
              <a:rPr lang="zh-CN" altLang="en-US" sz="2400">
                <a:solidFill>
                  <a:srgbClr val="000000"/>
                </a:solidFill>
                <a:latin typeface="楷体_GB2312" pitchFamily="1" charset="-122"/>
                <a:ea typeface="楷体_GB2312" pitchFamily="1" charset="-122"/>
                <a:sym typeface="楷体_GB2312" pitchFamily="1" charset="-122"/>
              </a:rPr>
              <a:t>生产中可能会有</a:t>
            </a:r>
          </a:p>
          <a:p>
            <a:r>
              <a:rPr lang="zh-CN" altLang="en-US" sz="2400">
                <a:solidFill>
                  <a:srgbClr val="000000"/>
                </a:solidFill>
                <a:latin typeface="楷体_GB2312" pitchFamily="1" charset="-122"/>
                <a:ea typeface="楷体_GB2312" pitchFamily="1" charset="-122"/>
                <a:sym typeface="楷体_GB2312" pitchFamily="1" charset="-122"/>
              </a:rPr>
              <a:t>的下列的跟踪内容（不限于此）：</a:t>
            </a:r>
          </a:p>
        </p:txBody>
      </p:sp>
      <p:sp>
        <p:nvSpPr>
          <p:cNvPr id="63492" name="Text Box 5"/>
          <p:cNvSpPr>
            <a:spLocks noChangeArrowheads="1"/>
          </p:cNvSpPr>
          <p:nvPr/>
        </p:nvSpPr>
        <p:spPr bwMode="auto">
          <a:xfrm>
            <a:off x="3851275" y="98107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a:solidFill>
                  <a:srgbClr val="000000"/>
                </a:solidFill>
                <a:ea typeface="楷体_GB2312" pitchFamily="1" charset="-122"/>
                <a:sym typeface="Arial" pitchFamily="34" charset="0"/>
              </a:rPr>
              <a:t>审计追踪</a:t>
            </a:r>
            <a:endParaRPr lang="zh-CN" altLang="en-US">
              <a:solidFill>
                <a:srgbClr val="000000"/>
              </a:solidFill>
              <a:sym typeface="Arial" pitchFamily="34" charset="0"/>
            </a:endParaRPr>
          </a:p>
        </p:txBody>
      </p:sp>
      <p:sp>
        <p:nvSpPr>
          <p:cNvPr id="63493" name="Text Box 6"/>
          <p:cNvSpPr>
            <a:spLocks noChangeArrowheads="1"/>
          </p:cNvSpPr>
          <p:nvPr/>
        </p:nvSpPr>
        <p:spPr bwMode="auto">
          <a:xfrm>
            <a:off x="1260475" y="4508500"/>
            <a:ext cx="787717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a:buFont typeface="Wingdings" pitchFamily="2" charset="2"/>
              <a:buChar char="n"/>
            </a:pPr>
            <a:r>
              <a:rPr lang="zh-CN" altLang="en-US">
                <a:solidFill>
                  <a:srgbClr val="000000"/>
                </a:solidFill>
                <a:sym typeface="Arial" pitchFamily="34" charset="0"/>
              </a:rPr>
              <a:t>    </a:t>
            </a:r>
            <a:r>
              <a:rPr lang="zh-CN" altLang="en-US" sz="2400">
                <a:solidFill>
                  <a:srgbClr val="1216D4"/>
                </a:solidFill>
                <a:latin typeface="楷体_GB2312" pitchFamily="1" charset="-122"/>
                <a:ea typeface="楷体_GB2312" pitchFamily="1" charset="-122"/>
                <a:sym typeface="楷体_GB2312" pitchFamily="1" charset="-122"/>
              </a:rPr>
              <a:t>工艺数据录入</a:t>
            </a:r>
          </a:p>
          <a:p>
            <a:pPr>
              <a:buFont typeface="Wingdings" pitchFamily="2" charset="2"/>
              <a:buChar char="n"/>
            </a:pPr>
            <a:r>
              <a:rPr lang="zh-CN" altLang="en-US" sz="2400">
                <a:solidFill>
                  <a:srgbClr val="1216D4"/>
                </a:solidFill>
                <a:latin typeface="楷体_GB2312" pitchFamily="1" charset="-122"/>
                <a:ea typeface="楷体_GB2312" pitchFamily="1" charset="-122"/>
                <a:sym typeface="楷体_GB2312" pitchFamily="1" charset="-122"/>
              </a:rPr>
              <a:t>  启动生产序列</a:t>
            </a:r>
          </a:p>
          <a:p>
            <a:pPr>
              <a:buFont typeface="Wingdings" pitchFamily="2" charset="2"/>
              <a:buChar char="n"/>
            </a:pPr>
            <a:r>
              <a:rPr lang="zh-CN" altLang="en-US" sz="2400">
                <a:solidFill>
                  <a:srgbClr val="1216D4"/>
                </a:solidFill>
                <a:latin typeface="楷体_GB2312" pitchFamily="1" charset="-122"/>
                <a:ea typeface="楷体_GB2312" pitchFamily="1" charset="-122"/>
                <a:sym typeface="楷体_GB2312" pitchFamily="1" charset="-122"/>
              </a:rPr>
              <a:t>  关闭报警</a:t>
            </a:r>
          </a:p>
          <a:p>
            <a:pPr>
              <a:buFont typeface="Wingdings" pitchFamily="2" charset="2"/>
              <a:buChar char="n"/>
            </a:pPr>
            <a:r>
              <a:rPr lang="zh-CN" altLang="en-US" sz="2400">
                <a:solidFill>
                  <a:srgbClr val="1216D4"/>
                </a:solidFill>
                <a:latin typeface="楷体_GB2312" pitchFamily="1" charset="-122"/>
                <a:ea typeface="楷体_GB2312" pitchFamily="1" charset="-122"/>
                <a:sym typeface="楷体_GB2312" pitchFamily="1" charset="-122"/>
              </a:rPr>
              <a:t>  重要的操作员数据录入/更改（即使在验证的范围内）</a:t>
            </a:r>
          </a:p>
          <a:p>
            <a:pPr>
              <a:buFont typeface="Wingdings" pitchFamily="2" charset="2"/>
              <a:buChar char="n"/>
            </a:pPr>
            <a:r>
              <a:rPr lang="zh-CN" altLang="en-US" sz="2400">
                <a:solidFill>
                  <a:srgbClr val="1216D4"/>
                </a:solidFill>
                <a:latin typeface="楷体_GB2312" pitchFamily="1" charset="-122"/>
                <a:ea typeface="楷体_GB2312" pitchFamily="1" charset="-122"/>
                <a:sym typeface="楷体_GB2312" pitchFamily="1" charset="-122"/>
              </a:rPr>
              <a:t>  </a:t>
            </a:r>
            <a:r>
              <a:rPr lang="zh-CN" altLang="en-US" sz="2400">
                <a:solidFill>
                  <a:srgbClr val="1216D4"/>
                </a:solidFill>
                <a:latin typeface="Arial"/>
                <a:ea typeface="楷体_GB2312" pitchFamily="1" charset="-122"/>
                <a:sym typeface="楷体_GB2312" pitchFamily="1" charset="-122"/>
              </a:rPr>
              <a:t>……</a:t>
            </a:r>
            <a:endParaRPr lang="zh-CN" altLang="en-US" sz="2400">
              <a:solidFill>
                <a:srgbClr val="1216D4"/>
              </a:solidFill>
              <a:latin typeface="楷体_GB2312" pitchFamily="1" charset="-122"/>
              <a:ea typeface="楷体_GB2312" pitchFamily="1" charset="-122"/>
              <a:sym typeface="楷体_GB2312" pitchFamily="1" charset="-122"/>
            </a:endParaRPr>
          </a:p>
        </p:txBody>
      </p:sp>
      <p:sp>
        <p:nvSpPr>
          <p:cNvPr id="63494" name="Rectangle 2"/>
          <p:cNvSpPr>
            <a:spLocks noChangeArrowheads="1"/>
          </p:cNvSpPr>
          <p:nvPr/>
        </p:nvSpPr>
        <p:spPr bwMode="auto">
          <a:xfrm>
            <a:off x="1174750" y="147638"/>
            <a:ext cx="822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节：数据完整性管控策略与基本要求</a:t>
            </a:r>
          </a:p>
        </p:txBody>
      </p:sp>
    </p:spTree>
  </p:cSld>
  <p:clrMapOvr>
    <a:masterClrMapping/>
  </p:clrMapOvr>
  <p:transition>
    <p:strips dir="ld"/>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Text Box 3"/>
          <p:cNvSpPr>
            <a:spLocks noChangeArrowheads="1"/>
          </p:cNvSpPr>
          <p:nvPr/>
        </p:nvSpPr>
        <p:spPr bwMode="auto">
          <a:xfrm>
            <a:off x="1792288" y="2465388"/>
            <a:ext cx="13398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a:solidFill>
                  <a:srgbClr val="000000"/>
                </a:solidFill>
                <a:sym typeface="Arial" pitchFamily="34" charset="0"/>
              </a:rPr>
              <a:t>    </a:t>
            </a:r>
          </a:p>
        </p:txBody>
      </p:sp>
      <p:sp>
        <p:nvSpPr>
          <p:cNvPr id="64515" name="Text Box 4"/>
          <p:cNvSpPr>
            <a:spLocks noChangeArrowheads="1"/>
          </p:cNvSpPr>
          <p:nvPr/>
        </p:nvSpPr>
        <p:spPr bwMode="auto">
          <a:xfrm>
            <a:off x="2846388" y="981075"/>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a:solidFill>
                  <a:srgbClr val="000000"/>
                </a:solidFill>
                <a:ea typeface="楷体_GB2312" pitchFamily="1" charset="-122"/>
                <a:sym typeface="Arial" pitchFamily="34" charset="0"/>
              </a:rPr>
              <a:t>计算机化系统用户权限管理</a:t>
            </a:r>
            <a:endParaRPr lang="zh-CN" altLang="en-US">
              <a:solidFill>
                <a:srgbClr val="000000"/>
              </a:solidFill>
              <a:sym typeface="Arial" pitchFamily="34" charset="0"/>
            </a:endParaRPr>
          </a:p>
        </p:txBody>
      </p:sp>
      <p:sp>
        <p:nvSpPr>
          <p:cNvPr id="64516" name="Text Box 5"/>
          <p:cNvSpPr>
            <a:spLocks noChangeArrowheads="1"/>
          </p:cNvSpPr>
          <p:nvPr/>
        </p:nvSpPr>
        <p:spPr bwMode="auto">
          <a:xfrm>
            <a:off x="2627313" y="1844675"/>
            <a:ext cx="50085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FF66FF"/>
                </a:solidFill>
                <a:ea typeface="楷体_GB2312" pitchFamily="1" charset="-122"/>
                <a:sym typeface="Arial" pitchFamily="34" charset="0"/>
              </a:rPr>
              <a:t>设置依据：</a:t>
            </a:r>
            <a:r>
              <a:rPr lang="zh-CN" altLang="en-US" sz="2000">
                <a:solidFill>
                  <a:srgbClr val="000000"/>
                </a:solidFill>
                <a:ea typeface="楷体_GB2312" pitchFamily="1" charset="-122"/>
                <a:sym typeface="Arial" pitchFamily="34" charset="0"/>
              </a:rPr>
              <a:t>随角色或工作职责的需要而定；</a:t>
            </a:r>
          </a:p>
          <a:p>
            <a:r>
              <a:rPr lang="zh-CN" altLang="en-US" sz="2000">
                <a:solidFill>
                  <a:srgbClr val="000000"/>
                </a:solidFill>
                <a:ea typeface="楷体_GB2312" pitchFamily="1" charset="-122"/>
                <a:sym typeface="Arial" pitchFamily="34" charset="0"/>
              </a:rPr>
              <a:t>权限清单应建立并维护。</a:t>
            </a:r>
          </a:p>
        </p:txBody>
      </p:sp>
      <p:sp>
        <p:nvSpPr>
          <p:cNvPr id="64517" name="Text Box 6"/>
          <p:cNvSpPr>
            <a:spLocks noChangeArrowheads="1"/>
          </p:cNvSpPr>
          <p:nvPr/>
        </p:nvSpPr>
        <p:spPr bwMode="auto">
          <a:xfrm>
            <a:off x="36513" y="2852738"/>
            <a:ext cx="3230562"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FF66FF"/>
                </a:solidFill>
                <a:ea typeface="楷体_GB2312" pitchFamily="1" charset="-122"/>
                <a:sym typeface="Arial" pitchFamily="34" charset="0"/>
              </a:rPr>
              <a:t>最高管理员权限：</a:t>
            </a:r>
            <a:r>
              <a:rPr lang="zh-CN" altLang="en-US" sz="2000">
                <a:solidFill>
                  <a:srgbClr val="000000"/>
                </a:solidFill>
                <a:ea typeface="楷体_GB2312" pitchFamily="1" charset="-122"/>
                <a:sym typeface="Arial" pitchFamily="34" charset="0"/>
              </a:rPr>
              <a:t>不应集中</a:t>
            </a:r>
          </a:p>
          <a:p>
            <a:r>
              <a:rPr lang="zh-CN" altLang="en-US" sz="2000">
                <a:solidFill>
                  <a:srgbClr val="000000"/>
                </a:solidFill>
                <a:ea typeface="楷体_GB2312" pitchFamily="1" charset="-122"/>
                <a:sym typeface="Arial" pitchFamily="34" charset="0"/>
              </a:rPr>
              <a:t>在一个部门或个人，可分级</a:t>
            </a:r>
          </a:p>
          <a:p>
            <a:r>
              <a:rPr lang="zh-CN" altLang="en-US" sz="2000">
                <a:solidFill>
                  <a:srgbClr val="000000"/>
                </a:solidFill>
                <a:ea typeface="楷体_GB2312" pitchFamily="1" charset="-122"/>
                <a:sym typeface="Arial" pitchFamily="34" charset="0"/>
              </a:rPr>
              <a:t>设置并相互制约；系统管理</a:t>
            </a:r>
          </a:p>
          <a:p>
            <a:r>
              <a:rPr lang="zh-CN" altLang="en-US" sz="2000">
                <a:solidFill>
                  <a:srgbClr val="000000"/>
                </a:solidFill>
                <a:ea typeface="楷体_GB2312" pitchFamily="1" charset="-122"/>
                <a:sym typeface="Arial" pitchFamily="34" charset="0"/>
              </a:rPr>
              <a:t>员权限下实施的所有变更应</a:t>
            </a:r>
          </a:p>
          <a:p>
            <a:r>
              <a:rPr lang="zh-CN" altLang="en-US" sz="2000">
                <a:solidFill>
                  <a:srgbClr val="000000"/>
                </a:solidFill>
                <a:ea typeface="楷体_GB2312" pitchFamily="1" charset="-122"/>
                <a:sym typeface="Arial" pitchFamily="34" charset="0"/>
              </a:rPr>
              <a:t>有记录可追溯并经过批准。</a:t>
            </a:r>
          </a:p>
        </p:txBody>
      </p:sp>
      <p:sp>
        <p:nvSpPr>
          <p:cNvPr id="64518" name="Text Box 7"/>
          <p:cNvSpPr>
            <a:spLocks noChangeArrowheads="1"/>
          </p:cNvSpPr>
          <p:nvPr/>
        </p:nvSpPr>
        <p:spPr bwMode="auto">
          <a:xfrm>
            <a:off x="6083300" y="2997200"/>
            <a:ext cx="29781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FF66FF"/>
                </a:solidFill>
                <a:ea typeface="楷体_GB2312" pitchFamily="1" charset="-122"/>
                <a:sym typeface="Arial" pitchFamily="34" charset="0"/>
              </a:rPr>
              <a:t>共享账户：</a:t>
            </a:r>
            <a:r>
              <a:rPr lang="zh-CN" altLang="en-US" sz="2000">
                <a:solidFill>
                  <a:srgbClr val="000000"/>
                </a:solidFill>
                <a:ea typeface="楷体_GB2312" pitchFamily="1" charset="-122"/>
                <a:sym typeface="Arial" pitchFamily="34" charset="0"/>
              </a:rPr>
              <a:t>不得使用共享</a:t>
            </a:r>
          </a:p>
          <a:p>
            <a:r>
              <a:rPr lang="zh-CN" altLang="en-US" sz="2000">
                <a:solidFill>
                  <a:srgbClr val="000000"/>
                </a:solidFill>
                <a:ea typeface="楷体_GB2312" pitchFamily="1" charset="-122"/>
                <a:sym typeface="Arial" pitchFamily="34" charset="0"/>
              </a:rPr>
              <a:t>登录或通用用户权限。关</a:t>
            </a:r>
          </a:p>
          <a:p>
            <a:r>
              <a:rPr lang="zh-CN" altLang="en-US" sz="2000">
                <a:solidFill>
                  <a:srgbClr val="000000"/>
                </a:solidFill>
                <a:ea typeface="楷体_GB2312" pitchFamily="1" charset="-122"/>
                <a:sym typeface="Arial" pitchFamily="34" charset="0"/>
              </a:rPr>
              <a:t>键系统可定期强制对用户</a:t>
            </a:r>
          </a:p>
          <a:p>
            <a:r>
              <a:rPr lang="zh-CN" altLang="en-US" sz="2000">
                <a:solidFill>
                  <a:srgbClr val="000000"/>
                </a:solidFill>
                <a:ea typeface="楷体_GB2312" pitchFamily="1" charset="-122"/>
                <a:sym typeface="Arial" pitchFamily="34" charset="0"/>
              </a:rPr>
              <a:t>登录密码进行更换。</a:t>
            </a:r>
          </a:p>
        </p:txBody>
      </p:sp>
      <p:sp>
        <p:nvSpPr>
          <p:cNvPr id="64519" name="Text Box 8"/>
          <p:cNvSpPr>
            <a:spLocks noChangeArrowheads="1"/>
          </p:cNvSpPr>
          <p:nvPr/>
        </p:nvSpPr>
        <p:spPr bwMode="auto">
          <a:xfrm>
            <a:off x="1979613" y="5084763"/>
            <a:ext cx="57705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rgbClr val="FF66FF"/>
                </a:solidFill>
                <a:ea typeface="楷体_GB2312" pitchFamily="1" charset="-122"/>
                <a:sym typeface="Arial" pitchFamily="34" charset="0"/>
              </a:rPr>
              <a:t>管理员权限：</a:t>
            </a:r>
            <a:r>
              <a:rPr lang="zh-CN" altLang="en-US" sz="2000">
                <a:solidFill>
                  <a:srgbClr val="000000"/>
                </a:solidFill>
                <a:ea typeface="楷体_GB2312" pitchFamily="1" charset="-122"/>
                <a:sym typeface="Arial" pitchFamily="34" charset="0"/>
              </a:rPr>
              <a:t>不得授予与数据有直接利益的个人；</a:t>
            </a:r>
          </a:p>
          <a:p>
            <a:r>
              <a:rPr lang="zh-CN" altLang="en-US" sz="2000">
                <a:solidFill>
                  <a:srgbClr val="000000"/>
                </a:solidFill>
                <a:ea typeface="楷体_GB2312" pitchFamily="1" charset="-122"/>
                <a:sym typeface="Arial" pitchFamily="34" charset="0"/>
              </a:rPr>
              <a:t>同一人即是操作者又是管理者，可不同权限级别的</a:t>
            </a:r>
          </a:p>
          <a:p>
            <a:r>
              <a:rPr lang="zh-CN" altLang="en-US" sz="2000">
                <a:solidFill>
                  <a:srgbClr val="000000"/>
                </a:solidFill>
                <a:ea typeface="楷体_GB2312" pitchFamily="1" charset="-122"/>
                <a:sym typeface="Arial" pitchFamily="34" charset="0"/>
              </a:rPr>
              <a:t>双账户管理。</a:t>
            </a:r>
          </a:p>
        </p:txBody>
      </p:sp>
      <p:sp>
        <p:nvSpPr>
          <p:cNvPr id="64520" name="Rectangle 2"/>
          <p:cNvSpPr>
            <a:spLocks noChangeArrowheads="1"/>
          </p:cNvSpPr>
          <p:nvPr/>
        </p:nvSpPr>
        <p:spPr bwMode="auto">
          <a:xfrm>
            <a:off x="1174750" y="147638"/>
            <a:ext cx="822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1</a:t>
            </a:r>
            <a:r>
              <a:rPr lang="zh-CN" altLang="en-US" sz="2400" b="1">
                <a:solidFill>
                  <a:srgbClr val="FFFF00"/>
                </a:solidFill>
                <a:latin typeface="Calibri" pitchFamily="34" charset="0"/>
                <a:ea typeface="楷体" pitchFamily="49" charset="-122"/>
                <a:sym typeface="Calibri" pitchFamily="34" charset="0"/>
              </a:rPr>
              <a:t>节：数据完整性管控策略与基本要求</a:t>
            </a:r>
          </a:p>
        </p:txBody>
      </p:sp>
    </p:spTree>
  </p:cSld>
  <p:clrMapOvr>
    <a:masterClrMapping/>
  </p:clrMapOvr>
  <p:transition>
    <p:strips dir="ld"/>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Text Box 3"/>
          <p:cNvSpPr>
            <a:spLocks noChangeArrowheads="1"/>
          </p:cNvSpPr>
          <p:nvPr/>
        </p:nvSpPr>
        <p:spPr bwMode="auto">
          <a:xfrm>
            <a:off x="1690688" y="3227388"/>
            <a:ext cx="13398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a:solidFill>
                  <a:srgbClr val="000000"/>
                </a:solidFill>
                <a:sym typeface="Arial" pitchFamily="34" charset="0"/>
              </a:rPr>
              <a:t>    </a:t>
            </a:r>
          </a:p>
        </p:txBody>
      </p:sp>
      <p:sp>
        <p:nvSpPr>
          <p:cNvPr id="65539" name="Text Box 4"/>
          <p:cNvSpPr>
            <a:spLocks noChangeArrowheads="1"/>
          </p:cNvSpPr>
          <p:nvPr/>
        </p:nvSpPr>
        <p:spPr bwMode="auto">
          <a:xfrm>
            <a:off x="1543050" y="1222375"/>
            <a:ext cx="653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400" b="1">
                <a:solidFill>
                  <a:srgbClr val="FF0000"/>
                </a:solidFill>
                <a:latin typeface="楷体_GB2312" pitchFamily="1" charset="-122"/>
                <a:ea typeface="楷体_GB2312" pitchFamily="1" charset="-122"/>
                <a:sym typeface="楷体_GB2312" pitchFamily="1" charset="-122"/>
              </a:rPr>
              <a:t>FDA</a:t>
            </a:r>
            <a:r>
              <a:rPr lang="zh-CN" altLang="en-US" sz="2400" b="1">
                <a:solidFill>
                  <a:srgbClr val="FF0000"/>
                </a:solidFill>
                <a:latin typeface="楷体_GB2312" pitchFamily="1" charset="-122"/>
                <a:ea typeface="楷体_GB2312" pitchFamily="1" charset="-122"/>
                <a:sym typeface="楷体_GB2312" pitchFamily="1" charset="-122"/>
              </a:rPr>
              <a:t>数据完整性和</a:t>
            </a:r>
            <a:r>
              <a:rPr lang="en-US" sz="2400" b="1">
                <a:solidFill>
                  <a:srgbClr val="FF0000"/>
                </a:solidFill>
                <a:latin typeface="楷体_GB2312" pitchFamily="1" charset="-122"/>
                <a:ea typeface="楷体_GB2312" pitchFamily="1" charset="-122"/>
                <a:sym typeface="楷体_GB2312" pitchFamily="1" charset="-122"/>
              </a:rPr>
              <a:t>GMP</a:t>
            </a:r>
            <a:r>
              <a:rPr lang="zh-CN" altLang="en-US" sz="2400" b="1">
                <a:solidFill>
                  <a:srgbClr val="FF0000"/>
                </a:solidFill>
                <a:latin typeface="楷体_GB2312" pitchFamily="1" charset="-122"/>
                <a:ea typeface="楷体_GB2312" pitchFamily="1" charset="-122"/>
                <a:sym typeface="楷体_GB2312" pitchFamily="1" charset="-122"/>
              </a:rPr>
              <a:t>合规指南草案解读（</a:t>
            </a:r>
            <a:r>
              <a:rPr lang="en-US" sz="2400" b="1">
                <a:solidFill>
                  <a:srgbClr val="FF0000"/>
                </a:solidFill>
                <a:latin typeface="楷体_GB2312" pitchFamily="1" charset="-122"/>
                <a:ea typeface="楷体_GB2312" pitchFamily="1" charset="-122"/>
                <a:sym typeface="楷体_GB2312" pitchFamily="1" charset="-122"/>
              </a:rPr>
              <a:t>1-2</a:t>
            </a:r>
            <a:r>
              <a:rPr lang="zh-CN" altLang="en-US" sz="2400" b="1">
                <a:solidFill>
                  <a:srgbClr val="FF0000"/>
                </a:solidFill>
                <a:latin typeface="楷体_GB2312" pitchFamily="1" charset="-122"/>
                <a:ea typeface="楷体_GB2312" pitchFamily="1" charset="-122"/>
                <a:sym typeface="楷体_GB2312" pitchFamily="1" charset="-122"/>
              </a:rPr>
              <a:t>）</a:t>
            </a:r>
            <a:endParaRPr lang="zh-CN" altLang="en-US" sz="2400" b="1">
              <a:solidFill>
                <a:srgbClr val="000000"/>
              </a:solidFill>
              <a:latin typeface="楷体_GB2312" pitchFamily="1" charset="-122"/>
              <a:ea typeface="楷体_GB2312" pitchFamily="1" charset="-122"/>
              <a:sym typeface="楷体_GB2312" pitchFamily="1" charset="-122"/>
            </a:endParaRPr>
          </a:p>
        </p:txBody>
      </p:sp>
      <p:sp>
        <p:nvSpPr>
          <p:cNvPr id="65540" name="Text Box 5"/>
          <p:cNvSpPr>
            <a:spLocks noChangeArrowheads="1"/>
          </p:cNvSpPr>
          <p:nvPr/>
        </p:nvSpPr>
        <p:spPr bwMode="auto">
          <a:xfrm>
            <a:off x="352425" y="1919288"/>
            <a:ext cx="3546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sz="2400" b="1">
                <a:solidFill>
                  <a:srgbClr val="000000"/>
                </a:solidFill>
                <a:latin typeface="楷体_GB2312" pitchFamily="1" charset="-122"/>
                <a:ea typeface="楷体_GB2312" pitchFamily="1" charset="-122"/>
                <a:sym typeface="楷体_GB2312" pitchFamily="1" charset="-122"/>
              </a:rPr>
              <a:t>问题</a:t>
            </a:r>
            <a:r>
              <a:rPr lang="en-US" sz="2400" b="1">
                <a:solidFill>
                  <a:srgbClr val="000000"/>
                </a:solidFill>
                <a:latin typeface="楷体_GB2312" pitchFamily="1" charset="-122"/>
                <a:ea typeface="楷体_GB2312" pitchFamily="1" charset="-122"/>
                <a:sym typeface="楷体_GB2312" pitchFamily="1" charset="-122"/>
              </a:rPr>
              <a:t>1. </a:t>
            </a:r>
            <a:r>
              <a:rPr lang="zh-CN" altLang="en-US" sz="2400" b="1">
                <a:solidFill>
                  <a:srgbClr val="000000"/>
                </a:solidFill>
                <a:latin typeface="楷体_GB2312" pitchFamily="1" charset="-122"/>
                <a:ea typeface="楷体_GB2312" pitchFamily="1" charset="-122"/>
                <a:sym typeface="楷体_GB2312" pitchFamily="1" charset="-122"/>
              </a:rPr>
              <a:t>属于术语（略）</a:t>
            </a:r>
            <a:endParaRPr lang="en-US" sz="2400" b="1">
              <a:solidFill>
                <a:srgbClr val="000000"/>
              </a:solidFill>
              <a:latin typeface="楷体_GB2312" pitchFamily="1" charset="-122"/>
              <a:ea typeface="楷体_GB2312" pitchFamily="1" charset="-122"/>
              <a:sym typeface="楷体_GB2312" pitchFamily="1" charset="-122"/>
            </a:endParaRPr>
          </a:p>
        </p:txBody>
      </p:sp>
      <p:sp>
        <p:nvSpPr>
          <p:cNvPr id="65541" name="Text Box 5"/>
          <p:cNvSpPr>
            <a:spLocks noChangeArrowheads="1"/>
          </p:cNvSpPr>
          <p:nvPr/>
        </p:nvSpPr>
        <p:spPr bwMode="auto">
          <a:xfrm>
            <a:off x="361950" y="2444750"/>
            <a:ext cx="84296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algn="just"/>
            <a:r>
              <a:rPr lang="zh-CN" altLang="en-US" sz="2400" b="1">
                <a:solidFill>
                  <a:srgbClr val="000000"/>
                </a:solidFill>
                <a:latin typeface="楷体_GB2312" pitchFamily="1" charset="-122"/>
                <a:ea typeface="楷体_GB2312" pitchFamily="1" charset="-122"/>
                <a:sym typeface="楷体_GB2312" pitchFamily="1" charset="-122"/>
              </a:rPr>
              <a:t>问题</a:t>
            </a:r>
            <a:r>
              <a:rPr lang="en-US" sz="2400" b="1">
                <a:solidFill>
                  <a:srgbClr val="000000"/>
                </a:solidFill>
                <a:latin typeface="楷体_GB2312" pitchFamily="1" charset="-122"/>
                <a:ea typeface="楷体_GB2312" pitchFamily="1" charset="-122"/>
                <a:sym typeface="楷体_GB2312" pitchFamily="1" charset="-122"/>
              </a:rPr>
              <a:t>2. When is it permissible to exclude cGMP data</a:t>
            </a:r>
          </a:p>
          <a:p>
            <a:pPr algn="just"/>
            <a:r>
              <a:rPr lang="en-US" sz="2400" b="1">
                <a:solidFill>
                  <a:srgbClr val="000000"/>
                </a:solidFill>
                <a:latin typeface="楷体_GB2312" pitchFamily="1" charset="-122"/>
                <a:ea typeface="楷体_GB2312" pitchFamily="1" charset="-122"/>
                <a:sym typeface="楷体_GB2312" pitchFamily="1" charset="-122"/>
              </a:rPr>
              <a:t>       from decision making?</a:t>
            </a:r>
            <a:r>
              <a:rPr lang="zh-CN" altLang="en-US" sz="2400" b="1">
                <a:solidFill>
                  <a:srgbClr val="000000"/>
                </a:solidFill>
                <a:latin typeface="楷体_GB2312" pitchFamily="1" charset="-122"/>
                <a:ea typeface="楷体_GB2312" pitchFamily="1" charset="-122"/>
                <a:sym typeface="楷体_GB2312" pitchFamily="1" charset="-122"/>
              </a:rPr>
              <a:t>何时允许用决策方法将</a:t>
            </a:r>
            <a:r>
              <a:rPr lang="en-US" sz="2400" b="1">
                <a:solidFill>
                  <a:srgbClr val="000000"/>
                </a:solidFill>
                <a:latin typeface="楷体_GB2312" pitchFamily="1" charset="-122"/>
                <a:ea typeface="楷体_GB2312" pitchFamily="1" charset="-122"/>
                <a:sym typeface="楷体_GB2312" pitchFamily="1" charset="-122"/>
              </a:rPr>
              <a:t>CGMP</a:t>
            </a:r>
          </a:p>
          <a:p>
            <a:pPr algn="just"/>
            <a:r>
              <a:rPr lang="en-US" sz="2400" b="1">
                <a:solidFill>
                  <a:srgbClr val="000000"/>
                </a:solidFill>
                <a:latin typeface="楷体_GB2312" pitchFamily="1" charset="-122"/>
                <a:ea typeface="楷体_GB2312" pitchFamily="1" charset="-122"/>
                <a:sym typeface="楷体_GB2312" pitchFamily="1" charset="-122"/>
              </a:rPr>
              <a:t>       </a:t>
            </a:r>
            <a:r>
              <a:rPr lang="zh-CN" altLang="en-US" sz="2400" b="1">
                <a:solidFill>
                  <a:srgbClr val="000000"/>
                </a:solidFill>
                <a:latin typeface="楷体_GB2312" pitchFamily="1" charset="-122"/>
                <a:ea typeface="楷体_GB2312" pitchFamily="1" charset="-122"/>
                <a:sym typeface="楷体_GB2312" pitchFamily="1" charset="-122"/>
              </a:rPr>
              <a:t>数据排除？</a:t>
            </a:r>
            <a:endParaRPr lang="en-US" sz="2400" b="1">
              <a:solidFill>
                <a:srgbClr val="000000"/>
              </a:solidFill>
              <a:latin typeface="楷体_GB2312" pitchFamily="1" charset="-122"/>
              <a:ea typeface="楷体_GB2312" pitchFamily="1" charset="-122"/>
              <a:sym typeface="楷体_GB2312" pitchFamily="1" charset="-122"/>
            </a:endParaRPr>
          </a:p>
        </p:txBody>
      </p:sp>
      <p:sp>
        <p:nvSpPr>
          <p:cNvPr id="65542" name="Text Box 5"/>
          <p:cNvSpPr>
            <a:spLocks noChangeArrowheads="1"/>
          </p:cNvSpPr>
          <p:nvPr/>
        </p:nvSpPr>
        <p:spPr bwMode="auto">
          <a:xfrm>
            <a:off x="371475" y="3763963"/>
            <a:ext cx="8305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pPr marL="1439863"/>
            <a:r>
              <a:rPr lang="zh-CN" altLang="en-US" sz="2400" b="1">
                <a:solidFill>
                  <a:srgbClr val="1216D4"/>
                </a:solidFill>
                <a:latin typeface="楷体_GB2312" pitchFamily="1" charset="-122"/>
                <a:ea typeface="楷体_GB2312" pitchFamily="1" charset="-122"/>
                <a:sym typeface="楷体_GB2312" pitchFamily="1" charset="-122"/>
              </a:rPr>
              <a:t>解答关键点：</a:t>
            </a:r>
          </a:p>
          <a:p>
            <a:pPr marL="1439863"/>
            <a:r>
              <a:rPr lang="en-US" sz="2400" b="1">
                <a:solidFill>
                  <a:srgbClr val="1216D4"/>
                </a:solidFill>
                <a:latin typeface="楷体_GB2312" pitchFamily="1" charset="-122"/>
                <a:ea typeface="楷体_GB2312" pitchFamily="1" charset="-122"/>
                <a:sym typeface="楷体_GB2312" pitchFamily="1" charset="-122"/>
              </a:rPr>
              <a:t>1.</a:t>
            </a:r>
            <a:r>
              <a:rPr lang="zh-CN" altLang="en-US" sz="2400" b="1">
                <a:solidFill>
                  <a:srgbClr val="1216D4"/>
                </a:solidFill>
                <a:latin typeface="楷体_GB2312" pitchFamily="1" charset="-122"/>
                <a:ea typeface="楷体_GB2312" pitchFamily="1" charset="-122"/>
                <a:sym typeface="楷体_GB2312" pitchFamily="1" charset="-122"/>
              </a:rPr>
              <a:t>任何相关的</a:t>
            </a:r>
            <a:r>
              <a:rPr lang="en-US" sz="2400" b="1">
                <a:solidFill>
                  <a:srgbClr val="1216D4"/>
                </a:solidFill>
                <a:latin typeface="楷体_GB2312" pitchFamily="1" charset="-122"/>
                <a:ea typeface="楷体_GB2312" pitchFamily="1" charset="-122"/>
                <a:sym typeface="楷体_GB2312" pitchFamily="1" charset="-122"/>
              </a:rPr>
              <a:t>GMP</a:t>
            </a:r>
            <a:r>
              <a:rPr lang="zh-CN" altLang="en-US" sz="2400" b="1">
                <a:solidFill>
                  <a:srgbClr val="1216D4"/>
                </a:solidFill>
                <a:latin typeface="楷体_GB2312" pitchFamily="1" charset="-122"/>
                <a:ea typeface="楷体_GB2312" pitchFamily="1" charset="-122"/>
                <a:sym typeface="楷体_GB2312" pitchFamily="1" charset="-122"/>
              </a:rPr>
              <a:t>记录都应该由质量管理部门作为产品放行的一部分进行评估，并按</a:t>
            </a:r>
            <a:r>
              <a:rPr lang="en-US" sz="2400" b="1">
                <a:solidFill>
                  <a:srgbClr val="1216D4"/>
                </a:solidFill>
                <a:latin typeface="楷体_GB2312" pitchFamily="1" charset="-122"/>
                <a:ea typeface="楷体_GB2312" pitchFamily="1" charset="-122"/>
                <a:sym typeface="楷体_GB2312" pitchFamily="1" charset="-122"/>
              </a:rPr>
              <a:t>GMP</a:t>
            </a:r>
            <a:r>
              <a:rPr lang="zh-CN" altLang="en-US" sz="2400" b="1">
                <a:solidFill>
                  <a:srgbClr val="1216D4"/>
                </a:solidFill>
                <a:latin typeface="楷体_GB2312" pitchFamily="1" charset="-122"/>
                <a:ea typeface="楷体_GB2312" pitchFamily="1" charset="-122"/>
                <a:sym typeface="楷体_GB2312" pitchFamily="1" charset="-122"/>
              </a:rPr>
              <a:t>要求去维护。</a:t>
            </a:r>
            <a:endParaRPr lang="en-US" sz="2400" b="1">
              <a:solidFill>
                <a:srgbClr val="1216D4"/>
              </a:solidFill>
              <a:latin typeface="楷体_GB2312" pitchFamily="1" charset="-122"/>
              <a:ea typeface="楷体_GB2312" pitchFamily="1" charset="-122"/>
              <a:sym typeface="楷体_GB2312" pitchFamily="1" charset="-122"/>
            </a:endParaRPr>
          </a:p>
          <a:p>
            <a:pPr marL="1439863"/>
            <a:r>
              <a:rPr lang="en-US" sz="2400" b="1">
                <a:solidFill>
                  <a:srgbClr val="1216D4"/>
                </a:solidFill>
                <a:latin typeface="楷体_GB2312" pitchFamily="1" charset="-122"/>
                <a:ea typeface="楷体_GB2312" pitchFamily="1" charset="-122"/>
                <a:sym typeface="楷体_GB2312" pitchFamily="1" charset="-122"/>
              </a:rPr>
              <a:t>2.</a:t>
            </a:r>
            <a:r>
              <a:rPr lang="zh-CN" altLang="en-US" sz="2400" b="1">
                <a:solidFill>
                  <a:srgbClr val="1216D4"/>
                </a:solidFill>
                <a:latin typeface="楷体_GB2312" pitchFamily="1" charset="-122"/>
                <a:ea typeface="楷体_GB2312" pitchFamily="1" charset="-122"/>
                <a:sym typeface="楷体_GB2312" pitchFamily="1" charset="-122"/>
              </a:rPr>
              <a:t>若要根据决策标准去废除数据，必须有一个</a:t>
            </a:r>
            <a:r>
              <a:rPr lang="zh-CN" altLang="en-US" sz="2400" b="1">
                <a:solidFill>
                  <a:srgbClr val="FF0000"/>
                </a:solidFill>
                <a:latin typeface="楷体_GB2312" pitchFamily="1" charset="-122"/>
                <a:ea typeface="楷体_GB2312" pitchFamily="1" charset="-122"/>
                <a:sym typeface="楷体_GB2312" pitchFamily="1" charset="-122"/>
              </a:rPr>
              <a:t>有效的、存档的、科学上</a:t>
            </a:r>
            <a:r>
              <a:rPr lang="zh-CN" altLang="en-US" sz="2400" b="1">
                <a:solidFill>
                  <a:srgbClr val="1216D4"/>
                </a:solidFill>
                <a:latin typeface="楷体_GB2312" pitchFamily="1" charset="-122"/>
                <a:ea typeface="楷体_GB2312" pitchFamily="1" charset="-122"/>
                <a:sym typeface="楷体_GB2312" pitchFamily="1" charset="-122"/>
              </a:rPr>
              <a:t>的非处理由（见</a:t>
            </a:r>
            <a:r>
              <a:rPr lang="en-US" sz="2400" b="1">
                <a:solidFill>
                  <a:srgbClr val="1216D4"/>
                </a:solidFill>
                <a:latin typeface="楷体_GB2312" pitchFamily="1" charset="-122"/>
                <a:ea typeface="楷体_GB2312" pitchFamily="1" charset="-122"/>
                <a:sym typeface="楷体_GB2312" pitchFamily="1" charset="-122"/>
              </a:rPr>
              <a:t>《</a:t>
            </a:r>
            <a:r>
              <a:rPr lang="zh-CN" altLang="en-US" sz="2400" b="1">
                <a:solidFill>
                  <a:srgbClr val="1216D4"/>
                </a:solidFill>
                <a:latin typeface="楷体_GB2312" pitchFamily="1" charset="-122"/>
                <a:ea typeface="楷体_GB2312" pitchFamily="1" charset="-122"/>
                <a:sym typeface="楷体_GB2312" pitchFamily="1" charset="-122"/>
              </a:rPr>
              <a:t>制药生产超标（</a:t>
            </a:r>
            <a:r>
              <a:rPr lang="en-US" sz="2400" b="1">
                <a:solidFill>
                  <a:srgbClr val="1216D4"/>
                </a:solidFill>
                <a:latin typeface="楷体_GB2312" pitchFamily="1" charset="-122"/>
                <a:ea typeface="楷体_GB2312" pitchFamily="1" charset="-122"/>
                <a:sym typeface="楷体_GB2312" pitchFamily="1" charset="-122"/>
              </a:rPr>
              <a:t>oss</a:t>
            </a:r>
            <a:r>
              <a:rPr lang="zh-CN" altLang="en-US" sz="2400" b="1">
                <a:solidFill>
                  <a:srgbClr val="1216D4"/>
                </a:solidFill>
                <a:latin typeface="楷体_GB2312" pitchFamily="1" charset="-122"/>
                <a:ea typeface="楷体_GB2312" pitchFamily="1" charset="-122"/>
                <a:sym typeface="楷体_GB2312" pitchFamily="1" charset="-122"/>
              </a:rPr>
              <a:t>）检验结果调查行业指南</a:t>
            </a:r>
            <a:r>
              <a:rPr lang="en-US" sz="2400" b="1">
                <a:solidFill>
                  <a:srgbClr val="1216D4"/>
                </a:solidFill>
                <a:latin typeface="楷体_GB2312" pitchFamily="1" charset="-122"/>
                <a:ea typeface="楷体_GB2312" pitchFamily="1" charset="-122"/>
                <a:sym typeface="楷体_GB2312" pitchFamily="1" charset="-122"/>
              </a:rPr>
              <a:t>》</a:t>
            </a:r>
            <a:r>
              <a:rPr lang="zh-CN" altLang="en-US" sz="2400" b="1">
                <a:solidFill>
                  <a:srgbClr val="1216D4"/>
                </a:solidFill>
                <a:latin typeface="楷体_GB2312" pitchFamily="1" charset="-122"/>
                <a:ea typeface="楷体_GB2312" pitchFamily="1" charset="-122"/>
                <a:sym typeface="楷体_GB2312" pitchFamily="1" charset="-122"/>
              </a:rPr>
              <a:t>）</a:t>
            </a:r>
            <a:endParaRPr lang="en-US" sz="2400" b="1">
              <a:solidFill>
                <a:srgbClr val="1216D4"/>
              </a:solidFill>
              <a:latin typeface="楷体_GB2312" pitchFamily="1" charset="-122"/>
              <a:ea typeface="楷体_GB2312" pitchFamily="1" charset="-122"/>
              <a:sym typeface="楷体_GB2312" pitchFamily="1" charset="-122"/>
            </a:endParaRPr>
          </a:p>
        </p:txBody>
      </p:sp>
      <p:sp>
        <p:nvSpPr>
          <p:cNvPr id="65543" name="Rectangle 2"/>
          <p:cNvSpPr>
            <a:spLocks noChangeArrowheads="1"/>
          </p:cNvSpPr>
          <p:nvPr/>
        </p:nvSpPr>
        <p:spPr bwMode="auto">
          <a:xfrm>
            <a:off x="2482850" y="-23813"/>
            <a:ext cx="5116513"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2</a:t>
            </a:r>
            <a:r>
              <a:rPr lang="zh-CN" altLang="en-US" sz="2400" b="1">
                <a:solidFill>
                  <a:srgbClr val="FFFF00"/>
                </a:solidFill>
                <a:latin typeface="Calibri" pitchFamily="34" charset="0"/>
                <a:ea typeface="楷体" pitchFamily="49" charset="-122"/>
                <a:sym typeface="Calibri" pitchFamily="34" charset="0"/>
              </a:rPr>
              <a:t>节：FDA数据完整性和CGMP合规指南草案的关键点分析</a:t>
            </a:r>
          </a:p>
        </p:txBody>
      </p:sp>
    </p:spTree>
  </p:cSld>
  <p:clrMapOvr>
    <a:masterClrMapping/>
  </p:clrMapOvr>
  <p:transition>
    <p:strips dir="ld"/>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Text Box 3"/>
          <p:cNvSpPr>
            <a:spLocks noChangeArrowheads="1"/>
          </p:cNvSpPr>
          <p:nvPr/>
        </p:nvSpPr>
        <p:spPr bwMode="auto">
          <a:xfrm>
            <a:off x="1690688" y="3227388"/>
            <a:ext cx="13398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p>
            <a:r>
              <a:rPr lang="zh-CN" altLang="en-US">
                <a:solidFill>
                  <a:srgbClr val="000000"/>
                </a:solidFill>
                <a:sym typeface="Arial" pitchFamily="34" charset="0"/>
              </a:rPr>
              <a:t>    </a:t>
            </a:r>
          </a:p>
        </p:txBody>
      </p:sp>
      <p:sp>
        <p:nvSpPr>
          <p:cNvPr id="66563" name="Text Box 4"/>
          <p:cNvSpPr>
            <a:spLocks noChangeArrowheads="1"/>
          </p:cNvSpPr>
          <p:nvPr/>
        </p:nvSpPr>
        <p:spPr bwMode="auto">
          <a:xfrm>
            <a:off x="1543050" y="1222375"/>
            <a:ext cx="60626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400" b="1">
                <a:solidFill>
                  <a:srgbClr val="FF0000"/>
                </a:solidFill>
                <a:latin typeface="楷体_GB2312" pitchFamily="1" charset="-122"/>
                <a:ea typeface="楷体_GB2312" pitchFamily="1" charset="-122"/>
                <a:sym typeface="楷体_GB2312" pitchFamily="1" charset="-122"/>
              </a:rPr>
              <a:t>系统适用性试验失败与数据完整性风险讨论</a:t>
            </a:r>
            <a:endParaRPr lang="zh-CN" altLang="en-US" sz="2400" b="1">
              <a:solidFill>
                <a:srgbClr val="000000"/>
              </a:solidFill>
              <a:latin typeface="楷体_GB2312" pitchFamily="1" charset="-122"/>
              <a:ea typeface="楷体_GB2312" pitchFamily="1" charset="-122"/>
              <a:sym typeface="楷体_GB2312" pitchFamily="1" charset="-122"/>
            </a:endParaRPr>
          </a:p>
        </p:txBody>
      </p:sp>
      <p:sp>
        <p:nvSpPr>
          <p:cNvPr id="66564" name="Text Box 5"/>
          <p:cNvSpPr>
            <a:spLocks noChangeArrowheads="1"/>
          </p:cNvSpPr>
          <p:nvPr/>
        </p:nvSpPr>
        <p:spPr bwMode="auto">
          <a:xfrm>
            <a:off x="711200" y="1774825"/>
            <a:ext cx="829151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pPr marL="457200" indent="-457200">
              <a:lnSpc>
                <a:spcPct val="150000"/>
              </a:lnSpc>
              <a:buFont typeface="Wingdings" pitchFamily="2" charset="2"/>
              <a:buChar char="p"/>
            </a:pPr>
            <a:r>
              <a:rPr lang="zh-CN" altLang="en-US" sz="2400" b="1">
                <a:solidFill>
                  <a:srgbClr val="1216D4"/>
                </a:solidFill>
                <a:latin typeface="楷体_GB2312" pitchFamily="1" charset="-122"/>
                <a:ea typeface="楷体_GB2312" pitchFamily="1" charset="-122"/>
                <a:sym typeface="楷体_GB2312" pitchFamily="1" charset="-122"/>
              </a:rPr>
              <a:t>没进样品：通常没有</a:t>
            </a:r>
            <a:r>
              <a:rPr lang="en-US" sz="2400" b="1">
                <a:solidFill>
                  <a:srgbClr val="1216D4"/>
                </a:solidFill>
                <a:latin typeface="楷体_GB2312" pitchFamily="1" charset="-122"/>
                <a:ea typeface="楷体_GB2312" pitchFamily="1" charset="-122"/>
                <a:sym typeface="楷体_GB2312" pitchFamily="1" charset="-122"/>
              </a:rPr>
              <a:t>DI</a:t>
            </a:r>
            <a:r>
              <a:rPr lang="zh-CN" altLang="en-US" sz="2400" b="1">
                <a:solidFill>
                  <a:srgbClr val="1216D4"/>
                </a:solidFill>
                <a:latin typeface="楷体_GB2312" pitchFamily="1" charset="-122"/>
                <a:ea typeface="楷体_GB2312" pitchFamily="1" charset="-122"/>
                <a:sym typeface="楷体_GB2312" pitchFamily="1" charset="-122"/>
              </a:rPr>
              <a:t>风险。</a:t>
            </a:r>
            <a:endParaRPr lang="en-US" sz="2400" b="1">
              <a:solidFill>
                <a:srgbClr val="1216D4"/>
              </a:solidFill>
              <a:latin typeface="楷体_GB2312" pitchFamily="1" charset="-122"/>
              <a:ea typeface="楷体_GB2312" pitchFamily="1" charset="-122"/>
              <a:sym typeface="楷体_GB2312" pitchFamily="1" charset="-122"/>
            </a:endParaRPr>
          </a:p>
          <a:p>
            <a:pPr marL="457200" indent="-457200">
              <a:lnSpc>
                <a:spcPct val="150000"/>
              </a:lnSpc>
              <a:buFont typeface="Wingdings" pitchFamily="2" charset="2"/>
              <a:buChar char="p"/>
            </a:pPr>
            <a:r>
              <a:rPr lang="zh-CN" altLang="en-US" sz="2400" b="1">
                <a:solidFill>
                  <a:srgbClr val="1216D4"/>
                </a:solidFill>
                <a:latin typeface="楷体_GB2312" pitchFamily="1" charset="-122"/>
                <a:ea typeface="楷体_GB2312" pitchFamily="1" charset="-122"/>
                <a:sym typeface="楷体_GB2312" pitchFamily="1" charset="-122"/>
              </a:rPr>
              <a:t>已进样品：无论你们是否进行预处理或计算，可能与</a:t>
            </a:r>
            <a:endParaRPr lang="en-US" sz="2400" b="1">
              <a:solidFill>
                <a:srgbClr val="1216D4"/>
              </a:solidFill>
              <a:latin typeface="楷体_GB2312" pitchFamily="1" charset="-122"/>
              <a:ea typeface="楷体_GB2312" pitchFamily="1" charset="-122"/>
              <a:sym typeface="楷体_GB2312" pitchFamily="1" charset="-122"/>
            </a:endParaRPr>
          </a:p>
          <a:p>
            <a:pPr marL="457200" indent="-457200">
              <a:lnSpc>
                <a:spcPct val="150000"/>
              </a:lnSpc>
            </a:pPr>
            <a:r>
              <a:rPr lang="en-US" sz="2400" b="1">
                <a:solidFill>
                  <a:srgbClr val="1216D4"/>
                </a:solidFill>
                <a:latin typeface="楷体_GB2312" pitchFamily="1" charset="-122"/>
                <a:ea typeface="楷体_GB2312" pitchFamily="1" charset="-122"/>
                <a:sym typeface="楷体_GB2312" pitchFamily="1" charset="-122"/>
              </a:rPr>
              <a:t>   DI</a:t>
            </a:r>
            <a:r>
              <a:rPr lang="zh-CN" altLang="en-US" sz="2400" b="1">
                <a:solidFill>
                  <a:srgbClr val="1216D4"/>
                </a:solidFill>
                <a:latin typeface="楷体_GB2312" pitchFamily="1" charset="-122"/>
                <a:ea typeface="楷体_GB2312" pitchFamily="1" charset="-122"/>
                <a:sym typeface="楷体_GB2312" pitchFamily="1" charset="-122"/>
              </a:rPr>
              <a:t>有关（变相试针）</a:t>
            </a:r>
            <a:endParaRPr lang="en-US" sz="2400" b="1">
              <a:solidFill>
                <a:srgbClr val="1216D4"/>
              </a:solidFill>
              <a:latin typeface="楷体_GB2312" pitchFamily="1" charset="-122"/>
              <a:ea typeface="楷体_GB2312" pitchFamily="1" charset="-122"/>
              <a:sym typeface="楷体_GB2312" pitchFamily="1" charset="-122"/>
            </a:endParaRPr>
          </a:p>
          <a:p>
            <a:pPr marL="457200" indent="-457200">
              <a:lnSpc>
                <a:spcPct val="150000"/>
              </a:lnSpc>
              <a:buFont typeface="Wingdings" pitchFamily="2" charset="2"/>
              <a:buChar char="p"/>
            </a:pPr>
            <a:r>
              <a:rPr lang="zh-CN" altLang="en-US" sz="2400" b="1">
                <a:solidFill>
                  <a:srgbClr val="1216D4"/>
                </a:solidFill>
                <a:latin typeface="楷体_GB2312" pitchFamily="1" charset="-122"/>
                <a:ea typeface="楷体_GB2312" pitchFamily="1" charset="-122"/>
                <a:sym typeface="楷体_GB2312" pitchFamily="1" charset="-122"/>
              </a:rPr>
              <a:t>记录事件：如果没有记录事件就有</a:t>
            </a:r>
            <a:r>
              <a:rPr lang="en-US" sz="2400" b="1">
                <a:solidFill>
                  <a:srgbClr val="1216D4"/>
                </a:solidFill>
                <a:latin typeface="楷体_GB2312" pitchFamily="1" charset="-122"/>
                <a:ea typeface="楷体_GB2312" pitchFamily="1" charset="-122"/>
                <a:sym typeface="楷体_GB2312" pitchFamily="1" charset="-122"/>
              </a:rPr>
              <a:t>DI</a:t>
            </a:r>
            <a:r>
              <a:rPr lang="zh-CN" altLang="en-US" sz="2400" b="1">
                <a:solidFill>
                  <a:srgbClr val="1216D4"/>
                </a:solidFill>
                <a:latin typeface="楷体_GB2312" pitchFamily="1" charset="-122"/>
                <a:ea typeface="楷体_GB2312" pitchFamily="1" charset="-122"/>
                <a:sym typeface="楷体_GB2312" pitchFamily="1" charset="-122"/>
              </a:rPr>
              <a:t>风险。</a:t>
            </a:r>
            <a:endParaRPr lang="en-US" sz="2400" b="1">
              <a:solidFill>
                <a:srgbClr val="1216D4"/>
              </a:solidFill>
              <a:latin typeface="楷体_GB2312" pitchFamily="1" charset="-122"/>
              <a:ea typeface="楷体_GB2312" pitchFamily="1" charset="-122"/>
              <a:sym typeface="楷体_GB2312" pitchFamily="1" charset="-122"/>
            </a:endParaRPr>
          </a:p>
          <a:p>
            <a:pPr marL="457200" indent="-457200">
              <a:lnSpc>
                <a:spcPct val="150000"/>
              </a:lnSpc>
              <a:buFont typeface="Wingdings" pitchFamily="2" charset="2"/>
              <a:buChar char="p"/>
            </a:pPr>
            <a:r>
              <a:rPr lang="zh-CN" altLang="en-US" sz="2400" b="1">
                <a:solidFill>
                  <a:srgbClr val="1216D4"/>
                </a:solidFill>
                <a:latin typeface="楷体_GB2312" pitchFamily="1" charset="-122"/>
                <a:ea typeface="楷体_GB2312" pitchFamily="1" charset="-122"/>
                <a:sym typeface="楷体_GB2312" pitchFamily="1" charset="-122"/>
              </a:rPr>
              <a:t>正式调查：若已进样也没有记录也没正式调查，就有</a:t>
            </a:r>
            <a:r>
              <a:rPr lang="en-US" sz="2400" b="1">
                <a:solidFill>
                  <a:srgbClr val="1216D4"/>
                </a:solidFill>
                <a:latin typeface="楷体_GB2312" pitchFamily="1" charset="-122"/>
                <a:ea typeface="楷体_GB2312" pitchFamily="1" charset="-122"/>
                <a:sym typeface="楷体_GB2312" pitchFamily="1" charset="-122"/>
              </a:rPr>
              <a:t>DI</a:t>
            </a:r>
          </a:p>
          <a:p>
            <a:pPr marL="457200" indent="-457200">
              <a:lnSpc>
                <a:spcPct val="150000"/>
              </a:lnSpc>
            </a:pPr>
            <a:r>
              <a:rPr lang="en-US" sz="2400" b="1">
                <a:solidFill>
                  <a:srgbClr val="1216D4"/>
                </a:solidFill>
                <a:latin typeface="楷体_GB2312" pitchFamily="1" charset="-122"/>
                <a:ea typeface="楷体_GB2312" pitchFamily="1" charset="-122"/>
                <a:sym typeface="楷体_GB2312" pitchFamily="1" charset="-122"/>
              </a:rPr>
              <a:t>   </a:t>
            </a:r>
            <a:r>
              <a:rPr lang="zh-CN" altLang="en-US" sz="2400" b="1">
                <a:solidFill>
                  <a:srgbClr val="1216D4"/>
                </a:solidFill>
                <a:latin typeface="楷体_GB2312" pitchFamily="1" charset="-122"/>
                <a:ea typeface="楷体_GB2312" pitchFamily="1" charset="-122"/>
                <a:sym typeface="楷体_GB2312" pitchFamily="1" charset="-122"/>
              </a:rPr>
              <a:t>风险</a:t>
            </a:r>
            <a:endParaRPr lang="en-US" sz="2400" b="1">
              <a:solidFill>
                <a:srgbClr val="1216D4"/>
              </a:solidFill>
              <a:latin typeface="楷体_GB2312" pitchFamily="1" charset="-122"/>
              <a:ea typeface="楷体_GB2312" pitchFamily="1" charset="-122"/>
              <a:sym typeface="楷体_GB2312" pitchFamily="1" charset="-122"/>
            </a:endParaRPr>
          </a:p>
          <a:p>
            <a:pPr marL="457200" indent="-457200">
              <a:lnSpc>
                <a:spcPct val="150000"/>
              </a:lnSpc>
              <a:buFont typeface="Wingdings" pitchFamily="2" charset="2"/>
              <a:buChar char="p"/>
            </a:pPr>
            <a:r>
              <a:rPr lang="zh-CN" altLang="en-US" sz="2400" b="1">
                <a:solidFill>
                  <a:srgbClr val="1216D4"/>
                </a:solidFill>
                <a:latin typeface="楷体_GB2312" pitchFamily="1" charset="-122"/>
                <a:ea typeface="楷体_GB2312" pitchFamily="1" charset="-122"/>
                <a:sym typeface="楷体_GB2312" pitchFamily="1" charset="-122"/>
              </a:rPr>
              <a:t>经常性问题还是偶发问题：经常性问题就有</a:t>
            </a:r>
            <a:r>
              <a:rPr lang="en-US" sz="2400" b="1">
                <a:solidFill>
                  <a:srgbClr val="1216D4"/>
                </a:solidFill>
                <a:latin typeface="楷体_GB2312" pitchFamily="1" charset="-122"/>
                <a:ea typeface="楷体_GB2312" pitchFamily="1" charset="-122"/>
                <a:sym typeface="楷体_GB2312" pitchFamily="1" charset="-122"/>
              </a:rPr>
              <a:t>DI</a:t>
            </a:r>
            <a:r>
              <a:rPr lang="zh-CN" altLang="en-US" sz="2400" b="1">
                <a:solidFill>
                  <a:srgbClr val="1216D4"/>
                </a:solidFill>
                <a:latin typeface="楷体_GB2312" pitchFamily="1" charset="-122"/>
                <a:ea typeface="楷体_GB2312" pitchFamily="1" charset="-122"/>
                <a:sym typeface="楷体_GB2312" pitchFamily="1" charset="-122"/>
              </a:rPr>
              <a:t>风险</a:t>
            </a:r>
            <a:endParaRPr lang="en-US" sz="2400" b="1">
              <a:solidFill>
                <a:srgbClr val="1216D4"/>
              </a:solidFill>
              <a:latin typeface="楷体_GB2312" pitchFamily="1" charset="-122"/>
              <a:ea typeface="楷体_GB2312" pitchFamily="1" charset="-122"/>
              <a:sym typeface="楷体_GB2312" pitchFamily="1" charset="-122"/>
            </a:endParaRPr>
          </a:p>
          <a:p>
            <a:pPr marL="457200" indent="-457200">
              <a:lnSpc>
                <a:spcPct val="150000"/>
              </a:lnSpc>
              <a:buFont typeface="Wingdings" pitchFamily="2" charset="2"/>
              <a:buChar char="p"/>
            </a:pPr>
            <a:r>
              <a:rPr lang="zh-CN" altLang="en-US" sz="2400" b="1">
                <a:solidFill>
                  <a:srgbClr val="1216D4"/>
                </a:solidFill>
                <a:latin typeface="楷体_GB2312" pitchFamily="1" charset="-122"/>
                <a:ea typeface="楷体_GB2312" pitchFamily="1" charset="-122"/>
                <a:sym typeface="楷体_GB2312" pitchFamily="1" charset="-122"/>
              </a:rPr>
              <a:t>重新进行系统适用性实验前是否采取行动：已采取了行动</a:t>
            </a:r>
            <a:endParaRPr lang="en-US" sz="2400" b="1">
              <a:solidFill>
                <a:srgbClr val="1216D4"/>
              </a:solidFill>
              <a:latin typeface="楷体_GB2312" pitchFamily="1" charset="-122"/>
              <a:ea typeface="楷体_GB2312" pitchFamily="1" charset="-122"/>
              <a:sym typeface="楷体_GB2312" pitchFamily="1" charset="-122"/>
            </a:endParaRPr>
          </a:p>
          <a:p>
            <a:pPr marL="457200" indent="-457200">
              <a:lnSpc>
                <a:spcPct val="150000"/>
              </a:lnSpc>
            </a:pPr>
            <a:r>
              <a:rPr lang="en-US" sz="2400" b="1">
                <a:solidFill>
                  <a:srgbClr val="1216D4"/>
                </a:solidFill>
                <a:latin typeface="楷体_GB2312" pitchFamily="1" charset="-122"/>
                <a:ea typeface="楷体_GB2312" pitchFamily="1" charset="-122"/>
                <a:sym typeface="楷体_GB2312" pitchFamily="1" charset="-122"/>
              </a:rPr>
              <a:t>  </a:t>
            </a:r>
            <a:r>
              <a:rPr lang="zh-CN" altLang="en-US" sz="2400" b="1">
                <a:solidFill>
                  <a:srgbClr val="1216D4"/>
                </a:solidFill>
                <a:latin typeface="楷体_GB2312" pitchFamily="1" charset="-122"/>
                <a:ea typeface="楷体_GB2312" pitchFamily="1" charset="-122"/>
                <a:sym typeface="楷体_GB2312" pitchFamily="1" charset="-122"/>
              </a:rPr>
              <a:t>通常没有</a:t>
            </a:r>
            <a:r>
              <a:rPr lang="en-US" sz="2400" b="1">
                <a:solidFill>
                  <a:srgbClr val="1216D4"/>
                </a:solidFill>
                <a:latin typeface="楷体_GB2312" pitchFamily="1" charset="-122"/>
                <a:ea typeface="楷体_GB2312" pitchFamily="1" charset="-122"/>
                <a:sym typeface="楷体_GB2312" pitchFamily="1" charset="-122"/>
              </a:rPr>
              <a:t>DI</a:t>
            </a:r>
            <a:r>
              <a:rPr lang="zh-CN" altLang="en-US" sz="2400" b="1">
                <a:solidFill>
                  <a:srgbClr val="1216D4"/>
                </a:solidFill>
                <a:latin typeface="楷体_GB2312" pitchFamily="1" charset="-122"/>
                <a:ea typeface="楷体_GB2312" pitchFamily="1" charset="-122"/>
                <a:sym typeface="楷体_GB2312" pitchFamily="1" charset="-122"/>
              </a:rPr>
              <a:t>风险。</a:t>
            </a:r>
            <a:endParaRPr lang="en-US" sz="2400" b="1">
              <a:solidFill>
                <a:srgbClr val="1216D4"/>
              </a:solidFill>
              <a:latin typeface="楷体_GB2312" pitchFamily="1" charset="-122"/>
              <a:ea typeface="楷体_GB2312" pitchFamily="1" charset="-122"/>
              <a:sym typeface="楷体_GB2312" pitchFamily="1" charset="-122"/>
            </a:endParaRPr>
          </a:p>
        </p:txBody>
      </p:sp>
    </p:spTree>
  </p:cSld>
  <p:clrMapOvr>
    <a:masterClrMapping/>
  </p:clrMapOvr>
  <p:transition>
    <p:strips dir="ld"/>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文本占位符 14337"/>
          <p:cNvSpPr>
            <a:spLocks noChangeArrowheads="1"/>
          </p:cNvSpPr>
          <p:nvPr>
            <p:ph idx="4294967295"/>
          </p:nvPr>
        </p:nvSpPr>
        <p:spPr bwMode="auto">
          <a:xfrm>
            <a:off x="539750" y="765175"/>
            <a:ext cx="8424863" cy="50736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nSpc>
                <a:spcPct val="90000"/>
              </a:lnSpc>
              <a:spcBef>
                <a:spcPct val="0"/>
              </a:spcBef>
              <a:spcAft>
                <a:spcPts val="1200"/>
              </a:spcAft>
              <a:buFont typeface="Arial" pitchFamily="34" charset="0"/>
              <a:buNone/>
            </a:pPr>
            <a:endParaRPr lang="zh-CN" altLang="en-US" sz="3300" b="1">
              <a:latin typeface="楷体_GB2312" pitchFamily="1" charset="-122"/>
              <a:ea typeface="楷体_GB2312" pitchFamily="1" charset="-122"/>
              <a:sym typeface="楷体_GB2312" pitchFamily="1" charset="-122"/>
            </a:endParaRPr>
          </a:p>
          <a:p>
            <a:pPr>
              <a:lnSpc>
                <a:spcPct val="90000"/>
              </a:lnSpc>
              <a:spcBef>
                <a:spcPct val="0"/>
              </a:spcBef>
              <a:spcAft>
                <a:spcPts val="1200"/>
              </a:spcAft>
              <a:buSzPct val="100000"/>
              <a:buFont typeface="Arial" pitchFamily="34" charset="0"/>
              <a:buNone/>
            </a:pPr>
            <a:r>
              <a:rPr lang="zh-CN" altLang="en-US" b="1">
                <a:solidFill>
                  <a:schemeClr val="hlink"/>
                </a:solidFill>
                <a:latin typeface="楷体_GB2312" pitchFamily="1" charset="-122"/>
                <a:ea typeface="楷体_GB2312" pitchFamily="1" charset="-122"/>
                <a:sym typeface="楷体_GB2312" pitchFamily="1" charset="-122"/>
              </a:rPr>
              <a:t> 12</a:t>
            </a:r>
            <a:r>
              <a:rPr lang="zh-CN" altLang="en-US" sz="2000" b="1">
                <a:solidFill>
                  <a:schemeClr val="hlink"/>
                </a:solidFill>
                <a:latin typeface="楷体_GB2312" pitchFamily="1" charset="-122"/>
                <a:ea typeface="楷体_GB2312" pitchFamily="1" charset="-122"/>
                <a:sym typeface="楷体_GB2312" pitchFamily="1" charset="-122"/>
              </a:rPr>
              <a:t>.</a:t>
            </a:r>
            <a:r>
              <a:rPr lang="zh-CN" altLang="en-US" sz="2800" b="1">
                <a:solidFill>
                  <a:srgbClr val="FF66FF"/>
                </a:solidFill>
                <a:latin typeface="楷体_GB2312" pitchFamily="1" charset="-122"/>
                <a:ea typeface="楷体_GB2312" pitchFamily="1" charset="-122"/>
                <a:sym typeface="楷体_GB2312" pitchFamily="1" charset="-122"/>
              </a:rPr>
              <a:t>记录方法和系统的设计的举例</a:t>
            </a:r>
            <a:r>
              <a:rPr lang="zh-CN" altLang="en-US" sz="2800" b="1">
                <a:solidFill>
                  <a:schemeClr val="hlink"/>
                </a:solidFill>
                <a:latin typeface="楷体_GB2312" pitchFamily="1" charset="-122"/>
                <a:ea typeface="楷体_GB2312" pitchFamily="1" charset="-122"/>
                <a:sym typeface="楷体_GB2312" pitchFamily="1" charset="-122"/>
              </a:rPr>
              <a:t>（但不限于）：</a:t>
            </a:r>
          </a:p>
          <a:p>
            <a:pPr>
              <a:lnSpc>
                <a:spcPct val="90000"/>
              </a:lnSpc>
              <a:spcBef>
                <a:spcPct val="0"/>
              </a:spcBef>
              <a:spcAft>
                <a:spcPts val="1200"/>
              </a:spcAft>
              <a:buSzPct val="100000"/>
              <a:buFont typeface="Arial" pitchFamily="34" charset="0"/>
              <a:buAutoNum type="circleNumDbPlain"/>
            </a:pPr>
            <a:r>
              <a:rPr lang="zh-CN" altLang="en-US" sz="2800" b="1">
                <a:solidFill>
                  <a:schemeClr val="hlink"/>
                </a:solidFill>
                <a:latin typeface="楷体_GB2312" pitchFamily="1" charset="-122"/>
                <a:ea typeface="楷体_GB2312" pitchFamily="1" charset="-122"/>
                <a:sym typeface="楷体_GB2312" pitchFamily="1" charset="-122"/>
              </a:rPr>
              <a:t>限制修改记录时间的任何时钟，例如，电子系统和工艺仪器仪表的系统时钟；</a:t>
            </a:r>
          </a:p>
          <a:p>
            <a:pPr>
              <a:lnSpc>
                <a:spcPct val="90000"/>
              </a:lnSpc>
              <a:spcBef>
                <a:spcPct val="0"/>
              </a:spcBef>
              <a:spcAft>
                <a:spcPts val="1200"/>
              </a:spcAft>
              <a:buSzPct val="100000"/>
              <a:buFont typeface="Arial" pitchFamily="34" charset="0"/>
              <a:buAutoNum type="circleNumDbPlain"/>
            </a:pPr>
            <a:r>
              <a:rPr lang="zh-CN" altLang="en-US" sz="2800" b="1">
                <a:solidFill>
                  <a:schemeClr val="hlink"/>
                </a:solidFill>
                <a:latin typeface="楷体_GB2312" pitchFamily="1" charset="-122"/>
                <a:ea typeface="楷体_GB2312" pitchFamily="1" charset="-122"/>
                <a:sym typeface="楷体_GB2312" pitchFamily="1" charset="-122"/>
              </a:rPr>
              <a:t>确保用于记录GXP数据（如纸质批记录、纸质事件报告表和检验工作表）的受控表格在活动发生地，活动发生时可得，避免临时记录数据之后再转抄；</a:t>
            </a:r>
          </a:p>
          <a:p>
            <a:pPr>
              <a:lnSpc>
                <a:spcPct val="90000"/>
              </a:lnSpc>
              <a:spcBef>
                <a:spcPct val="0"/>
              </a:spcBef>
              <a:spcAft>
                <a:spcPts val="1200"/>
              </a:spcAft>
              <a:buSzPct val="100000"/>
              <a:buFont typeface="Arial" pitchFamily="34" charset="0"/>
              <a:buAutoNum type="circleNumDbPlain"/>
            </a:pPr>
            <a:r>
              <a:rPr lang="zh-CN" altLang="en-US" sz="2800" b="1">
                <a:solidFill>
                  <a:schemeClr val="hlink"/>
                </a:solidFill>
                <a:latin typeface="楷体_GB2312" pitchFamily="1" charset="-122"/>
                <a:ea typeface="楷体_GB2312" pitchFamily="1" charset="-122"/>
                <a:sym typeface="楷体_GB2312" pitchFamily="1" charset="-122"/>
              </a:rPr>
              <a:t>控制空白记录模板的发放以便所有的文件形式都能一致；</a:t>
            </a:r>
          </a:p>
          <a:p>
            <a:pPr>
              <a:lnSpc>
                <a:spcPct val="90000"/>
              </a:lnSpc>
              <a:spcBef>
                <a:spcPct val="0"/>
              </a:spcBef>
              <a:spcAft>
                <a:spcPts val="1200"/>
              </a:spcAft>
              <a:buSzPct val="100000"/>
              <a:buFont typeface="Arial" pitchFamily="34" charset="0"/>
              <a:buAutoNum type="circleNumDbPlain"/>
            </a:pPr>
            <a:r>
              <a:rPr lang="zh-CN" altLang="en-US" sz="2800" b="1">
                <a:solidFill>
                  <a:schemeClr val="hlink"/>
                </a:solidFill>
                <a:latin typeface="楷体_GB2312" pitchFamily="1" charset="-122"/>
                <a:ea typeface="楷体_GB2312" pitchFamily="1" charset="-122"/>
                <a:sym typeface="楷体_GB2312" pitchFamily="1" charset="-122"/>
              </a:rPr>
              <a:t>限制自动化系统的用户访问权限，避免修改数据；</a:t>
            </a:r>
          </a:p>
          <a:p>
            <a:pPr>
              <a:lnSpc>
                <a:spcPct val="90000"/>
              </a:lnSpc>
              <a:buSzPct val="100000"/>
              <a:buFont typeface="Arial" pitchFamily="34" charset="0"/>
              <a:buAutoNum type="arabicPeriod"/>
            </a:pPr>
            <a:endParaRPr lang="zh-CN" altLang="en-US" sz="5400" b="1">
              <a:solidFill>
                <a:srgbClr val="FF66FF"/>
              </a:solidFill>
              <a:latin typeface="楷体_GB2312" pitchFamily="1" charset="-122"/>
              <a:ea typeface="楷体_GB2312" pitchFamily="1" charset="-122"/>
              <a:sym typeface="楷体_GB2312" pitchFamily="1" charset="-122"/>
            </a:endParaRPr>
          </a:p>
        </p:txBody>
      </p:sp>
      <p:sp>
        <p:nvSpPr>
          <p:cNvPr id="67587" name="文本框 14338"/>
          <p:cNvSpPr>
            <a:spLocks noChangeArrowheads="1"/>
          </p:cNvSpPr>
          <p:nvPr/>
        </p:nvSpPr>
        <p:spPr bwMode="auto">
          <a:xfrm>
            <a:off x="4565650" y="188913"/>
            <a:ext cx="46275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800">
                <a:solidFill>
                  <a:srgbClr val="FFC000"/>
                </a:solidFill>
                <a:latin typeface="楷体_GB2312" pitchFamily="1" charset="-122"/>
                <a:ea typeface="楷体_GB2312" pitchFamily="1" charset="-122"/>
                <a:sym typeface="宋体" pitchFamily="2" charset="-122"/>
              </a:rPr>
              <a:t>WHO确保良好数据的14条原则</a:t>
            </a:r>
          </a:p>
        </p:txBody>
      </p:sp>
    </p:spTree>
  </p:cSld>
  <p:clrMapOvr>
    <a:masterClrMapping/>
  </p:clrMapOvr>
  <p:transition>
    <p:strips dir="ld"/>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文本占位符 15361"/>
          <p:cNvSpPr>
            <a:spLocks noChangeArrowheads="1"/>
          </p:cNvSpPr>
          <p:nvPr>
            <p:ph idx="4294967295"/>
          </p:nvPr>
        </p:nvSpPr>
        <p:spPr bwMode="auto">
          <a:xfrm>
            <a:off x="539750" y="909638"/>
            <a:ext cx="8424863" cy="50736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nSpc>
                <a:spcPct val="80000"/>
              </a:lnSpc>
              <a:buFont typeface="Arial" pitchFamily="34" charset="0"/>
              <a:buNone/>
            </a:pPr>
            <a:endParaRPr lang="zh-CN" altLang="en-US" sz="3700" b="1">
              <a:latin typeface="楷体_GB2312" pitchFamily="1" charset="-122"/>
              <a:ea typeface="楷体_GB2312" pitchFamily="1" charset="-122"/>
              <a:sym typeface="楷体_GB2312" pitchFamily="1" charset="-122"/>
            </a:endParaRPr>
          </a:p>
          <a:p>
            <a:pPr>
              <a:lnSpc>
                <a:spcPct val="80000"/>
              </a:lnSpc>
              <a:buSzPct val="100000"/>
              <a:buFont typeface="Arial" pitchFamily="34" charset="0"/>
              <a:buNone/>
            </a:pPr>
            <a:endParaRPr lang="zh-CN" altLang="en-US" b="1">
              <a:solidFill>
                <a:schemeClr val="hlink"/>
              </a:solidFill>
              <a:latin typeface="楷体_GB2312" pitchFamily="1" charset="-122"/>
              <a:ea typeface="楷体_GB2312" pitchFamily="1" charset="-122"/>
              <a:sym typeface="楷体_GB2312" pitchFamily="1" charset="-122"/>
            </a:endParaRPr>
          </a:p>
          <a:p>
            <a:pPr>
              <a:lnSpc>
                <a:spcPct val="80000"/>
              </a:lnSpc>
              <a:spcBef>
                <a:spcPct val="0"/>
              </a:spcBef>
              <a:spcAft>
                <a:spcPts val="2400"/>
              </a:spcAft>
              <a:buSzPct val="100000"/>
              <a:buFont typeface="Wingdings" pitchFamily="2" charset="2"/>
              <a:buChar char="Ø"/>
            </a:pPr>
            <a:r>
              <a:rPr lang="zh-CN" altLang="en-US" b="1">
                <a:solidFill>
                  <a:schemeClr val="hlink"/>
                </a:solidFill>
                <a:latin typeface="楷体_GB2312" pitchFamily="1" charset="-122"/>
                <a:ea typeface="楷体_GB2312" pitchFamily="1" charset="-122"/>
                <a:sym typeface="楷体_GB2312" pitchFamily="1" charset="-122"/>
              </a:rPr>
              <a:t>确保给设备配置打印机，比如天平，以便独立和及时记录数据；</a:t>
            </a:r>
          </a:p>
          <a:p>
            <a:pPr>
              <a:lnSpc>
                <a:spcPct val="80000"/>
              </a:lnSpc>
              <a:spcBef>
                <a:spcPct val="0"/>
              </a:spcBef>
              <a:spcAft>
                <a:spcPts val="2400"/>
              </a:spcAft>
              <a:buSzPct val="100000"/>
              <a:buFont typeface="Wingdings" pitchFamily="2" charset="2"/>
              <a:buChar char="Ø"/>
            </a:pPr>
            <a:r>
              <a:rPr lang="zh-CN" altLang="en-US" b="1">
                <a:solidFill>
                  <a:schemeClr val="hlink"/>
                </a:solidFill>
                <a:latin typeface="楷体_GB2312" pitchFamily="1" charset="-122"/>
                <a:ea typeface="楷体_GB2312" pitchFamily="1" charset="-122"/>
                <a:sym typeface="楷体_GB2312" pitchFamily="1" charset="-122"/>
              </a:rPr>
              <a:t>确保打印机在相关活动临近；</a:t>
            </a:r>
          </a:p>
          <a:p>
            <a:pPr>
              <a:lnSpc>
                <a:spcPct val="80000"/>
              </a:lnSpc>
              <a:spcBef>
                <a:spcPct val="0"/>
              </a:spcBef>
              <a:spcAft>
                <a:spcPts val="2400"/>
              </a:spcAft>
              <a:buSzPct val="100000"/>
              <a:buFont typeface="Wingdings" pitchFamily="2" charset="2"/>
              <a:buChar char="Ø"/>
            </a:pPr>
            <a:r>
              <a:rPr lang="zh-CN" altLang="en-US" b="1">
                <a:solidFill>
                  <a:schemeClr val="hlink"/>
                </a:solidFill>
                <a:latin typeface="楷体_GB2312" pitchFamily="1" charset="-122"/>
                <a:ea typeface="楷体_GB2312" pitchFamily="1" charset="-122"/>
                <a:sym typeface="楷体_GB2312" pitchFamily="1" charset="-122"/>
              </a:rPr>
              <a:t>确保取样点的位置易于接近（比如水系统的取样点），易于操作员取样，使得走捷径或伪造样品的诱惑最小化；</a:t>
            </a:r>
          </a:p>
          <a:p>
            <a:pPr>
              <a:lnSpc>
                <a:spcPct val="80000"/>
              </a:lnSpc>
              <a:spcBef>
                <a:spcPct val="0"/>
              </a:spcBef>
              <a:spcAft>
                <a:spcPts val="2400"/>
              </a:spcAft>
              <a:buSzPct val="100000"/>
              <a:buFont typeface="Wingdings" pitchFamily="2" charset="2"/>
              <a:buChar char="Ø"/>
            </a:pPr>
            <a:r>
              <a:rPr lang="zh-CN" altLang="en-US" b="1">
                <a:solidFill>
                  <a:schemeClr val="hlink"/>
                </a:solidFill>
                <a:latin typeface="楷体_GB2312" pitchFamily="1" charset="-122"/>
                <a:ea typeface="楷体_GB2312" pitchFamily="1" charset="-122"/>
                <a:sym typeface="楷体_GB2312" pitchFamily="1" charset="-122"/>
              </a:rPr>
              <a:t>确保执行数据检查活动的员工有权限访问原始电子数据。</a:t>
            </a:r>
          </a:p>
          <a:p>
            <a:pPr>
              <a:lnSpc>
                <a:spcPct val="80000"/>
              </a:lnSpc>
              <a:buSzPct val="100000"/>
              <a:buFont typeface="Arial" pitchFamily="34" charset="0"/>
              <a:buAutoNum type="arabicPeriod"/>
            </a:pPr>
            <a:endParaRPr lang="zh-CN" altLang="en-US" sz="6000" b="1">
              <a:solidFill>
                <a:srgbClr val="FF66FF"/>
              </a:solidFill>
              <a:latin typeface="楷体_GB2312" pitchFamily="1" charset="-122"/>
              <a:ea typeface="楷体_GB2312" pitchFamily="1" charset="-122"/>
              <a:sym typeface="楷体_GB2312" pitchFamily="1" charset="-122"/>
            </a:endParaRPr>
          </a:p>
        </p:txBody>
      </p:sp>
      <p:sp>
        <p:nvSpPr>
          <p:cNvPr id="68611" name="文本框 14338"/>
          <p:cNvSpPr>
            <a:spLocks noChangeArrowheads="1"/>
          </p:cNvSpPr>
          <p:nvPr/>
        </p:nvSpPr>
        <p:spPr bwMode="auto">
          <a:xfrm>
            <a:off x="4565650" y="188913"/>
            <a:ext cx="46275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800">
                <a:solidFill>
                  <a:srgbClr val="FFC000"/>
                </a:solidFill>
                <a:latin typeface="楷体_GB2312" pitchFamily="1" charset="-122"/>
                <a:ea typeface="楷体_GB2312" pitchFamily="1" charset="-122"/>
                <a:sym typeface="宋体" pitchFamily="2" charset="-122"/>
              </a:rPr>
              <a:t>WHO确保良好数据的14条原则</a:t>
            </a:r>
          </a:p>
        </p:txBody>
      </p:sp>
    </p:spTree>
  </p:cSld>
  <p:clrMapOvr>
    <a:masterClrMapping/>
  </p:clrMapOvr>
  <p:transition>
    <p:strips dir="ld"/>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文本占位符 19457"/>
          <p:cNvSpPr>
            <a:spLocks noChangeArrowheads="1"/>
          </p:cNvSpPr>
          <p:nvPr>
            <p:ph idx="4294967295"/>
          </p:nvPr>
        </p:nvSpPr>
        <p:spPr bwMode="auto">
          <a:xfrm>
            <a:off x="539750" y="1052513"/>
            <a:ext cx="8424863" cy="50736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lnSpc>
                <a:spcPct val="80000"/>
              </a:lnSpc>
              <a:buFont typeface="Arial" pitchFamily="34" charset="0"/>
              <a:buNone/>
            </a:pPr>
            <a:r>
              <a:rPr lang="zh-CN" altLang="en-US" sz="2400" b="1">
                <a:solidFill>
                  <a:srgbClr val="FF3300"/>
                </a:solidFill>
                <a:latin typeface="楷体_GB2312" pitchFamily="1" charset="-122"/>
                <a:ea typeface="楷体_GB2312" pitchFamily="1" charset="-122"/>
                <a:sym typeface="楷体_GB2312" pitchFamily="1" charset="-122"/>
              </a:rPr>
              <a:t>数据完整性管理常见的其他技术措施</a:t>
            </a:r>
          </a:p>
          <a:p>
            <a:pPr algn="ctr">
              <a:lnSpc>
                <a:spcPct val="80000"/>
              </a:lnSpc>
              <a:buFont typeface="Arial" pitchFamily="34" charset="0"/>
              <a:buNone/>
            </a:pPr>
            <a:endParaRPr lang="zh-CN" altLang="en-US" sz="2000" b="1">
              <a:solidFill>
                <a:srgbClr val="FF3300"/>
              </a:solidFill>
              <a:latin typeface="楷体_GB2312" pitchFamily="1" charset="-122"/>
              <a:ea typeface="楷体_GB2312" pitchFamily="1" charset="-122"/>
              <a:sym typeface="楷体_GB2312" pitchFamily="1" charset="-122"/>
            </a:endParaRPr>
          </a:p>
          <a:p>
            <a:pPr>
              <a:lnSpc>
                <a:spcPct val="80000"/>
              </a:lnSpc>
              <a:buSzPct val="100000"/>
              <a:buFont typeface="Arial" pitchFamily="34" charset="0"/>
              <a:buAutoNum type="arabicPeriod"/>
            </a:pPr>
            <a:r>
              <a:rPr lang="zh-CN" altLang="en-US" sz="2000" b="1">
                <a:latin typeface="楷体_GB2312" pitchFamily="1" charset="-122"/>
                <a:ea typeface="楷体_GB2312" pitchFamily="1" charset="-122"/>
                <a:sym typeface="楷体_GB2312" pitchFamily="1" charset="-122"/>
              </a:rPr>
              <a:t>进入系统或区域的用户权限管理，</a:t>
            </a:r>
            <a:r>
              <a:rPr lang="zh-CN" altLang="en-US" sz="2000" b="1">
                <a:solidFill>
                  <a:srgbClr val="CC00FF"/>
                </a:solidFill>
                <a:latin typeface="楷体_GB2312" pitchFamily="1" charset="-122"/>
                <a:ea typeface="楷体_GB2312" pitchFamily="1" charset="-122"/>
                <a:sym typeface="楷体_GB2312" pitchFamily="1" charset="-122"/>
              </a:rPr>
              <a:t>使用物理或者逻辑的方式限制进入，</a:t>
            </a:r>
            <a:r>
              <a:rPr lang="zh-CN" altLang="en-US" sz="2000" b="1">
                <a:latin typeface="楷体_GB2312" pitchFamily="1" charset="-122"/>
                <a:ea typeface="楷体_GB2312" pitchFamily="1" charset="-122"/>
                <a:sym typeface="楷体_GB2312" pitchFamily="1" charset="-122"/>
              </a:rPr>
              <a:t>比如进入账号和密码要求、门禁、上锁管理、通过文件规定授权进入等方式；</a:t>
            </a:r>
          </a:p>
          <a:p>
            <a:pPr>
              <a:lnSpc>
                <a:spcPct val="80000"/>
              </a:lnSpc>
              <a:buSzPct val="100000"/>
              <a:buFont typeface="Arial" pitchFamily="34" charset="0"/>
              <a:buAutoNum type="arabicPeriod"/>
            </a:pPr>
            <a:r>
              <a:rPr lang="zh-CN" altLang="en-US" sz="2000" b="1">
                <a:latin typeface="楷体_GB2312" pitchFamily="1" charset="-122"/>
                <a:ea typeface="楷体_GB2312" pitchFamily="1" charset="-122"/>
                <a:sym typeface="楷体_GB2312" pitchFamily="1" charset="-122"/>
              </a:rPr>
              <a:t>对计算机化系统用户进行</a:t>
            </a:r>
            <a:r>
              <a:rPr lang="zh-CN" altLang="en-US" sz="2000" b="1">
                <a:solidFill>
                  <a:srgbClr val="CC00FF"/>
                </a:solidFill>
                <a:latin typeface="楷体_GB2312" pitchFamily="1" charset="-122"/>
                <a:ea typeface="楷体_GB2312" pitchFamily="1" charset="-122"/>
                <a:sym typeface="楷体_GB2312" pitchFamily="1" charset="-122"/>
              </a:rPr>
              <a:t>权限分级管理</a:t>
            </a:r>
            <a:r>
              <a:rPr lang="zh-CN" altLang="en-US" sz="2000" b="1">
                <a:latin typeface="楷体_GB2312" pitchFamily="1" charset="-122"/>
                <a:ea typeface="楷体_GB2312" pitchFamily="1" charset="-122"/>
                <a:sym typeface="楷体_GB2312" pitchFamily="1" charset="-122"/>
              </a:rPr>
              <a:t>，通过授权以保证人员只具有与完成其工作职责相当的操作权限，并开启审计追踪功能，以防止或者跟踪对数据的所有更改。</a:t>
            </a:r>
          </a:p>
          <a:p>
            <a:pPr>
              <a:lnSpc>
                <a:spcPct val="80000"/>
              </a:lnSpc>
              <a:buSzPct val="100000"/>
              <a:buFont typeface="Arial" pitchFamily="34" charset="0"/>
              <a:buAutoNum type="arabicPeriod"/>
            </a:pPr>
            <a:r>
              <a:rPr lang="zh-CN" altLang="en-US" sz="2000" b="1">
                <a:solidFill>
                  <a:srgbClr val="CC00FF"/>
                </a:solidFill>
                <a:latin typeface="楷体_GB2312" pitchFamily="1" charset="-122"/>
                <a:ea typeface="楷体_GB2312" pitchFamily="1" charset="-122"/>
                <a:sym typeface="楷体_GB2312" pitchFamily="1" charset="-122"/>
              </a:rPr>
              <a:t>采取数据保护措施。</a:t>
            </a:r>
            <a:r>
              <a:rPr lang="zh-CN" altLang="en-US" sz="2000" b="1">
                <a:latin typeface="楷体_GB2312" pitchFamily="1" charset="-122"/>
                <a:ea typeface="楷体_GB2312" pitchFamily="1" charset="-122"/>
                <a:sym typeface="楷体_GB2312" pitchFamily="1" charset="-122"/>
              </a:rPr>
              <a:t>比如数据加密、防删除设置、设定用户无法退出操作软件界面、设置数据存放区域不可见等手段来防止从软件外进入、修改和删除数据。</a:t>
            </a:r>
          </a:p>
          <a:p>
            <a:pPr>
              <a:lnSpc>
                <a:spcPct val="80000"/>
              </a:lnSpc>
              <a:buSzPct val="100000"/>
              <a:buFont typeface="Arial" pitchFamily="34" charset="0"/>
              <a:buAutoNum type="arabicPeriod"/>
            </a:pPr>
            <a:r>
              <a:rPr lang="zh-CN" altLang="en-US" sz="2000" b="1">
                <a:solidFill>
                  <a:srgbClr val="CC00FF"/>
                </a:solidFill>
                <a:latin typeface="楷体_GB2312" pitchFamily="1" charset="-122"/>
                <a:ea typeface="楷体_GB2312" pitchFamily="1" charset="-122"/>
                <a:sym typeface="楷体_GB2312" pitchFamily="1" charset="-122"/>
              </a:rPr>
              <a:t>配置自动获取或打印数据的设施，</a:t>
            </a:r>
            <a:r>
              <a:rPr lang="zh-CN" altLang="en-US" sz="2000" b="1">
                <a:latin typeface="楷体_GB2312" pitchFamily="1" charset="-122"/>
                <a:ea typeface="楷体_GB2312" pitchFamily="1" charset="-122"/>
                <a:sym typeface="楷体_GB2312" pitchFamily="1" charset="-122"/>
              </a:rPr>
              <a:t>比如天平配置打印机以实现同步打印、打印条上内容应包括仪器编号、日期和时间、具体测定数值或者曲线。对某些系统无法自动打印仪器编号，可通过手工在数据产生时进行标记并签名确认。</a:t>
            </a:r>
          </a:p>
          <a:p>
            <a:pPr>
              <a:lnSpc>
                <a:spcPct val="80000"/>
              </a:lnSpc>
              <a:buSzPct val="100000"/>
              <a:buFont typeface="Arial" pitchFamily="34" charset="0"/>
              <a:buAutoNum type="arabicPeriod"/>
            </a:pPr>
            <a:r>
              <a:rPr lang="zh-CN" altLang="en-US" sz="2000" b="1">
                <a:solidFill>
                  <a:srgbClr val="CC00FF"/>
                </a:solidFill>
                <a:latin typeface="楷体_GB2312" pitchFamily="1" charset="-122"/>
                <a:ea typeface="楷体_GB2312" pitchFamily="1" charset="-122"/>
                <a:sym typeface="楷体_GB2312" pitchFamily="1" charset="-122"/>
              </a:rPr>
              <a:t>控制记录数据所用的空白记录或模板，</a:t>
            </a:r>
            <a:r>
              <a:rPr lang="zh-CN" altLang="en-US" sz="2000" b="1">
                <a:latin typeface="楷体_GB2312" pitchFamily="1" charset="-122"/>
                <a:ea typeface="楷体_GB2312" pitchFamily="1" charset="-122"/>
                <a:sym typeface="楷体_GB2312" pitchFamily="1" charset="-122"/>
              </a:rPr>
              <a:t>如：预先印刷唯一页码；专人保管；建立发放台账；使用专用纸防止复印等措施。</a:t>
            </a:r>
            <a:endParaRPr lang="zh-CN" altLang="en-US" sz="4400" b="1">
              <a:solidFill>
                <a:srgbClr val="FF66FF"/>
              </a:solidFill>
              <a:latin typeface="楷体_GB2312" pitchFamily="1" charset="-122"/>
              <a:ea typeface="楷体_GB2312" pitchFamily="1" charset="-122"/>
              <a:sym typeface="楷体_GB2312" pitchFamily="1" charset="-122"/>
            </a:endParaRPr>
          </a:p>
        </p:txBody>
      </p:sp>
    </p:spTree>
  </p:cSld>
  <p:clrMapOvr>
    <a:masterClrMapping/>
  </p:clrMapOvr>
  <p:transition>
    <p:strips dir="ld"/>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文本占位符 20481"/>
          <p:cNvSpPr>
            <a:spLocks noChangeArrowheads="1"/>
          </p:cNvSpPr>
          <p:nvPr>
            <p:ph idx="4294967295"/>
          </p:nvPr>
        </p:nvSpPr>
        <p:spPr bwMode="auto">
          <a:xfrm>
            <a:off x="323850" y="1052513"/>
            <a:ext cx="8497888" cy="50736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a:buFont typeface="Arial" pitchFamily="34" charset="0"/>
              <a:buNone/>
            </a:pPr>
            <a:r>
              <a:rPr lang="zh-CN" altLang="en-US" sz="3600" b="1">
                <a:solidFill>
                  <a:schemeClr val="hlink"/>
                </a:solidFill>
                <a:latin typeface="楷体_GB2312" pitchFamily="1" charset="-122"/>
                <a:ea typeface="楷体_GB2312" pitchFamily="1" charset="-122"/>
                <a:sym typeface="楷体_GB2312" pitchFamily="1" charset="-122"/>
              </a:rPr>
              <a:t>  </a:t>
            </a:r>
            <a:r>
              <a:rPr lang="zh-CN" altLang="en-US" sz="2400" b="1">
                <a:solidFill>
                  <a:srgbClr val="FF3300"/>
                </a:solidFill>
                <a:latin typeface="楷体_GB2312" pitchFamily="1" charset="-122"/>
                <a:ea typeface="楷体_GB2312" pitchFamily="1" charset="-122"/>
                <a:sym typeface="楷体_GB2312" pitchFamily="1" charset="-122"/>
              </a:rPr>
              <a:t>数据完整性常见的其它管理措施</a:t>
            </a:r>
          </a:p>
          <a:p>
            <a:pPr algn="ctr">
              <a:buFont typeface="Arial" pitchFamily="34" charset="0"/>
              <a:buNone/>
            </a:pPr>
            <a:endParaRPr lang="zh-CN" altLang="en-US" sz="2400" b="1">
              <a:solidFill>
                <a:srgbClr val="FF3300"/>
              </a:solidFill>
              <a:latin typeface="楷体_GB2312" pitchFamily="1" charset="-122"/>
              <a:ea typeface="楷体_GB2312" pitchFamily="1" charset="-122"/>
              <a:sym typeface="楷体_GB2312" pitchFamily="1" charset="-122"/>
            </a:endParaRPr>
          </a:p>
          <a:p>
            <a:pPr>
              <a:buSzPct val="100000"/>
              <a:buFont typeface="Arial" pitchFamily="34" charset="0"/>
              <a:buAutoNum type="arabicPeriod"/>
            </a:pPr>
            <a:r>
              <a:rPr lang="zh-CN" altLang="en-US" sz="2400" b="1">
                <a:latin typeface="楷体_GB2312" pitchFamily="1" charset="-122"/>
                <a:ea typeface="楷体_GB2312" pitchFamily="1" charset="-122"/>
                <a:sym typeface="楷体_GB2312" pitchFamily="1" charset="-122"/>
              </a:rPr>
              <a:t>创建良好的工作氛围，鼓励公开报告错误、疏忽和异常结果的企业文化；</a:t>
            </a:r>
          </a:p>
          <a:p>
            <a:pPr>
              <a:buSzPct val="100000"/>
              <a:buFont typeface="Arial" pitchFamily="34" charset="0"/>
              <a:buAutoNum type="arabicPeriod"/>
            </a:pPr>
            <a:r>
              <a:rPr lang="zh-CN" altLang="en-US" sz="2400" b="1">
                <a:latin typeface="楷体_GB2312" pitchFamily="1" charset="-122"/>
                <a:ea typeface="楷体_GB2312" pitchFamily="1" charset="-122"/>
                <a:sym typeface="楷体_GB2312" pitchFamily="1" charset="-122"/>
              </a:rPr>
              <a:t>高层管理层的参与和重视；通常通过管理沟通会、管理评审等方式来确保管理层得到质量运行方面的一些基础数据。</a:t>
            </a:r>
          </a:p>
          <a:p>
            <a:pPr>
              <a:buSzPct val="100000"/>
              <a:buFont typeface="Arial" pitchFamily="34" charset="0"/>
              <a:buAutoNum type="arabicPeriod"/>
            </a:pPr>
            <a:r>
              <a:rPr lang="zh-CN" altLang="en-US" sz="2400" b="1">
                <a:latin typeface="楷体_GB2312" pitchFamily="1" charset="-122"/>
                <a:ea typeface="楷体_GB2312" pitchFamily="1" charset="-122"/>
                <a:sym typeface="楷体_GB2312" pitchFamily="1" charset="-122"/>
              </a:rPr>
              <a:t>岗位主管对关键电子数据和审计追踪的定期抽查审核（若适用）、QA定期抽查审核、内审包括数据完整性核查内容；</a:t>
            </a:r>
          </a:p>
          <a:p>
            <a:pPr>
              <a:buSzPct val="100000"/>
              <a:buFont typeface="Arial" pitchFamily="34" charset="0"/>
              <a:buAutoNum type="arabicPeriod"/>
            </a:pPr>
            <a:r>
              <a:rPr lang="zh-CN" altLang="en-US" sz="2400" b="1">
                <a:latin typeface="楷体_GB2312" pitchFamily="1" charset="-122"/>
                <a:ea typeface="楷体_GB2312" pitchFamily="1" charset="-122"/>
                <a:sym typeface="楷体_GB2312" pitchFamily="1" charset="-122"/>
              </a:rPr>
              <a:t>记录设计合理，便于记录（入：留有足够的填写空间；称量操作，多次称量应设计不同的单元格来记录每次称量等）。</a:t>
            </a:r>
          </a:p>
          <a:p>
            <a:pPr>
              <a:buSzPct val="100000"/>
              <a:buFont typeface="Arial" pitchFamily="34" charset="0"/>
              <a:buAutoNum type="arabicPeriod"/>
            </a:pPr>
            <a:endParaRPr lang="zh-CN" altLang="en-US" sz="4800" b="1">
              <a:solidFill>
                <a:srgbClr val="FF3300"/>
              </a:solidFill>
              <a:latin typeface="楷体_GB2312" pitchFamily="1" charset="-122"/>
              <a:ea typeface="楷体_GB2312" pitchFamily="1" charset="-122"/>
              <a:sym typeface="楷体_GB2312" pitchFamily="1" charset="-122"/>
            </a:endParaRPr>
          </a:p>
        </p:txBody>
      </p:sp>
    </p:spTree>
  </p:cSld>
  <p:clrMapOvr>
    <a:masterClrMapping/>
  </p:clrMapOvr>
  <p:transition>
    <p:strips dir="ld"/>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文本框 23553"/>
          <p:cNvSpPr>
            <a:spLocks noChangeArrowheads="1"/>
          </p:cNvSpPr>
          <p:nvPr/>
        </p:nvSpPr>
        <p:spPr bwMode="auto">
          <a:xfrm>
            <a:off x="2628900" y="981075"/>
            <a:ext cx="4651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zh-CN" altLang="en-US" sz="2000" b="1">
                <a:solidFill>
                  <a:schemeClr val="hlink"/>
                </a:solidFill>
                <a:latin typeface="楷体_GB2312" pitchFamily="1" charset="-122"/>
                <a:ea typeface="楷体_GB2312" pitchFamily="1" charset="-122"/>
                <a:sym typeface="楷体_GB2312" pitchFamily="1" charset="-122"/>
              </a:rPr>
              <a:t>F哪些设备仪器需要审计追踪（某公司）</a:t>
            </a:r>
          </a:p>
          <a:p>
            <a:endParaRPr lang="zh-CN" altLang="en-US" sz="2000" b="1">
              <a:solidFill>
                <a:schemeClr val="hlink"/>
              </a:solidFill>
              <a:latin typeface="楷体_GB2312" pitchFamily="1" charset="-122"/>
              <a:ea typeface="楷体_GB2312" pitchFamily="1" charset="-122"/>
              <a:sym typeface="楷体_GB2312" pitchFamily="1" charset="-122"/>
            </a:endParaRPr>
          </a:p>
        </p:txBody>
      </p:sp>
      <p:graphicFrame>
        <p:nvGraphicFramePr>
          <p:cNvPr id="71683" name="对象 23554"/>
          <p:cNvGraphicFramePr>
            <a:graphicFrameLocks/>
          </p:cNvGraphicFramePr>
          <p:nvPr/>
        </p:nvGraphicFramePr>
        <p:xfrm>
          <a:off x="254000" y="1508125"/>
          <a:ext cx="8670925" cy="5162550"/>
        </p:xfrm>
        <a:graphic>
          <a:graphicData uri="http://schemas.openxmlformats.org/presentationml/2006/ole">
            <mc:AlternateContent xmlns:mc="http://schemas.openxmlformats.org/markup-compatibility/2006">
              <mc:Choice xmlns:v="urn:schemas-microsoft-com:vml" Requires="v">
                <p:oleObj spid="_x0000_s71684" r:id="rId3" imgW="7458392" imgH="4057967" progId="PBrush">
                  <p:embed/>
                </p:oleObj>
              </mc:Choice>
              <mc:Fallback>
                <p:oleObj r:id="rId3" imgW="7458392" imgH="4057967" progId="PBrush">
                  <p:embed/>
                  <p:pic>
                    <p:nvPicPr>
                      <p:cNvPr id="0" name="对象 2355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00" y="1508125"/>
                        <a:ext cx="8670925" cy="516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trips dir="ld"/>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文本占位符 28673"/>
          <p:cNvSpPr>
            <a:spLocks noChangeArrowheads="1"/>
          </p:cNvSpPr>
          <p:nvPr>
            <p:ph idx="4294967295"/>
          </p:nvPr>
        </p:nvSpPr>
        <p:spPr bwMode="auto">
          <a:xfrm>
            <a:off x="323850" y="1052513"/>
            <a:ext cx="8785225" cy="50736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marL="0" indent="0" algn="ctr">
              <a:lnSpc>
                <a:spcPct val="80000"/>
              </a:lnSpc>
              <a:spcBef>
                <a:spcPct val="0"/>
              </a:spcBef>
              <a:spcAft>
                <a:spcPts val="1800"/>
              </a:spcAft>
              <a:buFont typeface="Arial" pitchFamily="34" charset="0"/>
              <a:buNone/>
            </a:pPr>
            <a:r>
              <a:rPr lang="zh-CN" altLang="en-US" sz="2400" b="1">
                <a:solidFill>
                  <a:srgbClr val="FF00FF"/>
                </a:solidFill>
                <a:latin typeface="楷体_GB2312" pitchFamily="1" charset="-122"/>
                <a:ea typeface="楷体_GB2312" pitchFamily="1" charset="-122"/>
                <a:sym typeface="楷体_GB2312" pitchFamily="1" charset="-122"/>
              </a:rPr>
              <a:t>全球监管与业界专题会议对审计追踪的权责和程度界定</a:t>
            </a:r>
            <a:endParaRPr lang="zh-CN" altLang="en-US" sz="5400" b="1">
              <a:solidFill>
                <a:srgbClr val="FF00FF"/>
              </a:solidFill>
              <a:latin typeface="楷体_GB2312" pitchFamily="1" charset="-122"/>
              <a:ea typeface="楷体_GB2312" pitchFamily="1" charset="-122"/>
              <a:sym typeface="楷体_GB2312" pitchFamily="1" charset="-122"/>
            </a:endParaRPr>
          </a:p>
          <a:p>
            <a:pPr marL="0" indent="0">
              <a:lnSpc>
                <a:spcPct val="80000"/>
              </a:lnSpc>
              <a:buSzPct val="100000"/>
              <a:buFont typeface="Wingdings" pitchFamily="2" charset="2"/>
              <a:buChar char="v"/>
            </a:pPr>
            <a:r>
              <a:rPr lang="zh-CN" altLang="en-US" sz="2000" b="1">
                <a:solidFill>
                  <a:schemeClr val="hlink"/>
                </a:solidFill>
                <a:latin typeface="楷体_GB2312" pitchFamily="1" charset="-122"/>
                <a:ea typeface="楷体_GB2312" pitchFamily="1" charset="-122"/>
                <a:sym typeface="楷体_GB2312" pitchFamily="1" charset="-122"/>
              </a:rPr>
              <a:t>审计追踪被认为是相关记录的一部分。</a:t>
            </a:r>
          </a:p>
          <a:p>
            <a:pPr marL="0" indent="0">
              <a:lnSpc>
                <a:spcPct val="80000"/>
              </a:lnSpc>
              <a:buSzPct val="100000"/>
              <a:buFont typeface="Wingdings" pitchFamily="2" charset="2"/>
              <a:buChar char="v"/>
            </a:pPr>
            <a:r>
              <a:rPr lang="zh-CN" altLang="en-US" sz="2000" b="1">
                <a:solidFill>
                  <a:schemeClr val="hlink"/>
                </a:solidFill>
                <a:latin typeface="楷体_GB2312" pitchFamily="1" charset="-122"/>
                <a:ea typeface="楷体_GB2312" pitchFamily="1" charset="-122"/>
                <a:sym typeface="楷体_GB2312" pitchFamily="1" charset="-122"/>
              </a:rPr>
              <a:t>对审计追踪的审核应属于第二人复核的范畴。</a:t>
            </a:r>
          </a:p>
          <a:p>
            <a:pPr marL="0" indent="0">
              <a:lnSpc>
                <a:spcPct val="80000"/>
              </a:lnSpc>
              <a:buSzPct val="100000"/>
              <a:buFont typeface="Wingdings" pitchFamily="2" charset="2"/>
              <a:buChar char="v"/>
            </a:pPr>
            <a:r>
              <a:rPr lang="zh-CN" altLang="en-US" sz="2000" b="1">
                <a:solidFill>
                  <a:schemeClr val="hlink"/>
                </a:solidFill>
                <a:latin typeface="楷体_GB2312" pitchFamily="1" charset="-122"/>
                <a:ea typeface="楷体_GB2312" pitchFamily="1" charset="-122"/>
                <a:sym typeface="楷体_GB2312" pitchFamily="1" charset="-122"/>
              </a:rPr>
              <a:t>质量部门应该做的是审查是否已执行对审计追踪的审核，而不是去审核审计追踪。</a:t>
            </a:r>
          </a:p>
          <a:p>
            <a:pPr marL="0" indent="0">
              <a:lnSpc>
                <a:spcPct val="80000"/>
              </a:lnSpc>
              <a:buSzPct val="100000"/>
              <a:buFont typeface="Wingdings" pitchFamily="2" charset="2"/>
              <a:buNone/>
            </a:pPr>
            <a:endParaRPr lang="zh-CN" altLang="en-US" sz="2000" b="1">
              <a:solidFill>
                <a:schemeClr val="hlink"/>
              </a:solidFill>
              <a:latin typeface="楷体_GB2312" pitchFamily="1" charset="-122"/>
              <a:ea typeface="楷体_GB2312" pitchFamily="1" charset="-122"/>
              <a:sym typeface="楷体_GB2312" pitchFamily="1" charset="-122"/>
            </a:endParaRPr>
          </a:p>
        </p:txBody>
      </p:sp>
      <p:graphicFrame>
        <p:nvGraphicFramePr>
          <p:cNvPr id="72707" name="对象 28675"/>
          <p:cNvGraphicFramePr>
            <a:graphicFrameLocks/>
          </p:cNvGraphicFramePr>
          <p:nvPr/>
        </p:nvGraphicFramePr>
        <p:xfrm>
          <a:off x="1476375" y="3287713"/>
          <a:ext cx="6119813" cy="2743200"/>
        </p:xfrm>
        <a:graphic>
          <a:graphicData uri="http://schemas.openxmlformats.org/presentationml/2006/ole">
            <mc:AlternateContent xmlns:mc="http://schemas.openxmlformats.org/markup-compatibility/2006">
              <mc:Choice xmlns:v="urn:schemas-microsoft-com:vml" Requires="v">
                <p:oleObj spid="_x0000_s72709" r:id="rId3" imgW="5591492" imgH="3248342" progId="PBrush">
                  <p:embed/>
                </p:oleObj>
              </mc:Choice>
              <mc:Fallback>
                <p:oleObj r:id="rId3" imgW="5591492" imgH="3248342" progId="PBrush">
                  <p:embed/>
                  <p:pic>
                    <p:nvPicPr>
                      <p:cNvPr id="0" name="对象 2867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3287713"/>
                        <a:ext cx="61198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708" name="文本框 25601"/>
          <p:cNvSpPr>
            <a:spLocks noChangeArrowheads="1"/>
          </p:cNvSpPr>
          <p:nvPr/>
        </p:nvSpPr>
        <p:spPr bwMode="auto">
          <a:xfrm>
            <a:off x="2771775" y="-23813"/>
            <a:ext cx="5410200"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3</a:t>
            </a:r>
            <a:r>
              <a:rPr lang="zh-CN" altLang="en-US" sz="2400" b="1">
                <a:solidFill>
                  <a:srgbClr val="FFFF00"/>
                </a:solidFill>
                <a:latin typeface="Calibri" pitchFamily="34" charset="0"/>
                <a:ea typeface="楷体" pitchFamily="49" charset="-122"/>
                <a:sym typeface="Calibri" pitchFamily="34" charset="0"/>
              </a:rPr>
              <a:t>节：全球监管部门对数据完整性问题的持续改进思考</a:t>
            </a:r>
          </a:p>
        </p:txBody>
      </p:sp>
    </p:spTree>
  </p:cSld>
  <p:clrMapOvr>
    <a:masterClrMapping/>
  </p:clrMapOvr>
  <p:transition>
    <p:strips dir="ld"/>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文本占位符 31746"/>
          <p:cNvSpPr>
            <a:spLocks noChangeArrowheads="1"/>
          </p:cNvSpPr>
          <p:nvPr>
            <p:ph idx="4294967295"/>
          </p:nvPr>
        </p:nvSpPr>
        <p:spPr bwMode="auto">
          <a:xfrm>
            <a:off x="468313" y="1917700"/>
            <a:ext cx="8361362" cy="4525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nSpc>
                <a:spcPct val="150000"/>
              </a:lnSpc>
              <a:spcBef>
                <a:spcPct val="0"/>
              </a:spcBef>
              <a:buFont typeface="Arial" pitchFamily="34" charset="0"/>
              <a:buNone/>
            </a:pPr>
            <a:r>
              <a:rPr lang="en-US" sz="2000" b="1">
                <a:solidFill>
                  <a:schemeClr val="hlink"/>
                </a:solidFill>
                <a:latin typeface="楷体_GB2312" pitchFamily="1" charset="-122"/>
                <a:ea typeface="楷体_GB2312" pitchFamily="1" charset="-122"/>
                <a:sym typeface="楷体_GB2312" pitchFamily="1" charset="-122"/>
              </a:rPr>
              <a:t>1.</a:t>
            </a:r>
            <a:r>
              <a:rPr lang="zh-CN" altLang="en-US" sz="2000" b="1">
                <a:solidFill>
                  <a:schemeClr val="hlink"/>
                </a:solidFill>
                <a:latin typeface="楷体_GB2312" pitchFamily="1" charset="-122"/>
                <a:ea typeface="楷体_GB2312" pitchFamily="1" charset="-122"/>
                <a:sym typeface="楷体_GB2312" pitchFamily="1" charset="-122"/>
              </a:rPr>
              <a:t>审核计算机化系统和数据完整性相关管理程序</a:t>
            </a:r>
            <a:r>
              <a:rPr lang="en-US" sz="2000" b="1">
                <a:solidFill>
                  <a:schemeClr val="hlink"/>
                </a:solidFill>
                <a:latin typeface="楷体_GB2312" pitchFamily="1" charset="-122"/>
                <a:ea typeface="楷体_GB2312" pitchFamily="1" charset="-122"/>
                <a:sym typeface="楷体_GB2312" pitchFamily="1" charset="-122"/>
              </a:rPr>
              <a:t>/</a:t>
            </a:r>
            <a:r>
              <a:rPr lang="zh-CN" altLang="en-US" sz="2000" b="1">
                <a:solidFill>
                  <a:schemeClr val="hlink"/>
                </a:solidFill>
                <a:latin typeface="楷体_GB2312" pitchFamily="1" charset="-122"/>
                <a:ea typeface="楷体_GB2312" pitchFamily="1" charset="-122"/>
                <a:sym typeface="楷体_GB2312" pitchFamily="1" charset="-122"/>
              </a:rPr>
              <a:t>操作规程；</a:t>
            </a:r>
            <a:r>
              <a:rPr lang="en-US" sz="2000" b="1">
                <a:solidFill>
                  <a:schemeClr val="hlink"/>
                </a:solidFill>
                <a:latin typeface="楷体_GB2312" pitchFamily="1" charset="-122"/>
                <a:ea typeface="楷体_GB2312" pitchFamily="1" charset="-122"/>
                <a:sym typeface="楷体_GB2312" pitchFamily="1" charset="-122"/>
              </a:rPr>
              <a:t>——</a:t>
            </a:r>
            <a:r>
              <a:rPr lang="zh-CN" altLang="en-US" sz="2000" b="1">
                <a:solidFill>
                  <a:schemeClr val="hlink"/>
                </a:solidFill>
                <a:latin typeface="楷体_GB2312" pitchFamily="1" charset="-122"/>
                <a:ea typeface="楷体_GB2312" pitchFamily="1" charset="-122"/>
                <a:sym typeface="楷体_GB2312" pitchFamily="1" charset="-122"/>
              </a:rPr>
              <a:t>是否与法规要求一致；</a:t>
            </a:r>
          </a:p>
          <a:p>
            <a:pPr>
              <a:lnSpc>
                <a:spcPct val="150000"/>
              </a:lnSpc>
              <a:spcBef>
                <a:spcPct val="0"/>
              </a:spcBef>
              <a:buFont typeface="Arial" pitchFamily="34" charset="0"/>
              <a:buNone/>
            </a:pPr>
            <a:r>
              <a:rPr lang="en-US" sz="2000" b="1">
                <a:solidFill>
                  <a:schemeClr val="hlink"/>
                </a:solidFill>
                <a:latin typeface="楷体_GB2312" pitchFamily="1" charset="-122"/>
                <a:ea typeface="楷体_GB2312" pitchFamily="1" charset="-122"/>
                <a:sym typeface="楷体_GB2312" pitchFamily="1" charset="-122"/>
              </a:rPr>
              <a:t>2.</a:t>
            </a:r>
            <a:r>
              <a:rPr lang="zh-CN" altLang="en-US" sz="2000" b="1">
                <a:solidFill>
                  <a:schemeClr val="hlink"/>
                </a:solidFill>
                <a:latin typeface="楷体_GB2312" pitchFamily="1" charset="-122"/>
                <a:ea typeface="楷体_GB2312" pitchFamily="1" charset="-122"/>
                <a:sym typeface="楷体_GB2312" pitchFamily="1" charset="-122"/>
              </a:rPr>
              <a:t>调取计算机化系统清单、选取系统查看系统配置和验证（审核</a:t>
            </a:r>
            <a:r>
              <a:rPr lang="en-US" sz="2000" b="1">
                <a:solidFill>
                  <a:schemeClr val="hlink"/>
                </a:solidFill>
                <a:latin typeface="楷体_GB2312" pitchFamily="1" charset="-122"/>
                <a:ea typeface="楷体_GB2312" pitchFamily="1" charset="-122"/>
                <a:sym typeface="楷体_GB2312" pitchFamily="1" charset="-122"/>
              </a:rPr>
              <a:t>URS</a:t>
            </a:r>
            <a:r>
              <a:rPr lang="zh-CN" altLang="en-US" sz="2000" b="1">
                <a:solidFill>
                  <a:schemeClr val="hlink"/>
                </a:solidFill>
                <a:latin typeface="楷体_GB2312" pitchFamily="1" charset="-122"/>
                <a:ea typeface="楷体_GB2312" pitchFamily="1" charset="-122"/>
                <a:sym typeface="楷体_GB2312" pitchFamily="1" charset="-122"/>
              </a:rPr>
              <a:t>如何通过</a:t>
            </a:r>
            <a:r>
              <a:rPr lang="en-US" sz="2000" b="1">
                <a:solidFill>
                  <a:schemeClr val="hlink"/>
                </a:solidFill>
                <a:latin typeface="楷体_GB2312" pitchFamily="1" charset="-122"/>
                <a:ea typeface="楷体_GB2312" pitchFamily="1" charset="-122"/>
                <a:sym typeface="楷体_GB2312" pitchFamily="1" charset="-122"/>
              </a:rPr>
              <a:t>IQ/OQ/PQ</a:t>
            </a:r>
            <a:r>
              <a:rPr lang="zh-CN" altLang="en-US" sz="2000" b="1">
                <a:solidFill>
                  <a:schemeClr val="hlink"/>
                </a:solidFill>
                <a:latin typeface="楷体_GB2312" pitchFamily="1" charset="-122"/>
                <a:ea typeface="楷体_GB2312" pitchFamily="1" charset="-122"/>
                <a:sym typeface="楷体_GB2312" pitchFamily="1" charset="-122"/>
              </a:rPr>
              <a:t>来实现、验证完整性）</a:t>
            </a:r>
          </a:p>
          <a:p>
            <a:pPr>
              <a:lnSpc>
                <a:spcPct val="150000"/>
              </a:lnSpc>
              <a:spcBef>
                <a:spcPct val="0"/>
              </a:spcBef>
              <a:buFont typeface="Arial" pitchFamily="34" charset="0"/>
              <a:buNone/>
            </a:pPr>
            <a:r>
              <a:rPr lang="en-US" sz="2000" b="1">
                <a:solidFill>
                  <a:schemeClr val="hlink"/>
                </a:solidFill>
                <a:latin typeface="楷体_GB2312" pitchFamily="1" charset="-122"/>
                <a:ea typeface="楷体_GB2312" pitchFamily="1" charset="-122"/>
                <a:sym typeface="楷体_GB2312" pitchFamily="1" charset="-122"/>
              </a:rPr>
              <a:t>3.</a:t>
            </a:r>
            <a:r>
              <a:rPr lang="zh-CN" altLang="en-US" sz="2000" b="1">
                <a:solidFill>
                  <a:schemeClr val="hlink"/>
                </a:solidFill>
                <a:latin typeface="楷体_GB2312" pitchFamily="1" charset="-122"/>
                <a:ea typeface="楷体_GB2312" pitchFamily="1" charset="-122"/>
                <a:sym typeface="楷体_GB2312" pitchFamily="1" charset="-122"/>
              </a:rPr>
              <a:t>现场观察和测试：</a:t>
            </a:r>
          </a:p>
          <a:p>
            <a:pPr lvl="1">
              <a:lnSpc>
                <a:spcPct val="150000"/>
              </a:lnSpc>
              <a:spcBef>
                <a:spcPct val="0"/>
              </a:spcBef>
              <a:buFont typeface="Arial" pitchFamily="34" charset="0"/>
              <a:buNone/>
            </a:pPr>
            <a:r>
              <a:rPr lang="en-US" sz="2000" b="1">
                <a:solidFill>
                  <a:schemeClr val="hlink"/>
                </a:solidFill>
                <a:latin typeface="楷体_GB2312" pitchFamily="1" charset="-122"/>
                <a:ea typeface="楷体_GB2312" pitchFamily="1" charset="-122"/>
                <a:sym typeface="楷体_GB2312" pitchFamily="1" charset="-122"/>
              </a:rPr>
              <a:t>	</a:t>
            </a:r>
            <a:r>
              <a:rPr lang="zh-CN" altLang="en-US" sz="2000" b="1">
                <a:solidFill>
                  <a:schemeClr val="hlink"/>
                </a:solidFill>
                <a:latin typeface="楷体_GB2312" pitchFamily="1" charset="-122"/>
                <a:ea typeface="楷体_GB2312" pitchFamily="1" charset="-122"/>
                <a:sym typeface="楷体_GB2312" pitchFamily="1" charset="-122"/>
              </a:rPr>
              <a:t>防删除测试（单机、服务器）、防删除设置；</a:t>
            </a:r>
          </a:p>
          <a:p>
            <a:pPr lvl="1">
              <a:lnSpc>
                <a:spcPct val="150000"/>
              </a:lnSpc>
              <a:spcBef>
                <a:spcPct val="0"/>
              </a:spcBef>
              <a:buFont typeface="Arial" pitchFamily="34" charset="0"/>
              <a:buNone/>
            </a:pPr>
            <a:r>
              <a:rPr lang="en-US" sz="2000" b="1">
                <a:solidFill>
                  <a:schemeClr val="hlink"/>
                </a:solidFill>
                <a:latin typeface="楷体_GB2312" pitchFamily="1" charset="-122"/>
                <a:ea typeface="楷体_GB2312" pitchFamily="1" charset="-122"/>
                <a:sym typeface="楷体_GB2312" pitchFamily="1" charset="-122"/>
              </a:rPr>
              <a:t>	</a:t>
            </a:r>
            <a:r>
              <a:rPr lang="zh-CN" altLang="en-US" sz="2000" b="1">
                <a:solidFill>
                  <a:schemeClr val="hlink"/>
                </a:solidFill>
                <a:latin typeface="楷体_GB2312" pitchFamily="1" charset="-122"/>
                <a:ea typeface="楷体_GB2312" pitchFamily="1" charset="-122"/>
                <a:sym typeface="楷体_GB2312" pitchFamily="1" charset="-122"/>
              </a:rPr>
              <a:t>审计追踪核查，关注关键字、异常信息、序列和审计追踪一致性；</a:t>
            </a:r>
          </a:p>
          <a:p>
            <a:pPr lvl="1">
              <a:lnSpc>
                <a:spcPct val="150000"/>
              </a:lnSpc>
              <a:spcBef>
                <a:spcPct val="0"/>
              </a:spcBef>
              <a:buFont typeface="Arial" pitchFamily="34" charset="0"/>
              <a:buNone/>
            </a:pPr>
            <a:r>
              <a:rPr lang="en-US" sz="2000" b="1">
                <a:solidFill>
                  <a:schemeClr val="hlink"/>
                </a:solidFill>
                <a:latin typeface="楷体_GB2312" pitchFamily="1" charset="-122"/>
                <a:ea typeface="楷体_GB2312" pitchFamily="1" charset="-122"/>
                <a:sym typeface="楷体_GB2312" pitchFamily="1" charset="-122"/>
              </a:rPr>
              <a:t>	</a:t>
            </a:r>
            <a:r>
              <a:rPr lang="zh-CN" altLang="en-US" sz="2000" b="1">
                <a:solidFill>
                  <a:schemeClr val="hlink"/>
                </a:solidFill>
                <a:latin typeface="楷体_GB2312" pitchFamily="1" charset="-122"/>
                <a:ea typeface="楷体_GB2312" pitchFamily="1" charset="-122"/>
                <a:sym typeface="楷体_GB2312" pitchFamily="1" charset="-122"/>
              </a:rPr>
              <a:t>权限设置与</a:t>
            </a:r>
            <a:r>
              <a:rPr lang="en-US" sz="2000" b="1">
                <a:solidFill>
                  <a:schemeClr val="hlink"/>
                </a:solidFill>
                <a:latin typeface="楷体_GB2312" pitchFamily="1" charset="-122"/>
                <a:ea typeface="楷体_GB2312" pitchFamily="1" charset="-122"/>
                <a:sym typeface="楷体_GB2312" pitchFamily="1" charset="-122"/>
              </a:rPr>
              <a:t>SOP</a:t>
            </a:r>
            <a:r>
              <a:rPr lang="zh-CN" altLang="en-US" sz="2000" b="1">
                <a:solidFill>
                  <a:schemeClr val="hlink"/>
                </a:solidFill>
                <a:latin typeface="楷体_GB2312" pitchFamily="1" charset="-122"/>
                <a:ea typeface="楷体_GB2312" pitchFamily="1" charset="-122"/>
                <a:sym typeface="楷体_GB2312" pitchFamily="1" charset="-122"/>
              </a:rPr>
              <a:t>规定的一致性；</a:t>
            </a:r>
          </a:p>
        </p:txBody>
      </p:sp>
      <p:sp>
        <p:nvSpPr>
          <p:cNvPr id="73731" name="文本框 31747"/>
          <p:cNvSpPr>
            <a:spLocks noChangeArrowheads="1"/>
          </p:cNvSpPr>
          <p:nvPr/>
        </p:nvSpPr>
        <p:spPr bwMode="auto">
          <a:xfrm>
            <a:off x="2052638" y="1196975"/>
            <a:ext cx="53641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400" b="1">
                <a:solidFill>
                  <a:srgbClr val="FF00FF"/>
                </a:solidFill>
                <a:latin typeface="楷体_GB2312" pitchFamily="1" charset="-122"/>
                <a:ea typeface="楷体_GB2312" pitchFamily="1" charset="-122"/>
                <a:sym typeface="楷体_GB2312" pitchFamily="1" charset="-122"/>
              </a:rPr>
              <a:t>FDA/</a:t>
            </a:r>
            <a:r>
              <a:rPr lang="zh-CN" altLang="en-US" sz="2400" b="1">
                <a:solidFill>
                  <a:srgbClr val="FF00FF"/>
                </a:solidFill>
                <a:latin typeface="楷体_GB2312" pitchFamily="1" charset="-122"/>
                <a:ea typeface="楷体_GB2312" pitchFamily="1" charset="-122"/>
                <a:sym typeface="楷体_GB2312" pitchFamily="1" charset="-122"/>
              </a:rPr>
              <a:t>欧盟对数据完整性检查的常见手段</a:t>
            </a:r>
          </a:p>
          <a:p>
            <a:endParaRPr lang="zh-CN" altLang="en-US" sz="2400" b="1">
              <a:solidFill>
                <a:srgbClr val="FF00FF"/>
              </a:solidFill>
              <a:latin typeface="楷体_GB2312" pitchFamily="1" charset="-122"/>
              <a:ea typeface="楷体_GB2312" pitchFamily="1" charset="-122"/>
              <a:sym typeface="楷体_GB2312" pitchFamily="1" charset="-122"/>
            </a:endParaRPr>
          </a:p>
        </p:txBody>
      </p:sp>
      <p:sp>
        <p:nvSpPr>
          <p:cNvPr id="73732" name="文本框 29698"/>
          <p:cNvSpPr>
            <a:spLocks noChangeArrowheads="1"/>
          </p:cNvSpPr>
          <p:nvPr/>
        </p:nvSpPr>
        <p:spPr bwMode="auto">
          <a:xfrm>
            <a:off x="2771775" y="-23813"/>
            <a:ext cx="5783263"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4</a:t>
            </a:r>
            <a:r>
              <a:rPr lang="zh-CN" altLang="en-US" sz="2400" b="1">
                <a:solidFill>
                  <a:srgbClr val="FFFF00"/>
                </a:solidFill>
                <a:latin typeface="Calibri" pitchFamily="34" charset="0"/>
                <a:ea typeface="楷体" pitchFamily="49" charset="-122"/>
                <a:sym typeface="Calibri" pitchFamily="34" charset="0"/>
              </a:rPr>
              <a:t>节：FDA/欧盟对数据完整性检查的特点、关注点分析</a:t>
            </a:r>
          </a:p>
        </p:txBody>
      </p:sp>
    </p:spTree>
  </p:cSld>
  <p:clrMapOvr>
    <a:masterClrMapping/>
  </p:clrMapOvr>
  <p:transition>
    <p:strips dir="ld"/>
  </p:transition>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文本占位符 32770"/>
          <p:cNvSpPr>
            <a:spLocks noChangeArrowheads="1"/>
          </p:cNvSpPr>
          <p:nvPr>
            <p:ph idx="4294967295"/>
          </p:nvPr>
        </p:nvSpPr>
        <p:spPr bwMode="auto">
          <a:xfrm>
            <a:off x="468313" y="1989138"/>
            <a:ext cx="8208962" cy="45275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nSpc>
                <a:spcPct val="110000"/>
              </a:lnSpc>
              <a:buFont typeface="Arial" pitchFamily="34" charset="0"/>
              <a:buNone/>
            </a:pPr>
            <a:r>
              <a:rPr lang="en-US" sz="2800" b="1">
                <a:solidFill>
                  <a:schemeClr val="hlink"/>
                </a:solidFill>
                <a:latin typeface="楷体_GB2312" pitchFamily="1" charset="-122"/>
                <a:ea typeface="楷体_GB2312" pitchFamily="1" charset="-122"/>
                <a:sym typeface="楷体_GB2312" pitchFamily="1" charset="-122"/>
              </a:rPr>
              <a:t>3. </a:t>
            </a:r>
            <a:r>
              <a:rPr lang="zh-CN" altLang="en-US" sz="2800" b="1">
                <a:solidFill>
                  <a:schemeClr val="hlink"/>
                </a:solidFill>
                <a:latin typeface="楷体_GB2312" pitchFamily="1" charset="-122"/>
                <a:ea typeface="楷体_GB2312" pitchFamily="1" charset="-122"/>
                <a:sym typeface="楷体_GB2312" pitchFamily="1" charset="-122"/>
              </a:rPr>
              <a:t>现场观察和测试（续）</a:t>
            </a:r>
          </a:p>
          <a:p>
            <a:pPr lvl="1">
              <a:lnSpc>
                <a:spcPct val="110000"/>
              </a:lnSpc>
              <a:buFont typeface="Arial" pitchFamily="34" charset="0"/>
              <a:buNone/>
            </a:pPr>
            <a:r>
              <a:rPr lang="en-US" sz="2100" b="1">
                <a:solidFill>
                  <a:schemeClr val="hlink"/>
                </a:solidFill>
                <a:latin typeface="楷体_GB2312" pitchFamily="1" charset="-122"/>
                <a:ea typeface="楷体_GB2312" pitchFamily="1" charset="-122"/>
                <a:sym typeface="楷体_GB2312" pitchFamily="1" charset="-122"/>
              </a:rPr>
              <a:t>	</a:t>
            </a:r>
            <a:r>
              <a:rPr lang="zh-CN" altLang="en-US" sz="2100" b="1">
                <a:solidFill>
                  <a:schemeClr val="hlink"/>
                </a:solidFill>
                <a:latin typeface="楷体_GB2312" pitchFamily="1" charset="-122"/>
                <a:ea typeface="楷体_GB2312" pitchFamily="1" charset="-122"/>
                <a:sym typeface="楷体_GB2312" pitchFamily="1" charset="-122"/>
              </a:rPr>
              <a:t>时间和日期是否锁定、是否正确、时区和表达格式；</a:t>
            </a:r>
          </a:p>
          <a:p>
            <a:pPr lvl="1">
              <a:lnSpc>
                <a:spcPct val="110000"/>
              </a:lnSpc>
              <a:buFont typeface="Arial" pitchFamily="34" charset="0"/>
              <a:buNone/>
            </a:pPr>
            <a:r>
              <a:rPr lang="en-US" sz="2100" b="1">
                <a:solidFill>
                  <a:schemeClr val="hlink"/>
                </a:solidFill>
                <a:latin typeface="楷体_GB2312" pitchFamily="1" charset="-122"/>
                <a:ea typeface="楷体_GB2312" pitchFamily="1" charset="-122"/>
                <a:sym typeface="楷体_GB2312" pitchFamily="1" charset="-122"/>
              </a:rPr>
              <a:t>	Windows</a:t>
            </a:r>
            <a:r>
              <a:rPr lang="zh-CN" altLang="en-US" sz="2100" b="1">
                <a:solidFill>
                  <a:schemeClr val="hlink"/>
                </a:solidFill>
                <a:latin typeface="楷体_GB2312" pitchFamily="1" charset="-122"/>
                <a:ea typeface="楷体_GB2312" pitchFamily="1" charset="-122"/>
                <a:sym typeface="楷体_GB2312" pitchFamily="1" charset="-122"/>
              </a:rPr>
              <a:t>进入看文件属性、日志查看器、回收站、电脑中软件的安装、</a:t>
            </a:r>
            <a:r>
              <a:rPr lang="en-US" sz="2100" b="1">
                <a:solidFill>
                  <a:schemeClr val="hlink"/>
                </a:solidFill>
                <a:latin typeface="楷体_GB2312" pitchFamily="1" charset="-122"/>
                <a:ea typeface="楷体_GB2312" pitchFamily="1" charset="-122"/>
                <a:sym typeface="楷体_GB2312" pitchFamily="1" charset="-122"/>
              </a:rPr>
              <a:t>U</a:t>
            </a:r>
            <a:r>
              <a:rPr lang="zh-CN" altLang="en-US" sz="2100" b="1">
                <a:solidFill>
                  <a:schemeClr val="hlink"/>
                </a:solidFill>
                <a:latin typeface="楷体_GB2312" pitchFamily="1" charset="-122"/>
                <a:ea typeface="楷体_GB2312" pitchFamily="1" charset="-122"/>
                <a:sym typeface="楷体_GB2312" pitchFamily="1" charset="-122"/>
              </a:rPr>
              <a:t>盘限制；</a:t>
            </a:r>
          </a:p>
          <a:p>
            <a:pPr lvl="1">
              <a:lnSpc>
                <a:spcPct val="110000"/>
              </a:lnSpc>
              <a:buFont typeface="Arial" pitchFamily="34" charset="0"/>
              <a:buNone/>
            </a:pPr>
            <a:r>
              <a:rPr lang="en-US" sz="2100" b="1">
                <a:solidFill>
                  <a:schemeClr val="hlink"/>
                </a:solidFill>
                <a:latin typeface="楷体_GB2312" pitchFamily="1" charset="-122"/>
                <a:ea typeface="楷体_GB2312" pitchFamily="1" charset="-122"/>
                <a:sym typeface="楷体_GB2312" pitchFamily="1" charset="-122"/>
              </a:rPr>
              <a:t>	PC</a:t>
            </a:r>
            <a:r>
              <a:rPr lang="zh-CN" altLang="en-US" sz="2100" b="1">
                <a:solidFill>
                  <a:schemeClr val="hlink"/>
                </a:solidFill>
                <a:latin typeface="楷体_GB2312" pitchFamily="1" charset="-122"/>
                <a:ea typeface="楷体_GB2312" pitchFamily="1" charset="-122"/>
                <a:sym typeface="楷体_GB2312" pitchFamily="1" charset="-122"/>
              </a:rPr>
              <a:t>权限分级和软件权限分级；</a:t>
            </a:r>
          </a:p>
          <a:p>
            <a:pPr lvl="1">
              <a:lnSpc>
                <a:spcPct val="110000"/>
              </a:lnSpc>
              <a:buFont typeface="Arial" pitchFamily="34" charset="0"/>
              <a:buNone/>
            </a:pPr>
            <a:r>
              <a:rPr lang="en-US" sz="2100" b="1">
                <a:solidFill>
                  <a:schemeClr val="hlink"/>
                </a:solidFill>
                <a:latin typeface="楷体_GB2312" pitchFamily="1" charset="-122"/>
                <a:ea typeface="楷体_GB2312" pitchFamily="1" charset="-122"/>
                <a:sym typeface="楷体_GB2312" pitchFamily="1" charset="-122"/>
              </a:rPr>
              <a:t>	</a:t>
            </a:r>
            <a:r>
              <a:rPr lang="zh-CN" altLang="en-US" sz="2100" b="1">
                <a:solidFill>
                  <a:schemeClr val="hlink"/>
                </a:solidFill>
                <a:latin typeface="楷体_GB2312" pitchFamily="1" charset="-122"/>
                <a:ea typeface="楷体_GB2312" pitchFamily="1" charset="-122"/>
                <a:sym typeface="楷体_GB2312" pitchFamily="1" charset="-122"/>
              </a:rPr>
              <a:t>防删除挑战性测试、文件夹防删除设置；</a:t>
            </a:r>
          </a:p>
          <a:p>
            <a:pPr lvl="1">
              <a:lnSpc>
                <a:spcPct val="110000"/>
              </a:lnSpc>
              <a:buFont typeface="Arial" pitchFamily="34" charset="0"/>
              <a:buNone/>
            </a:pPr>
            <a:r>
              <a:rPr lang="en-US" sz="2100" b="1">
                <a:solidFill>
                  <a:schemeClr val="hlink"/>
                </a:solidFill>
                <a:latin typeface="楷体_GB2312" pitchFamily="1" charset="-122"/>
                <a:ea typeface="楷体_GB2312" pitchFamily="1" charset="-122"/>
                <a:sym typeface="楷体_GB2312" pitchFamily="1" charset="-122"/>
              </a:rPr>
              <a:t>	</a:t>
            </a:r>
            <a:r>
              <a:rPr lang="zh-CN" altLang="en-US" sz="2100" b="1">
                <a:solidFill>
                  <a:schemeClr val="hlink"/>
                </a:solidFill>
                <a:latin typeface="楷体_GB2312" pitchFamily="1" charset="-122"/>
                <a:ea typeface="楷体_GB2312" pitchFamily="1" charset="-122"/>
                <a:sym typeface="楷体_GB2312" pitchFamily="1" charset="-122"/>
              </a:rPr>
              <a:t>数据备份和恢复</a:t>
            </a:r>
            <a:r>
              <a:rPr lang="en-US" sz="2100" b="1">
                <a:solidFill>
                  <a:schemeClr val="hlink"/>
                </a:solidFill>
                <a:latin typeface="楷体_GB2312" pitchFamily="1" charset="-122"/>
                <a:ea typeface="楷体_GB2312" pitchFamily="1" charset="-122"/>
                <a:sym typeface="楷体_GB2312" pitchFamily="1" charset="-122"/>
              </a:rPr>
              <a:t>——</a:t>
            </a:r>
            <a:r>
              <a:rPr lang="zh-CN" altLang="en-US" sz="2100" b="1">
                <a:solidFill>
                  <a:schemeClr val="hlink"/>
                </a:solidFill>
                <a:latin typeface="楷体_GB2312" pitchFamily="1" charset="-122"/>
                <a:ea typeface="楷体_GB2312" pitchFamily="1" charset="-122"/>
                <a:sym typeface="楷体_GB2312" pitchFamily="1" charset="-122"/>
              </a:rPr>
              <a:t>频率</a:t>
            </a:r>
            <a:r>
              <a:rPr lang="en-US" sz="2100" b="1">
                <a:solidFill>
                  <a:schemeClr val="hlink"/>
                </a:solidFill>
                <a:latin typeface="楷体_GB2312" pitchFamily="1" charset="-122"/>
                <a:ea typeface="楷体_GB2312" pitchFamily="1" charset="-122"/>
                <a:sym typeface="楷体_GB2312" pitchFamily="1" charset="-122"/>
              </a:rPr>
              <a:t>/</a:t>
            </a:r>
            <a:r>
              <a:rPr lang="zh-CN" altLang="en-US" sz="2100" b="1">
                <a:solidFill>
                  <a:schemeClr val="hlink"/>
                </a:solidFill>
                <a:latin typeface="楷体_GB2312" pitchFamily="1" charset="-122"/>
                <a:ea typeface="楷体_GB2312" pitchFamily="1" charset="-122"/>
                <a:sym typeface="楷体_GB2312" pitchFamily="1" charset="-122"/>
              </a:rPr>
              <a:t>介质</a:t>
            </a:r>
            <a:r>
              <a:rPr lang="en-US" sz="2100" b="1">
                <a:solidFill>
                  <a:schemeClr val="hlink"/>
                </a:solidFill>
                <a:latin typeface="楷体_GB2312" pitchFamily="1" charset="-122"/>
                <a:ea typeface="楷体_GB2312" pitchFamily="1" charset="-122"/>
                <a:sym typeface="楷体_GB2312" pitchFamily="1" charset="-122"/>
              </a:rPr>
              <a:t>/</a:t>
            </a:r>
            <a:r>
              <a:rPr lang="zh-CN" altLang="en-US" sz="2100" b="1">
                <a:solidFill>
                  <a:schemeClr val="hlink"/>
                </a:solidFill>
                <a:latin typeface="楷体_GB2312" pitchFamily="1" charset="-122"/>
                <a:ea typeface="楷体_GB2312" pitchFamily="1" charset="-122"/>
                <a:sym typeface="楷体_GB2312" pitchFamily="1" charset="-122"/>
              </a:rPr>
              <a:t>备份方式</a:t>
            </a:r>
            <a:r>
              <a:rPr lang="en-US" sz="2100" b="1">
                <a:solidFill>
                  <a:schemeClr val="hlink"/>
                </a:solidFill>
                <a:latin typeface="楷体_GB2312" pitchFamily="1" charset="-122"/>
                <a:ea typeface="楷体_GB2312" pitchFamily="1" charset="-122"/>
                <a:sym typeface="楷体_GB2312" pitchFamily="1" charset="-122"/>
              </a:rPr>
              <a:t>/</a:t>
            </a:r>
            <a:r>
              <a:rPr lang="zh-CN" altLang="en-US" sz="2100" b="1">
                <a:solidFill>
                  <a:schemeClr val="hlink"/>
                </a:solidFill>
                <a:latin typeface="楷体_GB2312" pitchFamily="1" charset="-122"/>
                <a:ea typeface="楷体_GB2312" pitchFamily="1" charset="-122"/>
                <a:sym typeface="楷体_GB2312" pitchFamily="1" charset="-122"/>
              </a:rPr>
              <a:t>恢复位置；</a:t>
            </a:r>
          </a:p>
        </p:txBody>
      </p:sp>
      <p:sp>
        <p:nvSpPr>
          <p:cNvPr id="74755" name="文本框 32771"/>
          <p:cNvSpPr>
            <a:spLocks noChangeArrowheads="1"/>
          </p:cNvSpPr>
          <p:nvPr/>
        </p:nvSpPr>
        <p:spPr bwMode="auto">
          <a:xfrm>
            <a:off x="1765300" y="1123950"/>
            <a:ext cx="53657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spAutoFit/>
          </a:bodyPr>
          <a:lstStyle/>
          <a:p>
            <a:r>
              <a:rPr lang="en-US" sz="2400" b="1">
                <a:solidFill>
                  <a:srgbClr val="FF00FF"/>
                </a:solidFill>
                <a:latin typeface="楷体_GB2312" pitchFamily="1" charset="-122"/>
                <a:ea typeface="楷体_GB2312" pitchFamily="1" charset="-122"/>
                <a:sym typeface="楷体_GB2312" pitchFamily="1" charset="-122"/>
              </a:rPr>
              <a:t>FDA/</a:t>
            </a:r>
            <a:r>
              <a:rPr lang="zh-CN" altLang="en-US" sz="2400" b="1">
                <a:solidFill>
                  <a:srgbClr val="FF00FF"/>
                </a:solidFill>
                <a:latin typeface="楷体_GB2312" pitchFamily="1" charset="-122"/>
                <a:ea typeface="楷体_GB2312" pitchFamily="1" charset="-122"/>
                <a:sym typeface="楷体_GB2312" pitchFamily="1" charset="-122"/>
              </a:rPr>
              <a:t>欧盟对数据完整性检查的常见手段</a:t>
            </a:r>
          </a:p>
          <a:p>
            <a:endParaRPr lang="zh-CN" altLang="en-US" sz="2400" b="1">
              <a:solidFill>
                <a:srgbClr val="FF00FF"/>
              </a:solidFill>
              <a:latin typeface="楷体_GB2312" pitchFamily="1" charset="-122"/>
              <a:ea typeface="楷体_GB2312" pitchFamily="1" charset="-122"/>
              <a:sym typeface="楷体_GB2312" pitchFamily="1" charset="-122"/>
            </a:endParaRPr>
          </a:p>
        </p:txBody>
      </p:sp>
      <p:sp>
        <p:nvSpPr>
          <p:cNvPr id="74756" name="文本框 29698"/>
          <p:cNvSpPr>
            <a:spLocks noChangeArrowheads="1"/>
          </p:cNvSpPr>
          <p:nvPr/>
        </p:nvSpPr>
        <p:spPr bwMode="auto">
          <a:xfrm>
            <a:off x="2771775" y="-23813"/>
            <a:ext cx="5783263"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lstStyle/>
          <a:p>
            <a:pPr algn="ctr" eaLnBrk="0" hangingPunct="0"/>
            <a:r>
              <a:rPr lang="zh-CN" altLang="en-US" sz="2400" b="1">
                <a:solidFill>
                  <a:srgbClr val="FFFF00"/>
                </a:solidFill>
                <a:latin typeface="Calibri" pitchFamily="34" charset="0"/>
                <a:ea typeface="楷体" pitchFamily="49" charset="-122"/>
                <a:sym typeface="Calibri" pitchFamily="34" charset="0"/>
              </a:rPr>
              <a:t>第</a:t>
            </a:r>
            <a:r>
              <a:rPr lang="en-US" sz="2400" b="1">
                <a:solidFill>
                  <a:srgbClr val="FFFF00"/>
                </a:solidFill>
                <a:latin typeface="Calibri" pitchFamily="34" charset="0"/>
                <a:ea typeface="楷体" pitchFamily="49" charset="-122"/>
                <a:sym typeface="Calibri" pitchFamily="34" charset="0"/>
              </a:rPr>
              <a:t>4</a:t>
            </a:r>
            <a:r>
              <a:rPr lang="zh-CN" altLang="en-US" sz="2400" b="1">
                <a:solidFill>
                  <a:srgbClr val="FFFF00"/>
                </a:solidFill>
                <a:latin typeface="Calibri" pitchFamily="34" charset="0"/>
                <a:ea typeface="楷体" pitchFamily="49" charset="-122"/>
                <a:sym typeface="Calibri" pitchFamily="34" charset="0"/>
              </a:rPr>
              <a:t>节：FDA/欧盟对数据完整性检查的特点、关注点分析</a:t>
            </a:r>
          </a:p>
        </p:txBody>
      </p:sp>
    </p:spTree>
  </p:cSld>
  <p:clrMapOvr>
    <a:masterClrMapping/>
  </p:clrMapOvr>
  <p:transition>
    <p:strips dir="ld"/>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标题 1"/>
          <p:cNvSpPr>
            <a:spLocks noGrp="1" noChangeArrowheads="1"/>
          </p:cNvSpPr>
          <p:nvPr>
            <p:ph type="title" idx="4294967295"/>
          </p:nvPr>
        </p:nvSpPr>
        <p:spPr bwMode="auto">
          <a:xfrm>
            <a:off x="457200" y="2427288"/>
            <a:ext cx="8229600" cy="1143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7200">
                <a:solidFill>
                  <a:srgbClr val="E5B8B7"/>
                </a:solidFill>
                <a:latin typeface="楷体" pitchFamily="49" charset="-122"/>
                <a:ea typeface="楷体" pitchFamily="49" charset="-122"/>
                <a:sym typeface="楷体" pitchFamily="49" charset="-122"/>
              </a:rPr>
              <a:t>谢谢！</a:t>
            </a:r>
          </a:p>
        </p:txBody>
      </p:sp>
    </p:spTree>
  </p:cSld>
  <p:clrMapOvr>
    <a:masterClrMapping/>
  </p:clrMapOvr>
  <p:transition>
    <p:strips dir="ld"/>
  </p:transition>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Pages>0</Pages>
  <Words>9189</Words>
  <Characters>0</Characters>
  <Application>Microsoft Office PowerPoint</Application>
  <DocSecurity>0</DocSecurity>
  <PresentationFormat>全屏显示(4:3)</PresentationFormat>
  <Lines>0</Lines>
  <Paragraphs>822</Paragraphs>
  <Slides>72</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0</vt:i4>
      </vt:variant>
      <vt:variant>
        <vt:lpstr>幻灯片标题</vt:lpstr>
      </vt:variant>
      <vt:variant>
        <vt:i4>72</vt:i4>
      </vt:variant>
    </vt:vector>
  </HeadingPairs>
  <TitlesOfParts>
    <vt:vector size="85" baseType="lpstr">
      <vt:lpstr>Arial</vt:lpstr>
      <vt:lpstr>宋体</vt:lpstr>
      <vt:lpstr>Wingdings</vt:lpstr>
      <vt:lpstr>Calibri</vt:lpstr>
      <vt:lpstr>楷体_GB2312</vt:lpstr>
      <vt:lpstr>楷体</vt:lpstr>
      <vt:lpstr>隶书</vt:lpstr>
      <vt:lpstr/>
      <vt:lpstr>Segoe Print</vt:lpstr>
      <vt:lpstr>新宋体</vt:lpstr>
      <vt:lpstr>华文楷体</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数据完整性缺陷的严重性分类（1）</vt:lpstr>
      <vt:lpstr>数据完整性缺陷的严重性分类（2）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如何将不能设置权限的生产设备改造成可设置权限</vt:lpstr>
      <vt:lpstr>PowerPoint 演示文稿</vt:lpstr>
      <vt:lpstr>自动过程控制计算机化系统用户权限管理程序</vt:lpstr>
      <vt:lpstr> 某制药企业实施数据完整性管控细节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Manager/>
  <Company>微软中国</Company>
  <LinksUpToDate>false</LinksUpToDate>
  <CharactersWithSpaces>0</CharactersWithSpaces>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wwwzxq007</dc:creator>
  <cp:keywords/>
  <dc:description/>
  <cp:lastModifiedBy>JonMMx 2000</cp:lastModifiedBy>
  <cp:revision>227</cp:revision>
  <dcterms:created xsi:type="dcterms:W3CDTF">2011-10-20T02:10:00Z</dcterms:created>
  <dcterms:modified xsi:type="dcterms:W3CDTF">2020-03-08T09:24:00Z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2052-9.1.0.4940</vt:lpwstr>
  </property>
</Properties>
</file>