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72" r:id="rId16"/>
    <p:sldId id="273" r:id="rId17"/>
    <p:sldId id="269" r:id="rId18"/>
    <p:sldId id="270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3145" autoAdjust="0"/>
  </p:normalViewPr>
  <p:slideViewPr>
    <p:cSldViewPr>
      <p:cViewPr varScale="1">
        <p:scale>
          <a:sx n="82" d="100"/>
          <a:sy n="82" d="100"/>
        </p:scale>
        <p:origin x="-121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6048B-FCF1-4CE3-9185-1B66CC79781A}" type="datetimeFigureOut">
              <a:rPr lang="zh-CN" altLang="en-US" smtClean="0"/>
              <a:t>2015-09-16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B52A3-B11A-4054-8ECD-5DAF760FE6E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F4385-1699-4500-87CD-7C47FD7250D3}" type="datetimeFigureOut">
              <a:rPr lang="zh-CN" altLang="en-US" smtClean="0"/>
              <a:pPr/>
              <a:t>2015-09-16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4EC60-9A8D-4CBF-925D-A36B874AF7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计算机系统指计算机系统本身；计算机化系统包含硬件、软件、人员、外围设备、</a:t>
            </a:r>
            <a:r>
              <a:rPr lang="en-US" altLang="zh-CN" dirty="0" smtClean="0"/>
              <a:t>SOP</a:t>
            </a:r>
            <a:r>
              <a:rPr lang="zh-CN" altLang="en-US" dirty="0" smtClean="0"/>
              <a:t>、外围接口等等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74EC60-9A8D-4CBF-925D-A36B874AF77B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2015-09-16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2015-09-16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2015-09-16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2015-09-16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2015-09-16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2015-09-16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2015-09-16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2015-09-16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2015-09-16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2015-09-16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2015-09-16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2015-09-16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1857364"/>
            <a:ext cx="7772400" cy="1470025"/>
          </a:xfrm>
        </p:spPr>
        <p:txBody>
          <a:bodyPr/>
          <a:lstStyle/>
          <a:p>
            <a:r>
              <a:rPr lang="en-US" altLang="zh-CN" b="1" dirty="0" smtClean="0">
                <a:solidFill>
                  <a:srgbClr val="FFFF00"/>
                </a:solidFill>
              </a:rPr>
              <a:t>GMP</a:t>
            </a:r>
            <a:r>
              <a:rPr lang="zh-CN" altLang="en-US" b="1" dirty="0" smtClean="0">
                <a:solidFill>
                  <a:srgbClr val="FFFF00"/>
                </a:solidFill>
              </a:rPr>
              <a:t>附录</a:t>
            </a:r>
            <a:r>
              <a:rPr lang="en-US" altLang="zh-CN" b="1" dirty="0" smtClean="0">
                <a:solidFill>
                  <a:srgbClr val="FFFF00"/>
                </a:solidFill>
              </a:rPr>
              <a:t>——</a:t>
            </a:r>
            <a:r>
              <a:rPr lang="zh-CN" altLang="en-US" b="1" dirty="0" smtClean="0">
                <a:solidFill>
                  <a:srgbClr val="FFFF00"/>
                </a:solidFill>
              </a:rPr>
              <a:t>计算机化系统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4414" y="3786190"/>
            <a:ext cx="6400800" cy="785818"/>
          </a:xfrm>
        </p:spPr>
        <p:txBody>
          <a:bodyPr/>
          <a:lstStyle/>
          <a:p>
            <a:r>
              <a:rPr lang="en-US" altLang="zh-CN" dirty="0" smtClean="0">
                <a:solidFill>
                  <a:srgbClr val="FFFF00"/>
                </a:solidFill>
              </a:rPr>
              <a:t>2015.9</a:t>
            </a:r>
            <a:endParaRPr lang="zh-CN" alt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>
                <a:solidFill>
                  <a:srgbClr val="FFFF00"/>
                </a:solidFill>
              </a:rPr>
              <a:t>2015</a:t>
            </a:r>
            <a:r>
              <a:rPr lang="zh-CN" altLang="en-US" b="1" dirty="0" smtClean="0">
                <a:solidFill>
                  <a:srgbClr val="FFFF00"/>
                </a:solidFill>
              </a:rPr>
              <a:t>年</a:t>
            </a:r>
            <a:r>
              <a:rPr lang="en-US" altLang="zh-CN" b="1" dirty="0" smtClean="0">
                <a:solidFill>
                  <a:srgbClr val="FFFF00"/>
                </a:solidFill>
              </a:rPr>
              <a:t>5</a:t>
            </a:r>
            <a:r>
              <a:rPr lang="zh-CN" altLang="en-US" b="1" dirty="0" smtClean="0">
                <a:solidFill>
                  <a:srgbClr val="FFFF00"/>
                </a:solidFill>
              </a:rPr>
              <a:t>月</a:t>
            </a:r>
            <a:r>
              <a:rPr lang="en-US" altLang="zh-CN" b="1" dirty="0" smtClean="0">
                <a:solidFill>
                  <a:srgbClr val="FFFF00"/>
                </a:solidFill>
              </a:rPr>
              <a:t>26</a:t>
            </a:r>
            <a:r>
              <a:rPr lang="zh-CN" altLang="en-US" b="1" dirty="0" smtClean="0">
                <a:solidFill>
                  <a:srgbClr val="FFFF00"/>
                </a:solidFill>
              </a:rPr>
              <a:t>日，</a:t>
            </a:r>
            <a:r>
              <a:rPr lang="en-US" altLang="zh-CN" b="1" dirty="0" smtClean="0">
                <a:solidFill>
                  <a:srgbClr val="FFFF00"/>
                </a:solidFill>
              </a:rPr>
              <a:t>CFDA</a:t>
            </a:r>
            <a:r>
              <a:rPr lang="zh-CN" altLang="en-US" b="1" dirty="0" smtClean="0">
                <a:solidFill>
                  <a:srgbClr val="FFFF00"/>
                </a:solidFill>
              </a:rPr>
              <a:t>正式发布了</a:t>
            </a:r>
            <a:r>
              <a:rPr lang="en-US" altLang="zh-CN" b="1" dirty="0" smtClean="0">
                <a:solidFill>
                  <a:srgbClr val="FFFF00"/>
                </a:solidFill>
              </a:rPr>
              <a:t>2010</a:t>
            </a:r>
            <a:r>
              <a:rPr lang="zh-CN" altLang="en-US" b="1" dirty="0" smtClean="0">
                <a:solidFill>
                  <a:srgbClr val="FFFF00"/>
                </a:solidFill>
              </a:rPr>
              <a:t>版</a:t>
            </a:r>
            <a:r>
              <a:rPr lang="en-US" altLang="zh-CN" b="1" dirty="0" smtClean="0">
                <a:solidFill>
                  <a:srgbClr val="FFFF00"/>
                </a:solidFill>
              </a:rPr>
              <a:t>GMP</a:t>
            </a:r>
            <a:r>
              <a:rPr lang="zh-CN" altLang="en-US" b="1" dirty="0" smtClean="0">
                <a:solidFill>
                  <a:srgbClr val="FFFF00"/>
                </a:solidFill>
              </a:rPr>
              <a:t>法规的新附录之一</a:t>
            </a:r>
            <a:r>
              <a:rPr lang="en-US" altLang="zh-CN" b="1" dirty="0" smtClean="0">
                <a:solidFill>
                  <a:srgbClr val="FFFF00"/>
                </a:solidFill>
              </a:rPr>
              <a:t>《</a:t>
            </a:r>
            <a:r>
              <a:rPr lang="zh-CN" altLang="en-US" b="1" dirty="0" smtClean="0">
                <a:solidFill>
                  <a:srgbClr val="FFFF00"/>
                </a:solidFill>
              </a:rPr>
              <a:t>计算机化系统</a:t>
            </a:r>
            <a:r>
              <a:rPr lang="en-US" altLang="zh-CN" b="1" dirty="0" smtClean="0">
                <a:solidFill>
                  <a:srgbClr val="FFFF00"/>
                </a:solidFill>
              </a:rPr>
              <a:t>》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4414" y="3886200"/>
            <a:ext cx="6858048" cy="1752600"/>
          </a:xfrm>
        </p:spPr>
        <p:txBody>
          <a:bodyPr/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sz="2800" b="1" dirty="0" smtClean="0">
                <a:solidFill>
                  <a:srgbClr val="FFFF00"/>
                </a:solidFill>
              </a:rPr>
              <a:t>将作为正式的法规于</a:t>
            </a:r>
            <a:r>
              <a:rPr lang="en-US" altLang="zh-CN" sz="2800" b="1" dirty="0" smtClean="0">
                <a:solidFill>
                  <a:srgbClr val="FFFF00"/>
                </a:solidFill>
              </a:rPr>
              <a:t>2015</a:t>
            </a:r>
            <a:r>
              <a:rPr lang="zh-CN" altLang="en-US" sz="2800" b="1" dirty="0" smtClean="0">
                <a:solidFill>
                  <a:srgbClr val="FFFF00"/>
                </a:solidFill>
              </a:rPr>
              <a:t>年</a:t>
            </a:r>
            <a:r>
              <a:rPr lang="en-US" altLang="zh-CN" sz="2800" b="1" dirty="0" smtClean="0">
                <a:solidFill>
                  <a:srgbClr val="FFFF00"/>
                </a:solidFill>
              </a:rPr>
              <a:t>12</a:t>
            </a:r>
            <a:r>
              <a:rPr lang="zh-CN" altLang="en-US" sz="2800" b="1" dirty="0" smtClean="0">
                <a:solidFill>
                  <a:srgbClr val="FFFF00"/>
                </a:solidFill>
              </a:rPr>
              <a:t>月</a:t>
            </a:r>
            <a:r>
              <a:rPr lang="en-US" altLang="zh-CN" sz="2800" b="1" dirty="0" smtClean="0">
                <a:solidFill>
                  <a:srgbClr val="FFFF00"/>
                </a:solidFill>
              </a:rPr>
              <a:t>1</a:t>
            </a:r>
            <a:r>
              <a:rPr lang="zh-CN" altLang="en-US" sz="2800" b="1" dirty="0" smtClean="0">
                <a:solidFill>
                  <a:srgbClr val="FFFF00"/>
                </a:solidFill>
              </a:rPr>
              <a:t>日起执行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42910" y="2786058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zh-CN" altLang="en-US" sz="3200" b="1" dirty="0" smtClean="0">
                <a:solidFill>
                  <a:srgbClr val="FFFF00"/>
                </a:solidFill>
              </a:rPr>
              <a:t>计算机系统（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>Computer </a:t>
            </a:r>
            <a:r>
              <a:rPr lang="en-US" altLang="zh-CN" sz="3200" b="1" dirty="0" err="1" smtClean="0">
                <a:solidFill>
                  <a:srgbClr val="FFFF00"/>
                </a:solidFill>
              </a:rPr>
              <a:t>SYStem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）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/>
            </a:r>
            <a:br>
              <a:rPr lang="en-US" altLang="zh-CN" sz="3200" b="1" dirty="0" smtClean="0">
                <a:solidFill>
                  <a:srgbClr val="FFFF00"/>
                </a:solidFill>
              </a:rPr>
            </a:br>
            <a:r>
              <a:rPr lang="en-US" altLang="zh-CN" sz="3200" b="1" dirty="0" smtClean="0">
                <a:solidFill>
                  <a:srgbClr val="FFFF00"/>
                </a:solidFill>
              </a:rPr>
              <a:t>——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由硬件、系统软件、应用软件以及相关外围设备组成的，可执行某一功能或一组功能的系统。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/>
            </a:r>
            <a:br>
              <a:rPr lang="en-US" altLang="zh-CN" sz="3200" b="1" dirty="0" smtClean="0">
                <a:solidFill>
                  <a:srgbClr val="FFFF00"/>
                </a:solidFill>
              </a:rPr>
            </a:br>
            <a:r>
              <a:rPr lang="en-US" altLang="zh-CN" sz="3200" b="1" dirty="0" smtClean="0">
                <a:solidFill>
                  <a:srgbClr val="FFFF00"/>
                </a:solidFill>
              </a:rPr>
              <a:t/>
            </a:r>
            <a:br>
              <a:rPr lang="en-US" altLang="zh-CN" sz="3200" b="1" dirty="0" smtClean="0">
                <a:solidFill>
                  <a:srgbClr val="FFFF00"/>
                </a:solidFill>
              </a:rPr>
            </a:br>
            <a:r>
              <a:rPr lang="zh-CN" altLang="en-US" sz="3200" b="1" dirty="0" smtClean="0">
                <a:solidFill>
                  <a:srgbClr val="FFFF00"/>
                </a:solidFill>
              </a:rPr>
              <a:t>计算机化系统（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>Computerized System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）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/>
            </a:r>
            <a:br>
              <a:rPr lang="en-US" altLang="zh-CN" sz="3200" b="1" dirty="0" smtClean="0">
                <a:solidFill>
                  <a:srgbClr val="FFFF00"/>
                </a:solidFill>
              </a:rPr>
            </a:br>
            <a:r>
              <a:rPr lang="en-US" altLang="zh-CN" sz="3200" b="1" dirty="0" smtClean="0">
                <a:solidFill>
                  <a:srgbClr val="FFFF00"/>
                </a:solidFill>
              </a:rPr>
              <a:t>——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指受控系统、计算机控制系统以及人机接口的组合体系。可以说计算机系统是计算机化系统的一部分。如果计算机系统只是用于数据处理，则计算机系统本身就代表着待验证的整个系统。</a:t>
            </a:r>
            <a:endParaRPr lang="zh-CN" altLang="en-US" sz="32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7158" y="1000108"/>
            <a:ext cx="8643998" cy="5067320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 smtClean="0">
                <a:solidFill>
                  <a:srgbClr val="FFFF00"/>
                </a:solidFill>
              </a:rPr>
              <a:t>计算机化系统验证</a:t>
            </a:r>
            <a:r>
              <a:rPr lang="zh-CN" altLang="en-US" sz="2400" b="1" dirty="0" smtClean="0">
                <a:solidFill>
                  <a:srgbClr val="FFFF00"/>
                </a:solidFill>
              </a:rPr>
              <a:t>（</a:t>
            </a:r>
            <a:r>
              <a:rPr lang="en-US" altLang="zh-CN" sz="2400" b="1" dirty="0" smtClean="0">
                <a:solidFill>
                  <a:srgbClr val="FFFF00"/>
                </a:solidFill>
              </a:rPr>
              <a:t>Computer System Validation, CSV</a:t>
            </a:r>
            <a:r>
              <a:rPr lang="zh-CN" altLang="en-US" sz="2400" b="1" dirty="0" smtClean="0">
                <a:solidFill>
                  <a:srgbClr val="FFFF00"/>
                </a:solidFill>
              </a:rPr>
              <a:t>）</a:t>
            </a:r>
            <a:r>
              <a:rPr lang="zh-CN" altLang="en-US" b="1" dirty="0" smtClean="0">
                <a:solidFill>
                  <a:srgbClr val="FFFF00"/>
                </a:solidFill>
              </a:rPr>
              <a:t>：</a:t>
            </a:r>
            <a:endParaRPr lang="en-US" altLang="zh-CN" b="1" dirty="0" smtClean="0">
              <a:solidFill>
                <a:srgbClr val="FFFF00"/>
              </a:solidFill>
            </a:endParaRPr>
          </a:p>
          <a:p>
            <a:pPr algn="l"/>
            <a:r>
              <a:rPr lang="zh-CN" altLang="en-US" b="1" dirty="0" smtClean="0">
                <a:solidFill>
                  <a:srgbClr val="FFFF00"/>
                </a:solidFill>
              </a:rPr>
              <a:t>建立文件来证明系统的开发符合质量工程的原则，能够提供满足用户需求的功能并且能够长期稳定工作的过程。</a:t>
            </a:r>
          </a:p>
          <a:p>
            <a:pPr algn="l"/>
            <a:r>
              <a:rPr lang="zh-CN" altLang="en-US" b="1" dirty="0" smtClean="0">
                <a:solidFill>
                  <a:srgbClr val="FFFF00"/>
                </a:solidFill>
              </a:rPr>
              <a:t> </a:t>
            </a:r>
          </a:p>
          <a:p>
            <a:pPr algn="l"/>
            <a:r>
              <a:rPr lang="zh-CN" altLang="en-US" b="1" dirty="0" smtClean="0">
                <a:solidFill>
                  <a:srgbClr val="FFFF00"/>
                </a:solidFill>
              </a:rPr>
              <a:t>计算机化系统生命周期：包括由概念提出，需求理解，经由开发、放行和投入使用，直至系统退役全过程。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642910" y="2786058"/>
            <a:ext cx="814393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</a:pPr>
            <a:r>
              <a:rPr lang="zh-CN" altLang="en-US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制药工厂常见的计算机化系统：</a:t>
            </a:r>
            <a:endParaRPr lang="en-US" altLang="zh-CN" sz="3200" b="1" dirty="0" smtClean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r>
              <a:rPr lang="en-US" altLang="zh-CN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– </a:t>
            </a:r>
            <a:r>
              <a:rPr lang="zh-CN" altLang="en-US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企业资源管理信息系统 </a:t>
            </a:r>
            <a:endParaRPr lang="en-US" altLang="zh-CN" sz="3200" b="1" dirty="0" smtClean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r>
              <a:rPr lang="en-US" altLang="zh-CN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    • </a:t>
            </a:r>
            <a:r>
              <a:rPr lang="zh-CN" altLang="en-US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（如</a:t>
            </a:r>
            <a:r>
              <a:rPr lang="en-US" altLang="zh-CN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SAP</a:t>
            </a:r>
            <a:r>
              <a:rPr lang="zh-CN" altLang="en-US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、用友系统）</a:t>
            </a:r>
            <a:endParaRPr lang="en-US" altLang="zh-CN" sz="3200" b="1" dirty="0" smtClean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r>
              <a:rPr lang="en-US" altLang="zh-CN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– </a:t>
            </a:r>
            <a:r>
              <a:rPr lang="zh-CN" altLang="en-US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实验室设备控制及信息管理系统 </a:t>
            </a:r>
            <a:endParaRPr lang="en-US" altLang="zh-CN" sz="3200" b="1" dirty="0" smtClean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r>
              <a:rPr lang="en-US" altLang="zh-CN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    • </a:t>
            </a:r>
            <a:r>
              <a:rPr lang="zh-CN" altLang="en-US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图谱软件（</a:t>
            </a:r>
            <a:r>
              <a:rPr lang="en-US" altLang="zh-CN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HPLC</a:t>
            </a:r>
            <a:r>
              <a:rPr lang="zh-CN" altLang="en-US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、</a:t>
            </a:r>
            <a:r>
              <a:rPr lang="en-US" altLang="zh-CN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GC</a:t>
            </a:r>
            <a:r>
              <a:rPr lang="zh-CN" altLang="en-US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）</a:t>
            </a:r>
            <a:endParaRPr lang="en-US" altLang="zh-CN" sz="3200" b="1" dirty="0" smtClean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r>
              <a:rPr lang="en-US" altLang="zh-CN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    • </a:t>
            </a:r>
            <a:r>
              <a:rPr lang="zh-CN" altLang="en-US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实验室信息管理系统（</a:t>
            </a:r>
            <a:r>
              <a:rPr lang="en-US" altLang="zh-CN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LIMS</a:t>
            </a:r>
            <a:r>
              <a:rPr lang="zh-CN" altLang="en-US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系统）</a:t>
            </a:r>
            <a:endParaRPr lang="en-US" altLang="zh-CN" sz="3200" b="1" dirty="0" smtClean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r>
              <a:rPr lang="en-US" altLang="zh-CN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– </a:t>
            </a:r>
            <a:r>
              <a:rPr lang="zh-CN" altLang="en-US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设备基础设施自动化控制系统（如</a:t>
            </a:r>
            <a:r>
              <a:rPr lang="en-US" altLang="zh-CN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PLC</a:t>
            </a:r>
            <a:r>
              <a:rPr lang="zh-CN" altLang="en-US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可编程逻辑控制器）</a:t>
            </a:r>
            <a:endParaRPr lang="en-US" altLang="zh-CN" sz="3200" b="1" dirty="0" smtClean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r>
              <a:rPr lang="en-US" altLang="zh-CN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    • </a:t>
            </a:r>
            <a:r>
              <a:rPr lang="zh-CN" altLang="en-US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药品生产工艺设备自动化控制</a:t>
            </a:r>
            <a:endParaRPr lang="en-US" altLang="zh-CN" sz="3200" b="1" dirty="0" smtClean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r>
              <a:rPr lang="en-US" altLang="zh-CN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           – </a:t>
            </a:r>
            <a:r>
              <a:rPr lang="zh-CN" altLang="en-US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原料合成、发酵、冻干机、包装生产线等 </a:t>
            </a:r>
            <a:endParaRPr lang="en-US" altLang="zh-CN" sz="3200" b="1" dirty="0" smtClean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r>
              <a:rPr lang="en-US" altLang="zh-CN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    • HAVC</a:t>
            </a:r>
            <a:r>
              <a:rPr lang="zh-CN" altLang="en-US" sz="32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、制药用水系统的控制 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6196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b="1" dirty="0" smtClean="0">
                <a:solidFill>
                  <a:srgbClr val="FFFF00"/>
                </a:solidFill>
              </a:rPr>
              <a:t>制药工厂常见的计算机化系统：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/>
            </a:r>
            <a:br>
              <a:rPr lang="en-US" altLang="zh-CN" sz="3200" b="1" dirty="0" smtClean="0">
                <a:solidFill>
                  <a:srgbClr val="FFFF00"/>
                </a:solidFill>
              </a:rPr>
            </a:br>
            <a:r>
              <a:rPr lang="zh-CN" altLang="en-US" sz="3200" b="1" dirty="0" smtClean="0">
                <a:solidFill>
                  <a:srgbClr val="FFFF00"/>
                </a:solidFill>
              </a:rPr>
              <a:t> 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>– 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电子文档管理系统 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/>
            </a:r>
            <a:br>
              <a:rPr lang="en-US" altLang="zh-CN" sz="3200" b="1" dirty="0" smtClean="0">
                <a:solidFill>
                  <a:srgbClr val="FFFF00"/>
                </a:solidFill>
              </a:rPr>
            </a:br>
            <a:r>
              <a:rPr lang="en-US" altLang="zh-CN" sz="3200" b="1" dirty="0" smtClean="0">
                <a:solidFill>
                  <a:srgbClr val="FFFF00"/>
                </a:solidFill>
              </a:rPr>
              <a:t>     • 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（如：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>Q-</a:t>
            </a:r>
            <a:r>
              <a:rPr lang="en-US" altLang="zh-CN" sz="3200" b="1" dirty="0" err="1" smtClean="0">
                <a:solidFill>
                  <a:srgbClr val="FFFF00"/>
                </a:solidFill>
              </a:rPr>
              <a:t>PaCe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系统、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>SISQP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系统）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/>
            </a:r>
            <a:br>
              <a:rPr lang="en-US" altLang="zh-CN" sz="3200" b="1" dirty="0" smtClean="0">
                <a:solidFill>
                  <a:srgbClr val="FFFF00"/>
                </a:solidFill>
              </a:rPr>
            </a:br>
            <a:r>
              <a:rPr lang="zh-CN" altLang="en-US" sz="3200" b="1" dirty="0" smtClean="0">
                <a:solidFill>
                  <a:srgbClr val="FFFF00"/>
                </a:solidFill>
              </a:rPr>
              <a:t> 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>– MES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系统 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/>
            </a:r>
            <a:br>
              <a:rPr lang="en-US" altLang="zh-CN" sz="3200" b="1" dirty="0" smtClean="0">
                <a:solidFill>
                  <a:srgbClr val="FFFF00"/>
                </a:solidFill>
              </a:rPr>
            </a:br>
            <a:r>
              <a:rPr lang="en-US" altLang="zh-CN" sz="3200" b="1" dirty="0" smtClean="0">
                <a:solidFill>
                  <a:srgbClr val="FFFF00"/>
                </a:solidFill>
              </a:rPr>
              <a:t>     • 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生产数据采集 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/>
            </a:r>
            <a:br>
              <a:rPr lang="en-US" altLang="zh-CN" sz="3200" b="1" dirty="0" smtClean="0">
                <a:solidFill>
                  <a:srgbClr val="FFFF00"/>
                </a:solidFill>
              </a:rPr>
            </a:br>
            <a:r>
              <a:rPr lang="en-US" altLang="zh-CN" sz="3200" b="1" dirty="0" smtClean="0">
                <a:solidFill>
                  <a:srgbClr val="FFFF00"/>
                </a:solidFill>
              </a:rPr>
              <a:t>     • 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电子批记录系统 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/>
            </a:r>
            <a:br>
              <a:rPr lang="en-US" altLang="zh-CN" sz="3200" b="1" dirty="0" smtClean="0">
                <a:solidFill>
                  <a:srgbClr val="FFFF00"/>
                </a:solidFill>
              </a:rPr>
            </a:br>
            <a:r>
              <a:rPr lang="en-US" altLang="zh-CN" sz="3200" b="1" dirty="0" smtClean="0">
                <a:solidFill>
                  <a:srgbClr val="FFFF00"/>
                </a:solidFill>
              </a:rPr>
              <a:t>     • 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产品释放 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/>
            </a:r>
            <a:br>
              <a:rPr lang="en-US" altLang="zh-CN" sz="3200" b="1" dirty="0" smtClean="0">
                <a:solidFill>
                  <a:srgbClr val="FFFF00"/>
                </a:solidFill>
              </a:rPr>
            </a:br>
            <a:r>
              <a:rPr lang="en-US" altLang="zh-CN" sz="3200" b="1" dirty="0" smtClean="0">
                <a:solidFill>
                  <a:srgbClr val="FFFF00"/>
                </a:solidFill>
              </a:rPr>
              <a:t>     • 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质量追溯 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/>
            </a:r>
            <a:br>
              <a:rPr lang="en-US" altLang="zh-CN" sz="3200" b="1" dirty="0" smtClean="0">
                <a:solidFill>
                  <a:srgbClr val="FFFF00"/>
                </a:solidFill>
              </a:rPr>
            </a:br>
            <a:r>
              <a:rPr lang="en-US" altLang="zh-CN" sz="3200" b="1" dirty="0" smtClean="0">
                <a:solidFill>
                  <a:srgbClr val="FFFF00"/>
                </a:solidFill>
              </a:rPr>
              <a:t> – 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专用软件 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/>
            </a:r>
            <a:br>
              <a:rPr lang="en-US" altLang="zh-CN" sz="3200" b="1" dirty="0" smtClean="0">
                <a:solidFill>
                  <a:srgbClr val="FFFF00"/>
                </a:solidFill>
              </a:rPr>
            </a:br>
            <a:r>
              <a:rPr lang="en-US" altLang="zh-CN" sz="3200" b="1" dirty="0" smtClean="0">
                <a:solidFill>
                  <a:srgbClr val="FFFF00"/>
                </a:solidFill>
              </a:rPr>
              <a:t>     • Excel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电子表格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/>
            </a:r>
            <a:br>
              <a:rPr lang="en-US" altLang="zh-CN" sz="3200" b="1" dirty="0" smtClean="0">
                <a:solidFill>
                  <a:srgbClr val="FFFF00"/>
                </a:solidFill>
              </a:rPr>
            </a:br>
            <a:r>
              <a:rPr lang="en-US" altLang="zh-CN" sz="3200" b="1" dirty="0" smtClean="0">
                <a:solidFill>
                  <a:srgbClr val="FFFF00"/>
                </a:solidFill>
              </a:rPr>
              <a:t>    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 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>• 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临床实验软件 </a:t>
            </a:r>
            <a:r>
              <a:rPr lang="en-US" altLang="zh-CN" sz="3200" b="1" dirty="0" smtClean="0">
                <a:solidFill>
                  <a:srgbClr val="FFFF00"/>
                </a:solidFill>
              </a:rPr>
              <a:t/>
            </a:r>
            <a:br>
              <a:rPr lang="en-US" altLang="zh-CN" sz="3200" b="1" dirty="0" smtClean="0">
                <a:solidFill>
                  <a:srgbClr val="FFFF00"/>
                </a:solidFill>
              </a:rPr>
            </a:br>
            <a:r>
              <a:rPr lang="en-US" altLang="zh-CN" sz="3200" b="1" dirty="0" smtClean="0">
                <a:solidFill>
                  <a:srgbClr val="FFFF00"/>
                </a:solidFill>
              </a:rPr>
              <a:t>     • </a:t>
            </a:r>
            <a:r>
              <a:rPr lang="zh-CN" altLang="en-US" sz="3200" b="1" dirty="0" smtClean="0">
                <a:solidFill>
                  <a:srgbClr val="FFFF00"/>
                </a:solidFill>
              </a:rPr>
              <a:t>药物安全性评价软件</a:t>
            </a:r>
            <a:endParaRPr lang="zh-CN" altLang="en-US" sz="32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FF00"/>
                </a:solidFill>
              </a:rPr>
              <a:t>软件分类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625" y="1571625"/>
            <a:ext cx="904875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-214338"/>
            <a:ext cx="8229600" cy="1143000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1071546"/>
            <a:ext cx="9067800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标题 1"/>
          <p:cNvSpPr txBox="1">
            <a:spLocks/>
          </p:cNvSpPr>
          <p:nvPr/>
        </p:nvSpPr>
        <p:spPr>
          <a:xfrm>
            <a:off x="64291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计算机化系统验证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775" y="1071546"/>
            <a:ext cx="9039225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标题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计算机化系统验证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FF00"/>
                </a:solidFill>
              </a:rPr>
              <a:t>计算机化系统验证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714348" y="1428736"/>
            <a:ext cx="7572460" cy="4857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0" marR="0" lvl="0" indent="0" defTabSz="914400" rtl="0" eaLnBrk="1" fontAlgn="auto" latinLnBrk="0" hangingPunct="1">
              <a:lnSpc>
                <a:spcPct val="1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5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分清</a:t>
            </a:r>
            <a:r>
              <a:rPr kumimoji="0" lang="en-US" altLang="zh-CN" sz="5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zh-CN" altLang="en-US" sz="5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0" lang="en-US" altLang="zh-CN" sz="5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</a:t>
            </a:r>
            <a:r>
              <a:rPr kumimoji="0" lang="zh-CN" altLang="en-US" sz="5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0" lang="en-US" altLang="zh-CN" sz="5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4</a:t>
            </a:r>
            <a:r>
              <a:rPr kumimoji="0" lang="zh-CN" altLang="en-US" sz="5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0" lang="en-US" altLang="zh-CN" sz="5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5</a:t>
            </a:r>
            <a:r>
              <a:rPr kumimoji="0" lang="zh-CN" altLang="en-US" sz="5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类</a:t>
            </a:r>
            <a:endParaRPr kumimoji="0" lang="en-US" altLang="zh-CN" sz="5100" b="1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defTabSz="914400" rtl="0" eaLnBrk="1" fontAlgn="auto" latinLnBrk="0" hangingPunct="1">
              <a:lnSpc>
                <a:spcPct val="1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lang="en-US" altLang="zh-CN" sz="51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zh-CN" altLang="en-US" sz="51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分清是否属于</a:t>
            </a:r>
            <a:r>
              <a:rPr lang="en-US" altLang="zh-CN" sz="51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GMP</a:t>
            </a:r>
            <a:r>
              <a:rPr lang="zh-CN" altLang="en-US" sz="51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（哪些模块属于</a:t>
            </a:r>
            <a:r>
              <a:rPr lang="en-US" altLang="zh-CN" sz="51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GMP</a:t>
            </a:r>
            <a:r>
              <a:rPr lang="zh-CN" altLang="en-US" sz="51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）</a:t>
            </a:r>
            <a:endParaRPr lang="en-US" altLang="zh-CN" sz="5100" b="1" dirty="0" smtClean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  <a:p>
            <a:pPr marL="0" marR="0" lvl="0" indent="0" defTabSz="914400" rtl="0" eaLnBrk="1" fontAlgn="auto" latinLnBrk="0" hangingPunct="1">
              <a:lnSpc>
                <a:spcPct val="1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lang="en-US" altLang="zh-CN" sz="51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zh-CN" altLang="en-US" sz="51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建立包含药品生产质量管理过程中涉及的所有计算 机化清单</a:t>
            </a:r>
            <a:endParaRPr lang="en-US" altLang="zh-CN" sz="5100" b="1" dirty="0" smtClean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  <a:p>
            <a:pPr marL="0" marR="0" lvl="0" indent="0" defTabSz="914400" rtl="0" eaLnBrk="1" fontAlgn="auto" latinLnBrk="0" hangingPunct="1">
              <a:lnSpc>
                <a:spcPct val="1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lang="en-US" altLang="zh-CN" sz="51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zh-CN" altLang="en-US" sz="51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计算机验证管理程序应对公司所涉及的计算机系统进行列表并分类，按照其分类确定其验证方法</a:t>
            </a:r>
            <a:endParaRPr lang="en-US" altLang="zh-CN" sz="5100" b="1" dirty="0" smtClean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42910" y="1428736"/>
            <a:ext cx="8001056" cy="1752600"/>
          </a:xfrm>
        </p:spPr>
        <p:txBody>
          <a:bodyPr/>
          <a:lstStyle/>
          <a:p>
            <a:pPr algn="l"/>
            <a:r>
              <a:rPr lang="zh-CN" altLang="en-US" b="1" dirty="0" smtClean="0">
                <a:solidFill>
                  <a:schemeClr val="bg1"/>
                </a:solidFill>
              </a:rPr>
              <a:t>    </a:t>
            </a:r>
            <a:r>
              <a:rPr lang="zh-CN" altLang="en-US" b="1" dirty="0" smtClean="0">
                <a:solidFill>
                  <a:srgbClr val="FFFF00"/>
                </a:solidFill>
              </a:rPr>
              <a:t>设备自带的软件可以作为设备验证的一个章节，与设备一起做确认，但要涵盖计算机化系统的内容：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计算机化系统验证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副标题 2"/>
          <p:cNvSpPr txBox="1">
            <a:spLocks/>
          </p:cNvSpPr>
          <p:nvPr/>
        </p:nvSpPr>
        <p:spPr>
          <a:xfrm>
            <a:off x="1000100" y="3143248"/>
            <a:ext cx="7858180" cy="314327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计算机操作系统、硬盘、内存、显示器、杀毒软件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zh-CN" altLang="en-US" sz="3200" b="1" dirty="0" smtClean="0">
                <a:solidFill>
                  <a:srgbClr val="FFFF00"/>
                </a:solidFill>
              </a:rPr>
              <a:t>报警方式</a:t>
            </a:r>
            <a:endParaRPr lang="en-US" altLang="zh-CN" sz="3200" b="1" dirty="0" smtClean="0">
              <a:solidFill>
                <a:srgbClr val="FFFF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控制模式：手动、自动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zh-CN" altLang="en-US" sz="3200" b="1" dirty="0" smtClean="0">
                <a:solidFill>
                  <a:srgbClr val="FFFF00"/>
                </a:solidFill>
              </a:rPr>
              <a:t>权限</a:t>
            </a:r>
            <a:endParaRPr lang="en-US" altLang="zh-CN" sz="3200" b="1" dirty="0" smtClean="0">
              <a:solidFill>
                <a:srgbClr val="FFFF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参数修改记录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zh-CN" altLang="en-US" sz="3200" b="1" dirty="0" smtClean="0">
                <a:solidFill>
                  <a:srgbClr val="FFFF00"/>
                </a:solidFill>
              </a:rPr>
              <a:t>数据存储</a:t>
            </a:r>
            <a:endParaRPr lang="en-US" altLang="zh-CN" sz="3200" b="1" dirty="0" smtClean="0">
              <a:solidFill>
                <a:srgbClr val="FFFF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供电情况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计算机化系统验证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1357298"/>
            <a:ext cx="723900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143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571472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两个术语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500034" y="242886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500034" y="1785926"/>
            <a:ext cx="8229600" cy="4000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数据完整性：是指数据的准确性和可靠性，用于描述存储的所有数据值均处于客观真实的状态</a:t>
            </a:r>
            <a:endParaRPr kumimoji="0" lang="en-US" altLang="zh-CN" sz="4400" b="1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4400" b="1" dirty="0" smtClean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数据审计跟踪：是一系列有关计算机操作系统、应用程序及用户操作等事件物记录、报告或事件，或从记录、报告、事件追溯到原始数据。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0"/>
            <a:ext cx="7772400" cy="1470025"/>
          </a:xfrm>
        </p:spPr>
        <p:txBody>
          <a:bodyPr/>
          <a:lstStyle/>
          <a:p>
            <a:r>
              <a:rPr lang="zh-CN" altLang="en-US" b="1" dirty="0" smtClean="0">
                <a:solidFill>
                  <a:srgbClr val="FFFF00"/>
                </a:solidFill>
              </a:rPr>
              <a:t>数据合规性要求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24" y="1357298"/>
            <a:ext cx="7429552" cy="478634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zh-CN" altLang="en-US" b="1" dirty="0" smtClean="0">
                <a:solidFill>
                  <a:srgbClr val="FFFF00"/>
                </a:solidFill>
              </a:rPr>
              <a:t>访问控制：只有经许可的人员才能进入和使用系统。</a:t>
            </a:r>
            <a:br>
              <a:rPr lang="zh-CN" altLang="en-US" b="1" dirty="0" smtClean="0">
                <a:solidFill>
                  <a:srgbClr val="FFFF00"/>
                </a:solidFill>
              </a:rPr>
            </a:br>
            <a:endParaRPr lang="en-US" altLang="zh-CN" b="1" dirty="0" smtClean="0">
              <a:solidFill>
                <a:srgbClr val="FFFF00"/>
              </a:solidFill>
            </a:endParaRPr>
          </a:p>
          <a:p>
            <a:pPr algn="l"/>
            <a:r>
              <a:rPr lang="zh-CN" altLang="en-US" b="1" dirty="0" smtClean="0">
                <a:solidFill>
                  <a:srgbClr val="FFFF00"/>
                </a:solidFill>
              </a:rPr>
              <a:t>权限分配：应当对进入和使用系统制订授权、取消和授权变更的操作规程。</a:t>
            </a:r>
            <a:br>
              <a:rPr lang="zh-CN" altLang="en-US" b="1" dirty="0" smtClean="0">
                <a:solidFill>
                  <a:srgbClr val="FFFF00"/>
                </a:solidFill>
              </a:rPr>
            </a:br>
            <a:endParaRPr lang="en-US" altLang="zh-CN" b="1" dirty="0" smtClean="0">
              <a:solidFill>
                <a:srgbClr val="FFFF00"/>
              </a:solidFill>
            </a:endParaRPr>
          </a:p>
          <a:p>
            <a:pPr algn="l"/>
            <a:r>
              <a:rPr lang="zh-CN" altLang="en-US" b="1" dirty="0" smtClean="0">
                <a:solidFill>
                  <a:srgbClr val="FFFF00"/>
                </a:solidFill>
              </a:rPr>
              <a:t>审计追踪：用于记录数据的输入和修改以及系统的使用和变更。</a:t>
            </a:r>
            <a:br>
              <a:rPr lang="zh-CN" altLang="en-US" b="1" dirty="0" smtClean="0">
                <a:solidFill>
                  <a:srgbClr val="FFFF00"/>
                </a:solidFill>
              </a:rPr>
            </a:br>
            <a:endParaRPr lang="en-US" altLang="zh-CN" b="1" dirty="0" smtClean="0">
              <a:solidFill>
                <a:srgbClr val="FFFF00"/>
              </a:solidFill>
            </a:endParaRPr>
          </a:p>
          <a:p>
            <a:pPr algn="l"/>
            <a:r>
              <a:rPr lang="zh-CN" altLang="en-US" b="1" dirty="0" smtClean="0">
                <a:solidFill>
                  <a:srgbClr val="FFFF00"/>
                </a:solidFill>
              </a:rPr>
              <a:t>电子签名：明确了直接对电子数据进行电子签名是合规的，但电子签名需要符合相应法规。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00100" y="2500306"/>
            <a:ext cx="6400800" cy="2428892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zh-CN" altLang="en-US" sz="4000" b="1" dirty="0" smtClean="0">
                <a:solidFill>
                  <a:srgbClr val="FFFF00"/>
                </a:solidFill>
              </a:rPr>
              <a:t>逻辑安全性</a:t>
            </a:r>
            <a:endParaRPr lang="en-US" altLang="zh-CN" sz="4000" b="1" dirty="0" smtClean="0">
              <a:solidFill>
                <a:srgbClr val="FFFF00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altLang="zh-CN" sz="4000" b="1" dirty="0" smtClean="0">
              <a:solidFill>
                <a:srgbClr val="FFFF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zh-CN" altLang="en-US" sz="4000" b="1" dirty="0" smtClean="0">
                <a:solidFill>
                  <a:srgbClr val="FFFF00"/>
                </a:solidFill>
              </a:rPr>
              <a:t>物理安全性</a:t>
            </a:r>
            <a:endParaRPr lang="zh-CN" altLang="en-US" sz="4000" b="1" dirty="0">
              <a:solidFill>
                <a:srgbClr val="FFFF00"/>
              </a:solidFill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785786" y="642918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44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电子数据安全性要求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查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5720" y="2357430"/>
            <a:ext cx="8229600" cy="2214578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zh-CN" altLang="en-US" b="1" dirty="0" smtClean="0">
                <a:solidFill>
                  <a:srgbClr val="FFFF00"/>
                </a:solidFill>
              </a:rPr>
              <a:t>数据备份、归档</a:t>
            </a:r>
            <a:r>
              <a:rPr lang="en-US" altLang="zh-CN" b="1" dirty="0" smtClean="0">
                <a:solidFill>
                  <a:srgbClr val="FFFF00"/>
                </a:solidFill>
              </a:rPr>
              <a:t/>
            </a:r>
            <a:br>
              <a:rPr lang="en-US" altLang="zh-CN" b="1" dirty="0" smtClean="0">
                <a:solidFill>
                  <a:srgbClr val="FFFF00"/>
                </a:solidFill>
              </a:rPr>
            </a:br>
            <a:r>
              <a:rPr lang="zh-CN" altLang="en-US" b="1" dirty="0" smtClean="0">
                <a:solidFill>
                  <a:srgbClr val="FFFF00"/>
                </a:solidFill>
              </a:rPr>
              <a:t>审计追踪</a:t>
            </a:r>
            <a:r>
              <a:rPr lang="en-US" altLang="zh-CN" b="1" dirty="0" smtClean="0">
                <a:solidFill>
                  <a:srgbClr val="FFFF00"/>
                </a:solidFill>
              </a:rPr>
              <a:t/>
            </a:r>
            <a:br>
              <a:rPr lang="en-US" altLang="zh-CN" b="1" dirty="0" smtClean="0">
                <a:solidFill>
                  <a:srgbClr val="FFFF00"/>
                </a:solidFill>
              </a:rPr>
            </a:br>
            <a:r>
              <a:rPr lang="zh-CN" altLang="en-US" b="1" dirty="0" smtClean="0">
                <a:solidFill>
                  <a:srgbClr val="FFFF00"/>
                </a:solidFill>
              </a:rPr>
              <a:t>电子审批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866748" y="5810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44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数据备份要求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428604"/>
            <a:ext cx="7772400" cy="1470025"/>
          </a:xfrm>
        </p:spPr>
        <p:txBody>
          <a:bodyPr/>
          <a:lstStyle/>
          <a:p>
            <a:r>
              <a:rPr lang="zh-CN" altLang="en-US" b="1" dirty="0" smtClean="0">
                <a:solidFill>
                  <a:srgbClr val="FFFF00"/>
                </a:solidFill>
              </a:rPr>
              <a:t>数据完整性的检查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24" y="1785926"/>
            <a:ext cx="7715304" cy="3852874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b="1" dirty="0" smtClean="0">
                <a:solidFill>
                  <a:srgbClr val="FFFF00"/>
                </a:solidFill>
              </a:rPr>
              <a:t>QC</a:t>
            </a:r>
            <a:r>
              <a:rPr lang="zh-CN" altLang="en-US" b="1" dirty="0" smtClean="0">
                <a:solidFill>
                  <a:srgbClr val="FFFF00"/>
                </a:solidFill>
              </a:rPr>
              <a:t>实验室，尤其是稳定性试验的数据</a:t>
            </a:r>
            <a:endParaRPr lang="en-US" altLang="zh-CN" b="1" dirty="0" smtClean="0">
              <a:solidFill>
                <a:srgbClr val="FFFF00"/>
              </a:solidFill>
            </a:endParaRP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dirty="0" smtClean="0">
                <a:solidFill>
                  <a:srgbClr val="FFFF00"/>
                </a:solidFill>
              </a:rPr>
              <a:t>物料发放流转的数据</a:t>
            </a:r>
            <a:endParaRPr lang="en-US" altLang="zh-CN" b="1" dirty="0" smtClean="0">
              <a:solidFill>
                <a:srgbClr val="FFFF00"/>
              </a:solidFill>
            </a:endParaRP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dirty="0" smtClean="0">
                <a:solidFill>
                  <a:srgbClr val="FFFF00"/>
                </a:solidFill>
              </a:rPr>
              <a:t>各项记录的发放和填写</a:t>
            </a:r>
            <a:endParaRPr lang="en-US" altLang="zh-CN" b="1" dirty="0" smtClean="0">
              <a:solidFill>
                <a:srgbClr val="FFFF00"/>
              </a:solidFill>
            </a:endParaRP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dirty="0" smtClean="0">
                <a:solidFill>
                  <a:srgbClr val="FFFF00"/>
                </a:solidFill>
              </a:rPr>
              <a:t>企业质量管理体系对数据完整性的覆盖</a:t>
            </a:r>
            <a:endParaRPr lang="en-US" altLang="zh-CN" b="1" dirty="0" smtClean="0">
              <a:solidFill>
                <a:srgbClr val="FFFF00"/>
              </a:solidFill>
            </a:endParaRP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dirty="0" smtClean="0">
                <a:solidFill>
                  <a:srgbClr val="FFFF00"/>
                </a:solidFill>
              </a:rPr>
              <a:t>数据完整性直接表现企业的质量管理水平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14480" y="1857364"/>
            <a:ext cx="6000792" cy="3000396"/>
          </a:xfrm>
        </p:spPr>
        <p:txBody>
          <a:bodyPr>
            <a:normAutofit/>
          </a:bodyPr>
          <a:lstStyle/>
          <a:p>
            <a:r>
              <a:rPr lang="zh-CN" altLang="en-US" sz="7200" b="1" dirty="0" smtClean="0">
                <a:solidFill>
                  <a:srgbClr val="FFFF00"/>
                </a:solidFill>
              </a:rPr>
              <a:t>谢谢！</a:t>
            </a:r>
            <a:endParaRPr lang="zh-CN" altLang="en-US" sz="72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365</Words>
  <PresentationFormat>全屏显示(4:3)</PresentationFormat>
  <Paragraphs>80</Paragraphs>
  <Slides>18</Slides>
  <Notes>18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19" baseType="lpstr">
      <vt:lpstr>Office 主题</vt:lpstr>
      <vt:lpstr>GMP附录——计算机化系统</vt:lpstr>
      <vt:lpstr>2015年5月26日，CFDA正式发布了2010版GMP法规的新附录之一《计算机化系统》</vt:lpstr>
      <vt:lpstr>计算机系统（Computer SYStem） ——由硬件、系统软件、应用软件以及相关外围设备组成的，可执行某一功能或一组功能的系统。  计算机化系统（Computerized System） ——指受控系统、计算机控制系统以及人机接口的组合体系。可以说计算机系统是计算机化系统的一部分。如果计算机系统只是用于数据处理，则计算机系统本身就代表着待验证的整个系统。</vt:lpstr>
      <vt:lpstr>幻灯片 4</vt:lpstr>
      <vt:lpstr>幻灯片 5</vt:lpstr>
      <vt:lpstr>制药工厂常见的计算机化系统：  – 电子文档管理系统       • （如：Q-PaCe系统、SISQP系统）  – MES系统       • 生产数据采集       • 电子批记录系统       • 产品释放       • 质量追溯   – 专用软件       • Excel电子表格      • 临床实验软件       • 药物安全性评价软件</vt:lpstr>
      <vt:lpstr>软件分类</vt:lpstr>
      <vt:lpstr>幻灯片 8</vt:lpstr>
      <vt:lpstr>幻灯片 9</vt:lpstr>
      <vt:lpstr>计算机化系统验证</vt:lpstr>
      <vt:lpstr>幻灯片 11</vt:lpstr>
      <vt:lpstr>幻灯片 12</vt:lpstr>
      <vt:lpstr>幻灯片 13</vt:lpstr>
      <vt:lpstr>数据合规性要求</vt:lpstr>
      <vt:lpstr>幻灯片 15</vt:lpstr>
      <vt:lpstr>数据备份、归档 审计追踪 电子审批</vt:lpstr>
      <vt:lpstr>数据完整性的检查</vt:lpstr>
      <vt:lpstr>谢谢！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GMP附录——计算机化系统</dc:title>
  <dc:creator>Administrator</dc:creator>
  <cp:lastModifiedBy>admin</cp:lastModifiedBy>
  <cp:revision>22</cp:revision>
  <dcterms:created xsi:type="dcterms:W3CDTF">2015-09-14T07:12:24Z</dcterms:created>
  <dcterms:modified xsi:type="dcterms:W3CDTF">2015-09-16T02:17:10Z</dcterms:modified>
</cp:coreProperties>
</file>